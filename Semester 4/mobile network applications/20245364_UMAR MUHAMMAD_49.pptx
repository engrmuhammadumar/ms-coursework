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55" r:id="rId3"/>
    <p:sldId id="347" r:id="rId4"/>
    <p:sldId id="374" r:id="rId5"/>
    <p:sldId id="366" r:id="rId6"/>
    <p:sldId id="363" r:id="rId7"/>
    <p:sldId id="390" r:id="rId8"/>
    <p:sldId id="373" r:id="rId9"/>
    <p:sldId id="386" r:id="rId10"/>
    <p:sldId id="387" r:id="rId11"/>
    <p:sldId id="388" r:id="rId12"/>
    <p:sldId id="389" r:id="rId13"/>
    <p:sldId id="334" r:id="rId14"/>
    <p:sldId id="367" r:id="rId15"/>
    <p:sldId id="377" r:id="rId16"/>
    <p:sldId id="378" r:id="rId17"/>
    <p:sldId id="385" r:id="rId18"/>
    <p:sldId id="345" r:id="rId19"/>
    <p:sldId id="368" r:id="rId20"/>
    <p:sldId id="391" r:id="rId21"/>
    <p:sldId id="344" r:id="rId22"/>
    <p:sldId id="360" r:id="rId23"/>
    <p:sldId id="369" r:id="rId24"/>
    <p:sldId id="303" r:id="rId25"/>
  </p:sldIdLst>
  <p:sldSz cx="12192000" cy="6858000"/>
  <p:notesSz cx="6797675" cy="9929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EEFF"/>
    <a:srgbClr val="69EAFF"/>
    <a:srgbClr val="1C3ECE"/>
    <a:srgbClr val="008BA2"/>
    <a:srgbClr val="4FE6FF"/>
    <a:srgbClr val="E8D9F3"/>
    <a:srgbClr val="DAC2EC"/>
    <a:srgbClr val="C9A6E4"/>
    <a:srgbClr val="4BE5FF"/>
    <a:srgbClr val="E7FA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16ADD-743B-4957-A792-6FA9105A2A76}" v="833" dt="2024-11-22T05:51:20.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83" autoAdjust="0"/>
  </p:normalViewPr>
  <p:slideViewPr>
    <p:cSldViewPr snapToGrid="0">
      <p:cViewPr varScale="1">
        <p:scale>
          <a:sx n="112" d="100"/>
          <a:sy n="112" d="100"/>
        </p:scale>
        <p:origin x="516"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203" cy="49857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386" y="1"/>
            <a:ext cx="2946202" cy="498578"/>
          </a:xfrm>
          <a:prstGeom prst="rect">
            <a:avLst/>
          </a:prstGeom>
        </p:spPr>
        <p:txBody>
          <a:bodyPr vert="horz" lIns="91440" tIns="45720" rIns="91440" bIns="45720" rtlCol="0"/>
          <a:lstStyle>
            <a:lvl1pPr algn="r">
              <a:defRPr sz="1200"/>
            </a:lvl1pPr>
          </a:lstStyle>
          <a:p>
            <a:fld id="{DAEA21B6-073F-4612-AFB1-369BC0302235}" type="datetimeFigureOut">
              <a:rPr lang="en-GB" smtClean="0"/>
              <a:t>11/12/2025</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0311" y="4779391"/>
            <a:ext cx="5438140" cy="390977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31236"/>
            <a:ext cx="2946203" cy="49857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386" y="9431236"/>
            <a:ext cx="2946202" cy="498577"/>
          </a:xfrm>
          <a:prstGeom prst="rect">
            <a:avLst/>
          </a:prstGeom>
        </p:spPr>
        <p:txBody>
          <a:bodyPr vert="horz" lIns="91440" tIns="45720" rIns="91440" bIns="45720" rtlCol="0" anchor="b"/>
          <a:lstStyle>
            <a:lvl1pPr algn="r">
              <a:defRPr sz="1200"/>
            </a:lvl1pPr>
          </a:lstStyle>
          <a:p>
            <a:fld id="{59FCBA7A-2D9C-46DC-B1C9-F28F766A3610}" type="slidenum">
              <a:rPr lang="en-GB" smtClean="0"/>
              <a:t>‹#›</a:t>
            </a:fld>
            <a:endParaRPr lang="en-GB"/>
          </a:p>
        </p:txBody>
      </p:sp>
    </p:spTree>
    <p:extLst>
      <p:ext uri="{BB962C8B-B14F-4D97-AF65-F5344CB8AC3E}">
        <p14:creationId xmlns:p14="http://schemas.microsoft.com/office/powerpoint/2010/main" val="3241899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9FCBA7A-2D9C-46DC-B1C9-F28F766A3610}" type="slidenum">
              <a:rPr lang="en-GB" smtClean="0"/>
              <a:t>1</a:t>
            </a:fld>
            <a:endParaRPr lang="en-GB"/>
          </a:p>
        </p:txBody>
      </p:sp>
    </p:spTree>
    <p:extLst>
      <p:ext uri="{BB962C8B-B14F-4D97-AF65-F5344CB8AC3E}">
        <p14:creationId xmlns:p14="http://schemas.microsoft.com/office/powerpoint/2010/main" val="12562425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EC41F-3EAD-40E7-8588-D7A815EDB4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9945857-4142-421D-A0E3-360D5A3466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88C5282-F997-4EB0-AFD5-964605607D69}"/>
              </a:ext>
            </a:extLst>
          </p:cNvPr>
          <p:cNvSpPr>
            <a:spLocks noGrp="1"/>
          </p:cNvSpPr>
          <p:nvPr>
            <p:ph type="dt" sz="half" idx="10"/>
          </p:nvPr>
        </p:nvSpPr>
        <p:spPr/>
        <p:txBody>
          <a:bodyPr/>
          <a:lstStyle/>
          <a:p>
            <a:fld id="{4C42ACC0-12A4-4166-A0D0-01DAA63FC0C8}" type="datetime1">
              <a:rPr lang="en-GB" smtClean="0"/>
              <a:t>11/12/2025</a:t>
            </a:fld>
            <a:endParaRPr lang="en-GB"/>
          </a:p>
        </p:txBody>
      </p:sp>
      <p:sp>
        <p:nvSpPr>
          <p:cNvPr id="5" name="Footer Placeholder 4">
            <a:extLst>
              <a:ext uri="{FF2B5EF4-FFF2-40B4-BE49-F238E27FC236}">
                <a16:creationId xmlns:a16="http://schemas.microsoft.com/office/drawing/2014/main" id="{368D2C1F-68A8-4B03-B55D-42FD4F3DB4B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996A95-C853-43CA-BA99-FDFD74F58937}"/>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2825380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737FF-D0CA-4935-82D7-0F82ECBC206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E7983CA-B2E1-48F7-A1B2-D2812D0F3F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052087B-AB45-4404-B233-913A88D6AF0B}"/>
              </a:ext>
            </a:extLst>
          </p:cNvPr>
          <p:cNvSpPr>
            <a:spLocks noGrp="1"/>
          </p:cNvSpPr>
          <p:nvPr>
            <p:ph type="dt" sz="half" idx="10"/>
          </p:nvPr>
        </p:nvSpPr>
        <p:spPr/>
        <p:txBody>
          <a:bodyPr/>
          <a:lstStyle/>
          <a:p>
            <a:fld id="{24C644F3-7FE6-4B8A-8919-BB0881F4644E}" type="datetime1">
              <a:rPr lang="en-GB" smtClean="0"/>
              <a:t>11/12/2025</a:t>
            </a:fld>
            <a:endParaRPr lang="en-GB"/>
          </a:p>
        </p:txBody>
      </p:sp>
      <p:sp>
        <p:nvSpPr>
          <p:cNvPr id="5" name="Footer Placeholder 4">
            <a:extLst>
              <a:ext uri="{FF2B5EF4-FFF2-40B4-BE49-F238E27FC236}">
                <a16:creationId xmlns:a16="http://schemas.microsoft.com/office/drawing/2014/main" id="{0936F8AB-2F0A-4DEF-811D-C861BE3DCB9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4AA4EE1-761B-42F2-85A7-F63AD1E56FA6}"/>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1327650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5B971-FB26-41D7-95F5-F021747344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BBA7275-18B7-4460-99E7-09ADD0013B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F5FCC0-D468-460A-8B5F-FE034F337C4E}"/>
              </a:ext>
            </a:extLst>
          </p:cNvPr>
          <p:cNvSpPr>
            <a:spLocks noGrp="1"/>
          </p:cNvSpPr>
          <p:nvPr>
            <p:ph type="dt" sz="half" idx="10"/>
          </p:nvPr>
        </p:nvSpPr>
        <p:spPr/>
        <p:txBody>
          <a:bodyPr/>
          <a:lstStyle/>
          <a:p>
            <a:fld id="{7199206E-25CD-491D-B81A-58B0B02BF664}" type="datetime1">
              <a:rPr lang="en-GB" smtClean="0"/>
              <a:t>11/12/2025</a:t>
            </a:fld>
            <a:endParaRPr lang="en-GB"/>
          </a:p>
        </p:txBody>
      </p:sp>
      <p:sp>
        <p:nvSpPr>
          <p:cNvPr id="5" name="Footer Placeholder 4">
            <a:extLst>
              <a:ext uri="{FF2B5EF4-FFF2-40B4-BE49-F238E27FC236}">
                <a16:creationId xmlns:a16="http://schemas.microsoft.com/office/drawing/2014/main" id="{3CE6865B-47F9-4107-B119-C96C7AA4F46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E9CFB34-E142-4A20-B937-DB7BD701E77A}"/>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728641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E8A69-3A4E-48BC-9FDD-5FBAD5D7D39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F18617A-9659-4DDF-96FC-C58F34C964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7C96201-BCCC-4314-BAB8-942AF97529B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0EA28A0-10DD-4EA6-9D26-DBBE321B978F}"/>
              </a:ext>
            </a:extLst>
          </p:cNvPr>
          <p:cNvSpPr>
            <a:spLocks noGrp="1"/>
          </p:cNvSpPr>
          <p:nvPr>
            <p:ph type="dt" sz="half" idx="10"/>
          </p:nvPr>
        </p:nvSpPr>
        <p:spPr/>
        <p:txBody>
          <a:bodyPr/>
          <a:lstStyle/>
          <a:p>
            <a:fld id="{4B032472-6A09-4A5F-A86F-07D3CED770C4}" type="datetime1">
              <a:rPr lang="en-GB" smtClean="0"/>
              <a:t>11/12/2025</a:t>
            </a:fld>
            <a:endParaRPr lang="en-GB"/>
          </a:p>
        </p:txBody>
      </p:sp>
      <p:sp>
        <p:nvSpPr>
          <p:cNvPr id="6" name="Footer Placeholder 5">
            <a:extLst>
              <a:ext uri="{FF2B5EF4-FFF2-40B4-BE49-F238E27FC236}">
                <a16:creationId xmlns:a16="http://schemas.microsoft.com/office/drawing/2014/main" id="{77E9A68C-6BBF-4B5E-AD39-1C4477999F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00789C5-9458-429C-97E6-0EFE6A297A39}"/>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934802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40408D-B6F6-4B90-B1BE-150668DB1D8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4E5B94B-E9B2-46CC-8E50-8BFBE4E84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1EF349-9011-4997-9C9C-74CBF39EEE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F396B72-4FB2-4069-BB6E-934AED75D88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9D0D8C-AF3E-4F4E-B52F-70FE8B9AC9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ABE2B99-14C4-47CC-94D1-BF37176513F3}"/>
              </a:ext>
            </a:extLst>
          </p:cNvPr>
          <p:cNvSpPr>
            <a:spLocks noGrp="1"/>
          </p:cNvSpPr>
          <p:nvPr>
            <p:ph type="dt" sz="half" idx="10"/>
          </p:nvPr>
        </p:nvSpPr>
        <p:spPr/>
        <p:txBody>
          <a:bodyPr/>
          <a:lstStyle/>
          <a:p>
            <a:fld id="{A47C45A9-6095-466A-97B7-4741BD4A8BC0}" type="datetime1">
              <a:rPr lang="en-GB" smtClean="0"/>
              <a:t>11/12/2025</a:t>
            </a:fld>
            <a:endParaRPr lang="en-GB"/>
          </a:p>
        </p:txBody>
      </p:sp>
      <p:sp>
        <p:nvSpPr>
          <p:cNvPr id="8" name="Footer Placeholder 7">
            <a:extLst>
              <a:ext uri="{FF2B5EF4-FFF2-40B4-BE49-F238E27FC236}">
                <a16:creationId xmlns:a16="http://schemas.microsoft.com/office/drawing/2014/main" id="{130A6930-ACD4-4FE0-A433-4707BA99319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A613DF1-B0B0-42CB-B5BE-615F5D8EE1EB}"/>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35335718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2764F-C3C7-4482-9E85-A0EAF6BE155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50CEDDB-0615-4C45-90B2-26A091365F62}"/>
              </a:ext>
            </a:extLst>
          </p:cNvPr>
          <p:cNvSpPr>
            <a:spLocks noGrp="1"/>
          </p:cNvSpPr>
          <p:nvPr>
            <p:ph type="dt" sz="half" idx="10"/>
          </p:nvPr>
        </p:nvSpPr>
        <p:spPr/>
        <p:txBody>
          <a:bodyPr/>
          <a:lstStyle/>
          <a:p>
            <a:fld id="{19A9773D-687A-4E64-AA64-D91DED6B2B9E}" type="datetime1">
              <a:rPr lang="en-GB" smtClean="0"/>
              <a:t>11/12/2025</a:t>
            </a:fld>
            <a:endParaRPr lang="en-GB"/>
          </a:p>
        </p:txBody>
      </p:sp>
      <p:sp>
        <p:nvSpPr>
          <p:cNvPr id="4" name="Footer Placeholder 3">
            <a:extLst>
              <a:ext uri="{FF2B5EF4-FFF2-40B4-BE49-F238E27FC236}">
                <a16:creationId xmlns:a16="http://schemas.microsoft.com/office/drawing/2014/main" id="{B5C594A7-018E-4731-ABC0-96C96A59B8D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898A1FC-2FD2-49EA-9A94-68031CAC00DD}"/>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2456262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5AD95D-B98D-4605-8FEF-F56F3711C28D}"/>
              </a:ext>
            </a:extLst>
          </p:cNvPr>
          <p:cNvSpPr>
            <a:spLocks noGrp="1"/>
          </p:cNvSpPr>
          <p:nvPr>
            <p:ph type="dt" sz="half" idx="10"/>
          </p:nvPr>
        </p:nvSpPr>
        <p:spPr/>
        <p:txBody>
          <a:bodyPr/>
          <a:lstStyle/>
          <a:p>
            <a:fld id="{DADE7238-A996-433C-B0A1-867B93BFDE4E}" type="datetime1">
              <a:rPr lang="en-GB" smtClean="0"/>
              <a:t>11/12/2025</a:t>
            </a:fld>
            <a:endParaRPr lang="en-GB"/>
          </a:p>
        </p:txBody>
      </p:sp>
      <p:sp>
        <p:nvSpPr>
          <p:cNvPr id="3" name="Footer Placeholder 2">
            <a:extLst>
              <a:ext uri="{FF2B5EF4-FFF2-40B4-BE49-F238E27FC236}">
                <a16:creationId xmlns:a16="http://schemas.microsoft.com/office/drawing/2014/main" id="{531AE2AA-3C16-4924-B3B7-9A237CCE373D}"/>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72119A4-6184-4F19-B191-62856B03189C}"/>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1263228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62AEC-6CE2-47BA-A60F-1B058F7B7C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4B25CD7D-FFEF-44A9-BD62-F100E450A7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C70515E-17A2-44E1-BDFE-8B4585A681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1F39EC-6937-4843-9A90-5FD9912B801F}"/>
              </a:ext>
            </a:extLst>
          </p:cNvPr>
          <p:cNvSpPr>
            <a:spLocks noGrp="1"/>
          </p:cNvSpPr>
          <p:nvPr>
            <p:ph type="dt" sz="half" idx="10"/>
          </p:nvPr>
        </p:nvSpPr>
        <p:spPr/>
        <p:txBody>
          <a:bodyPr/>
          <a:lstStyle/>
          <a:p>
            <a:fld id="{3843DC6F-7EE5-4A3B-A98A-1AD2AF8000EE}" type="datetime1">
              <a:rPr lang="en-GB" smtClean="0"/>
              <a:t>11/12/2025</a:t>
            </a:fld>
            <a:endParaRPr lang="en-GB"/>
          </a:p>
        </p:txBody>
      </p:sp>
      <p:sp>
        <p:nvSpPr>
          <p:cNvPr id="6" name="Footer Placeholder 5">
            <a:extLst>
              <a:ext uri="{FF2B5EF4-FFF2-40B4-BE49-F238E27FC236}">
                <a16:creationId xmlns:a16="http://schemas.microsoft.com/office/drawing/2014/main" id="{2A35A170-ACD5-4EAA-A155-1FDC4FB2DE4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CE15882-F799-45A3-9321-F6D58427CCC2}"/>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3008600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B3489-F65A-42E2-8DE3-36EDD0E81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F0D9496-0670-4BB0-9369-1BF2FA76BF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FDDC140-74DE-4F88-B57E-C49ACA7E19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909C48-9AF5-4904-98DD-A0AC55DFE43E}"/>
              </a:ext>
            </a:extLst>
          </p:cNvPr>
          <p:cNvSpPr>
            <a:spLocks noGrp="1"/>
          </p:cNvSpPr>
          <p:nvPr>
            <p:ph type="dt" sz="half" idx="10"/>
          </p:nvPr>
        </p:nvSpPr>
        <p:spPr/>
        <p:txBody>
          <a:bodyPr/>
          <a:lstStyle/>
          <a:p>
            <a:fld id="{ACC7A72C-729D-4958-9FB4-70D1B5BF04A4}" type="datetime1">
              <a:rPr lang="en-GB" smtClean="0"/>
              <a:t>11/12/2025</a:t>
            </a:fld>
            <a:endParaRPr lang="en-GB"/>
          </a:p>
        </p:txBody>
      </p:sp>
      <p:sp>
        <p:nvSpPr>
          <p:cNvPr id="6" name="Footer Placeholder 5">
            <a:extLst>
              <a:ext uri="{FF2B5EF4-FFF2-40B4-BE49-F238E27FC236}">
                <a16:creationId xmlns:a16="http://schemas.microsoft.com/office/drawing/2014/main" id="{454E9C98-559B-4C48-BD6C-2C041E4568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70ACA5-570D-4142-9CD7-B4011CB7FC7F}"/>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4221689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601D8-3C63-41F8-B7AD-66FC1B28A64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F1AEE9B-C401-46AA-BC39-E61BDC6E79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F913088-E496-43B1-9844-2F35AEF856BC}"/>
              </a:ext>
            </a:extLst>
          </p:cNvPr>
          <p:cNvSpPr>
            <a:spLocks noGrp="1"/>
          </p:cNvSpPr>
          <p:nvPr>
            <p:ph type="dt" sz="half" idx="10"/>
          </p:nvPr>
        </p:nvSpPr>
        <p:spPr/>
        <p:txBody>
          <a:bodyPr/>
          <a:lstStyle/>
          <a:p>
            <a:fld id="{C767846A-A088-466B-B29B-DAA55AE3D615}" type="datetime1">
              <a:rPr lang="en-GB" smtClean="0"/>
              <a:t>11/12/2025</a:t>
            </a:fld>
            <a:endParaRPr lang="en-GB"/>
          </a:p>
        </p:txBody>
      </p:sp>
      <p:sp>
        <p:nvSpPr>
          <p:cNvPr id="5" name="Footer Placeholder 4">
            <a:extLst>
              <a:ext uri="{FF2B5EF4-FFF2-40B4-BE49-F238E27FC236}">
                <a16:creationId xmlns:a16="http://schemas.microsoft.com/office/drawing/2014/main" id="{F4C28C3E-438E-4539-A387-3A0C767F46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6099B4-E173-4A5F-8348-B3103D9ECFF6}"/>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2432614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5CF2E55-17EF-4C9E-A266-315B03E1A98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4F4A669-CBA9-4E39-BF9D-CF011768BF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E4D98E-0598-4A78-BB9E-BD3B0641E877}"/>
              </a:ext>
            </a:extLst>
          </p:cNvPr>
          <p:cNvSpPr>
            <a:spLocks noGrp="1"/>
          </p:cNvSpPr>
          <p:nvPr>
            <p:ph type="dt" sz="half" idx="10"/>
          </p:nvPr>
        </p:nvSpPr>
        <p:spPr/>
        <p:txBody>
          <a:bodyPr/>
          <a:lstStyle/>
          <a:p>
            <a:fld id="{78B1C421-70FB-4984-8C6D-055014C1D2DF}" type="datetime1">
              <a:rPr lang="en-GB" smtClean="0"/>
              <a:t>11/12/2025</a:t>
            </a:fld>
            <a:endParaRPr lang="en-GB"/>
          </a:p>
        </p:txBody>
      </p:sp>
      <p:sp>
        <p:nvSpPr>
          <p:cNvPr id="5" name="Footer Placeholder 4">
            <a:extLst>
              <a:ext uri="{FF2B5EF4-FFF2-40B4-BE49-F238E27FC236}">
                <a16:creationId xmlns:a16="http://schemas.microsoft.com/office/drawing/2014/main" id="{0DFF6681-17A7-41CF-93B8-79BE674038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4CE0E21-C635-4431-9E0C-15E7D13E8342}"/>
              </a:ext>
            </a:extLst>
          </p:cNvPr>
          <p:cNvSpPr>
            <a:spLocks noGrp="1"/>
          </p:cNvSpPr>
          <p:nvPr>
            <p:ph type="sldNum" sz="quarter" idx="12"/>
          </p:nvPr>
        </p:nvSpPr>
        <p:spPr/>
        <p:txBody>
          <a:bodyPr/>
          <a:lstStyle/>
          <a:p>
            <a:fld id="{1E7A9BE6-D515-4CD7-B9C9-CD5F329F7826}" type="slidenum">
              <a:rPr lang="en-GB" smtClean="0"/>
              <a:t>‹#›</a:t>
            </a:fld>
            <a:endParaRPr lang="en-GB"/>
          </a:p>
        </p:txBody>
      </p:sp>
    </p:spTree>
    <p:extLst>
      <p:ext uri="{BB962C8B-B14F-4D97-AF65-F5344CB8AC3E}">
        <p14:creationId xmlns:p14="http://schemas.microsoft.com/office/powerpoint/2010/main" val="1553683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56FF36-D9DB-4B5A-B399-4C6C5442C0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4C422BD-FBA6-4048-B3D2-7169F6DBE71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9768EEC-A034-402F-BF7A-C7C1D32257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BE82BB-597A-4711-BFBC-6FA804693904}" type="datetime1">
              <a:rPr lang="en-GB" smtClean="0"/>
              <a:t>11/12/2025</a:t>
            </a:fld>
            <a:endParaRPr lang="en-GB"/>
          </a:p>
        </p:txBody>
      </p:sp>
      <p:sp>
        <p:nvSpPr>
          <p:cNvPr id="5" name="Footer Placeholder 4">
            <a:extLst>
              <a:ext uri="{FF2B5EF4-FFF2-40B4-BE49-F238E27FC236}">
                <a16:creationId xmlns:a16="http://schemas.microsoft.com/office/drawing/2014/main" id="{5BD0D079-3579-4F54-8B25-02FC04BF20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EA44059-85C5-4585-B137-BAAFB88E10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7A9BE6-D515-4CD7-B9C9-CD5F329F7826}" type="slidenum">
              <a:rPr lang="en-GB" smtClean="0"/>
              <a:t>‹#›</a:t>
            </a:fld>
            <a:endParaRPr lang="en-GB"/>
          </a:p>
        </p:txBody>
      </p:sp>
    </p:spTree>
    <p:extLst>
      <p:ext uri="{BB962C8B-B14F-4D97-AF65-F5344CB8AC3E}">
        <p14:creationId xmlns:p14="http://schemas.microsoft.com/office/powerpoint/2010/main" val="1743105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110.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3AD257CA-D7D3-3D90-3661-2DBD9C17CCC8}"/>
              </a:ext>
            </a:extLst>
          </p:cNvPr>
          <p:cNvSpPr/>
          <p:nvPr/>
        </p:nvSpPr>
        <p:spPr>
          <a:xfrm>
            <a:off x="3086868" y="4759353"/>
            <a:ext cx="5805520" cy="1196145"/>
          </a:xfrm>
          <a:prstGeom prst="roundRect">
            <a:avLst>
              <a:gd name="adj" fmla="val 2814"/>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3F54049-5DC2-40F1-9351-0A66984A74B0}"/>
              </a:ext>
            </a:extLst>
          </p:cNvPr>
          <p:cNvSpPr/>
          <p:nvPr/>
        </p:nvSpPr>
        <p:spPr>
          <a:xfrm>
            <a:off x="0"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2" descr="Jongmyon Kim&amp;#39;s lab | University of Ulsan (UOU)">
            <a:extLst>
              <a:ext uri="{FF2B5EF4-FFF2-40B4-BE49-F238E27FC236}">
                <a16:creationId xmlns:a16="http://schemas.microsoft.com/office/drawing/2014/main" id="{9AEBC0AC-F6CF-44A3-9366-36E52F140C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99" y="32177"/>
            <a:ext cx="470377" cy="470377"/>
          </a:xfrm>
          <a:prstGeom prst="rect">
            <a:avLst/>
          </a:prstGeom>
          <a:noFill/>
          <a:extLst>
            <a:ext uri="{909E8E84-426E-40DD-AFC4-6F175D3DCCD1}">
              <a14:hiddenFill xmlns:a14="http://schemas.microsoft.com/office/drawing/2010/main">
                <a:solidFill>
                  <a:srgbClr val="FFFFFF"/>
                </a:solidFill>
              </a14:hiddenFill>
            </a:ext>
          </a:extLst>
        </p:spPr>
      </p:pic>
      <p:sp>
        <p:nvSpPr>
          <p:cNvPr id="24" name="Google Shape;104;p14">
            <a:extLst>
              <a:ext uri="{FF2B5EF4-FFF2-40B4-BE49-F238E27FC236}">
                <a16:creationId xmlns:a16="http://schemas.microsoft.com/office/drawing/2014/main" id="{C68C38E5-FCF1-4C73-A9E0-8FDFA99E2478}"/>
              </a:ext>
            </a:extLst>
          </p:cNvPr>
          <p:cNvSpPr txBox="1">
            <a:spLocks noGrp="1"/>
          </p:cNvSpPr>
          <p:nvPr>
            <p:ph type="ctrTitle"/>
          </p:nvPr>
        </p:nvSpPr>
        <p:spPr>
          <a:xfrm>
            <a:off x="841237" y="1003778"/>
            <a:ext cx="10509511" cy="987252"/>
          </a:xfrm>
          <a:prstGeom prst="rect">
            <a:avLst/>
          </a:prstGeom>
          <a:ln>
            <a:noFill/>
          </a:ln>
        </p:spPr>
        <p:txBody>
          <a:bodyPr spcFirstLastPara="1" wrap="square" lIns="0" tIns="0" rIns="0" bIns="0" anchor="t" anchorCtr="0">
            <a:noAutofit/>
          </a:bodyPr>
          <a:lstStyle/>
          <a:p>
            <a:pPr marL="0" lvl="0" indent="0" rtl="0">
              <a:spcBef>
                <a:spcPts val="0"/>
              </a:spcBef>
              <a:spcAft>
                <a:spcPts val="0"/>
              </a:spcAft>
              <a:buNone/>
            </a:pPr>
            <a:r>
              <a:rPr lang="en-US" sz="3600" b="1" dirty="0">
                <a:solidFill>
                  <a:srgbClr val="002060"/>
                </a:solidFill>
                <a:latin typeface="Söhne"/>
                <a:ea typeface="Verdana" panose="020B0604030504040204" pitchFamily="34" charset="0"/>
                <a:cs typeface="Times New Roman" panose="02020603050405020304" pitchFamily="18" charset="0"/>
              </a:rPr>
              <a:t>Inter-user Dependent Task Offloading and Resource</a:t>
            </a:r>
            <a:br>
              <a:rPr lang="en-US" sz="3600" b="1" dirty="0">
                <a:solidFill>
                  <a:srgbClr val="002060"/>
                </a:solidFill>
                <a:latin typeface="Söhne"/>
                <a:ea typeface="Verdana" panose="020B0604030504040204" pitchFamily="34" charset="0"/>
                <a:cs typeface="Times New Roman" panose="02020603050405020304" pitchFamily="18" charset="0"/>
              </a:rPr>
            </a:br>
            <a:r>
              <a:rPr lang="en-US" sz="3600" b="1" dirty="0">
                <a:solidFill>
                  <a:srgbClr val="002060"/>
                </a:solidFill>
                <a:latin typeface="Söhne"/>
                <a:ea typeface="Verdana" panose="020B0604030504040204" pitchFamily="34" charset="0"/>
                <a:cs typeface="Times New Roman" panose="02020603050405020304" pitchFamily="18" charset="0"/>
              </a:rPr>
              <a:t>Allocation in Dynamic MEC Networks</a:t>
            </a:r>
            <a:endParaRPr sz="3600" b="1" dirty="0">
              <a:solidFill>
                <a:srgbClr val="002060"/>
              </a:solidFill>
              <a:latin typeface="Söhne"/>
              <a:ea typeface="Verdana" panose="020B0604030504040204" pitchFamily="34" charset="0"/>
              <a:cs typeface="Times New Roman" panose="02020603050405020304" pitchFamily="18" charset="0"/>
            </a:endParaRPr>
          </a:p>
        </p:txBody>
      </p:sp>
      <p:pic>
        <p:nvPicPr>
          <p:cNvPr id="9" name="Picture 8" descr="Logo&#10;&#10;Description automatically generated">
            <a:extLst>
              <a:ext uri="{FF2B5EF4-FFF2-40B4-BE49-F238E27FC236}">
                <a16:creationId xmlns:a16="http://schemas.microsoft.com/office/drawing/2014/main" id="{C5AFC7FD-3907-4566-9E4E-62CFB24BDBA9}"/>
              </a:ext>
            </a:extLst>
          </p:cNvPr>
          <p:cNvPicPr>
            <a:picLocks noChangeAspect="1"/>
          </p:cNvPicPr>
          <p:nvPr/>
        </p:nvPicPr>
        <p:blipFill rotWithShape="1">
          <a:blip r:embed="rId4">
            <a:extLst>
              <a:ext uri="{28A0092B-C50C-407E-A947-70E740481C1C}">
                <a14:useLocalDpi xmlns:a14="http://schemas.microsoft.com/office/drawing/2010/main" val="0"/>
              </a:ext>
            </a:extLst>
          </a:blip>
          <a:srcRect t="34274" b="27829"/>
          <a:stretch/>
        </p:blipFill>
        <p:spPr>
          <a:xfrm>
            <a:off x="97655" y="6453078"/>
            <a:ext cx="1747748" cy="404922"/>
          </a:xfrm>
          <a:prstGeom prst="rect">
            <a:avLst/>
          </a:prstGeom>
        </p:spPr>
      </p:pic>
      <p:sp>
        <p:nvSpPr>
          <p:cNvPr id="7" name="Subtitle 2">
            <a:extLst>
              <a:ext uri="{FF2B5EF4-FFF2-40B4-BE49-F238E27FC236}">
                <a16:creationId xmlns:a16="http://schemas.microsoft.com/office/drawing/2014/main" id="{7A7B2642-8443-B614-640A-CFD2AF3C2A66}"/>
              </a:ext>
            </a:extLst>
          </p:cNvPr>
          <p:cNvSpPr>
            <a:spLocks noGrp="1"/>
          </p:cNvSpPr>
          <p:nvPr>
            <p:ph type="subTitle" idx="1"/>
          </p:nvPr>
        </p:nvSpPr>
        <p:spPr>
          <a:xfrm>
            <a:off x="548914" y="5955498"/>
            <a:ext cx="11094171" cy="400147"/>
          </a:xfrm>
        </p:spPr>
        <p:txBody>
          <a:bodyPr>
            <a:noAutofit/>
          </a:bodyPr>
          <a:lstStyle/>
          <a:p>
            <a:pPr hangingPunct="0">
              <a:lnSpc>
                <a:spcPct val="120000"/>
              </a:lnSpc>
            </a:pPr>
            <a:r>
              <a:rPr lang="en-US" sz="1600" b="1" dirty="0">
                <a:solidFill>
                  <a:srgbClr val="384F66"/>
                </a:solidFill>
                <a:latin typeface="Söhne"/>
              </a:rPr>
              <a:t>Department of Electrical Electronics and Computer Engineering, University of Ulsan, Ulsan, South Korea</a:t>
            </a:r>
          </a:p>
        </p:txBody>
      </p:sp>
      <p:sp>
        <p:nvSpPr>
          <p:cNvPr id="40" name="Decagon 39">
            <a:extLst>
              <a:ext uri="{FF2B5EF4-FFF2-40B4-BE49-F238E27FC236}">
                <a16:creationId xmlns:a16="http://schemas.microsoft.com/office/drawing/2014/main" id="{C5E2BC26-FBA5-95E2-0047-A235C7AB399E}"/>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1</a:t>
            </a:r>
            <a:endParaRPr lang="en-US"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766AC00-52D9-3769-5DB1-8DB7B5B93334}"/>
              </a:ext>
            </a:extLst>
          </p:cNvPr>
          <p:cNvSpPr txBox="1"/>
          <p:nvPr/>
        </p:nvSpPr>
        <p:spPr>
          <a:xfrm>
            <a:off x="4618879" y="313157"/>
            <a:ext cx="2720462" cy="523220"/>
          </a:xfrm>
          <a:prstGeom prst="rect">
            <a:avLst/>
          </a:prstGeom>
          <a:noFill/>
        </p:spPr>
        <p:txBody>
          <a:bodyPr wrap="square">
            <a:spAutoFit/>
          </a:bodyPr>
          <a:lstStyle/>
          <a:p>
            <a:pPr algn="ctr"/>
            <a:r>
              <a:rPr lang="en-US" sz="2800" b="1" u="sng" dirty="0">
                <a:solidFill>
                  <a:srgbClr val="002060"/>
                </a:solidFill>
                <a:latin typeface="Söhne"/>
                <a:ea typeface="+mj-ea"/>
                <a:cs typeface="+mj-cs"/>
              </a:rPr>
              <a:t>Paper No: 49</a:t>
            </a:r>
          </a:p>
        </p:txBody>
      </p:sp>
      <p:graphicFrame>
        <p:nvGraphicFramePr>
          <p:cNvPr id="17" name="Table 16">
            <a:extLst>
              <a:ext uri="{FF2B5EF4-FFF2-40B4-BE49-F238E27FC236}">
                <a16:creationId xmlns:a16="http://schemas.microsoft.com/office/drawing/2014/main" id="{7BB62794-57F9-983A-D80E-7A2216C520FF}"/>
              </a:ext>
            </a:extLst>
          </p:cNvPr>
          <p:cNvGraphicFramePr>
            <a:graphicFrameLocks noGrp="1"/>
          </p:cNvGraphicFramePr>
          <p:nvPr>
            <p:extLst>
              <p:ext uri="{D42A27DB-BD31-4B8C-83A1-F6EECF244321}">
                <p14:modId xmlns:p14="http://schemas.microsoft.com/office/powerpoint/2010/main" val="1216190770"/>
              </p:ext>
            </p:extLst>
          </p:nvPr>
        </p:nvGraphicFramePr>
        <p:xfrm>
          <a:off x="738390" y="2599752"/>
          <a:ext cx="10715220" cy="1550879"/>
        </p:xfrm>
        <a:graphic>
          <a:graphicData uri="http://schemas.openxmlformats.org/drawingml/2006/table">
            <a:tbl>
              <a:tblPr firstRow="1" bandRow="1">
                <a:tableStyleId>{5C22544A-7EE6-4342-B048-85BDC9FD1C3A}</a:tableStyleId>
              </a:tblPr>
              <a:tblGrid>
                <a:gridCol w="3039414">
                  <a:extLst>
                    <a:ext uri="{9D8B030D-6E8A-4147-A177-3AD203B41FA5}">
                      <a16:colId xmlns:a16="http://schemas.microsoft.com/office/drawing/2014/main" val="2423918464"/>
                    </a:ext>
                  </a:extLst>
                </a:gridCol>
                <a:gridCol w="2118575">
                  <a:extLst>
                    <a:ext uri="{9D8B030D-6E8A-4147-A177-3AD203B41FA5}">
                      <a16:colId xmlns:a16="http://schemas.microsoft.com/office/drawing/2014/main" val="447510335"/>
                    </a:ext>
                  </a:extLst>
                </a:gridCol>
                <a:gridCol w="1687132">
                  <a:extLst>
                    <a:ext uri="{9D8B030D-6E8A-4147-A177-3AD203B41FA5}">
                      <a16:colId xmlns:a16="http://schemas.microsoft.com/office/drawing/2014/main" val="16179904"/>
                    </a:ext>
                  </a:extLst>
                </a:gridCol>
                <a:gridCol w="1727055">
                  <a:extLst>
                    <a:ext uri="{9D8B030D-6E8A-4147-A177-3AD203B41FA5}">
                      <a16:colId xmlns:a16="http://schemas.microsoft.com/office/drawing/2014/main" val="2501384726"/>
                    </a:ext>
                  </a:extLst>
                </a:gridCol>
                <a:gridCol w="2143044">
                  <a:extLst>
                    <a:ext uri="{9D8B030D-6E8A-4147-A177-3AD203B41FA5}">
                      <a16:colId xmlns:a16="http://schemas.microsoft.com/office/drawing/2014/main" val="3077203089"/>
                    </a:ext>
                  </a:extLst>
                </a:gridCol>
              </a:tblGrid>
              <a:tr h="621239">
                <a:tc>
                  <a:txBody>
                    <a:bodyPr/>
                    <a:lstStyle/>
                    <a:p>
                      <a:pPr algn="ctr"/>
                      <a:r>
                        <a:rPr lang="en-US" sz="1600" b="1" kern="1200" dirty="0">
                          <a:solidFill>
                            <a:srgbClr val="002060"/>
                          </a:solidFill>
                          <a:latin typeface="+mn-lt"/>
                          <a:ea typeface="Verdana" panose="020B0604030504040204" pitchFamily="34" charset="0"/>
                          <a:cs typeface="Times New Roman" panose="02020603050405020304" pitchFamily="18" charset="0"/>
                        </a:rPr>
                        <a:t>Tianyi Shi</a:t>
                      </a:r>
                    </a:p>
                  </a:txBody>
                  <a:tcPr anchor="ctr">
                    <a:solidFill>
                      <a:schemeClr val="accent1">
                        <a:lumMod val="40000"/>
                        <a:lumOff val="60000"/>
                      </a:schemeClr>
                    </a:solidFill>
                  </a:tcPr>
                </a:tc>
                <a:tc>
                  <a:txBody>
                    <a:bodyPr/>
                    <a:lstStyle/>
                    <a:p>
                      <a:pPr algn="ctr"/>
                      <a:r>
                        <a:rPr lang="en-US" sz="1600" b="1" kern="1200" dirty="0" err="1">
                          <a:solidFill>
                            <a:srgbClr val="002060"/>
                          </a:solidFill>
                          <a:latin typeface="+mn-lt"/>
                          <a:ea typeface="Verdana" panose="020B0604030504040204" pitchFamily="34" charset="0"/>
                          <a:cs typeface="Times New Roman" panose="02020603050405020304" pitchFamily="18" charset="0"/>
                        </a:rPr>
                        <a:t>Tiankui</a:t>
                      </a:r>
                      <a:r>
                        <a:rPr lang="en-US" sz="1600" b="1" kern="1200" dirty="0">
                          <a:solidFill>
                            <a:srgbClr val="002060"/>
                          </a:solidFill>
                          <a:latin typeface="+mn-lt"/>
                          <a:ea typeface="Verdana" panose="020B0604030504040204" pitchFamily="34" charset="0"/>
                          <a:cs typeface="Times New Roman" panose="02020603050405020304" pitchFamily="18" charset="0"/>
                        </a:rPr>
                        <a:t> Zhang</a:t>
                      </a:r>
                    </a:p>
                  </a:txBody>
                  <a:tcPr anchor="ctr">
                    <a:solidFill>
                      <a:schemeClr val="accent1">
                        <a:lumMod val="40000"/>
                        <a:lumOff val="60000"/>
                      </a:schemeClr>
                    </a:solidFill>
                  </a:tcPr>
                </a:tc>
                <a:tc>
                  <a:txBody>
                    <a:bodyPr/>
                    <a:lstStyle/>
                    <a:p>
                      <a:pPr algn="ctr"/>
                      <a:r>
                        <a:rPr lang="en-US" sz="1600" b="1" kern="1200" dirty="0" err="1">
                          <a:solidFill>
                            <a:srgbClr val="002060"/>
                          </a:solidFill>
                          <a:latin typeface="+mn-lt"/>
                          <a:ea typeface="Verdana" panose="020B0604030504040204" pitchFamily="34" charset="0"/>
                          <a:cs typeface="Times New Roman" panose="02020603050405020304" pitchFamily="18" charset="0"/>
                        </a:rPr>
                        <a:t>Ruikang</a:t>
                      </a:r>
                      <a:r>
                        <a:rPr lang="en-US" sz="1600" b="1" kern="1200" dirty="0">
                          <a:solidFill>
                            <a:srgbClr val="002060"/>
                          </a:solidFill>
                          <a:latin typeface="+mn-lt"/>
                          <a:ea typeface="Verdana" panose="020B0604030504040204" pitchFamily="34" charset="0"/>
                          <a:cs typeface="Times New Roman" panose="02020603050405020304" pitchFamily="18" charset="0"/>
                        </a:rPr>
                        <a:t> Zhong</a:t>
                      </a:r>
                    </a:p>
                  </a:txBody>
                  <a:tcPr anchor="ctr">
                    <a:solidFill>
                      <a:schemeClr val="accent1">
                        <a:lumMod val="40000"/>
                        <a:lumOff val="60000"/>
                      </a:schemeClr>
                    </a:solidFill>
                  </a:tcPr>
                </a:tc>
                <a:tc>
                  <a:txBody>
                    <a:bodyPr/>
                    <a:lstStyle/>
                    <a:p>
                      <a:pPr algn="ctr"/>
                      <a:r>
                        <a:rPr lang="en-US" sz="1600" b="1" kern="1200" dirty="0" err="1">
                          <a:solidFill>
                            <a:srgbClr val="002060"/>
                          </a:solidFill>
                          <a:latin typeface="+mn-lt"/>
                          <a:ea typeface="Verdana" panose="020B0604030504040204" pitchFamily="34" charset="0"/>
                          <a:cs typeface="Times New Roman" panose="02020603050405020304" pitchFamily="18" charset="0"/>
                        </a:rPr>
                        <a:t>Yuanwei</a:t>
                      </a:r>
                      <a:r>
                        <a:rPr lang="en-US" sz="1600" b="1" kern="1200" dirty="0">
                          <a:solidFill>
                            <a:srgbClr val="002060"/>
                          </a:solidFill>
                          <a:latin typeface="+mn-lt"/>
                          <a:ea typeface="Verdana" panose="020B0604030504040204" pitchFamily="34" charset="0"/>
                          <a:cs typeface="Times New Roman" panose="02020603050405020304" pitchFamily="18" charset="0"/>
                        </a:rPr>
                        <a:t> Liu</a:t>
                      </a:r>
                    </a:p>
                  </a:txBody>
                  <a:tcPr anchor="ctr">
                    <a:solidFill>
                      <a:schemeClr val="accent1">
                        <a:lumMod val="40000"/>
                        <a:lumOff val="60000"/>
                      </a:schemeClr>
                    </a:solidFill>
                  </a:tcPr>
                </a:tc>
                <a:tc>
                  <a:txBody>
                    <a:bodyPr/>
                    <a:lstStyle/>
                    <a:p>
                      <a:pPr algn="ctr"/>
                      <a:r>
                        <a:rPr lang="en-US" sz="1600" b="1" kern="1200" dirty="0">
                          <a:solidFill>
                            <a:srgbClr val="002060"/>
                          </a:solidFill>
                          <a:latin typeface="+mn-lt"/>
                          <a:ea typeface="Verdana" panose="020B0604030504040204" pitchFamily="34" charset="0"/>
                          <a:cs typeface="Times New Roman" panose="02020603050405020304" pitchFamily="18" charset="0"/>
                        </a:rPr>
                        <a:t>Rong Huang</a:t>
                      </a:r>
                    </a:p>
                  </a:txBody>
                  <a:tcPr anchor="ctr">
                    <a:solidFill>
                      <a:schemeClr val="accent1">
                        <a:lumMod val="40000"/>
                        <a:lumOff val="60000"/>
                      </a:schemeClr>
                    </a:solidFill>
                  </a:tcPr>
                </a:tc>
                <a:extLst>
                  <a:ext uri="{0D108BD9-81ED-4DB2-BD59-A6C34878D82A}">
                    <a16:rowId xmlns:a16="http://schemas.microsoft.com/office/drawing/2014/main" val="38130190"/>
                  </a:ext>
                </a:extLst>
              </a:tr>
              <a:tr h="327932">
                <a:tc>
                  <a:txBody>
                    <a:bodyPr/>
                    <a:lstStyle/>
                    <a:p>
                      <a:pPr algn="ctr"/>
                      <a:r>
                        <a:rPr lang="en-US" sz="1100" b="0" i="0" kern="1200" dirty="0">
                          <a:solidFill>
                            <a:schemeClr val="dk1"/>
                          </a:solidFill>
                          <a:effectLst/>
                          <a:latin typeface="+mn-lt"/>
                          <a:ea typeface="+mn-ea"/>
                          <a:cs typeface="+mn-cs"/>
                        </a:rPr>
                        <a:t>School of Information and Communication Engineering, Beijing University of Posts and Telecommunications, Beijing, China</a:t>
                      </a:r>
                      <a:endParaRPr lang="en-US" sz="1100" dirty="0"/>
                    </a:p>
                  </a:txBody>
                  <a:tcPr anchor="ctr"/>
                </a:tc>
                <a:tc>
                  <a:txBody>
                    <a:bodyPr/>
                    <a:lstStyle/>
                    <a:p>
                      <a:pPr algn="ctr"/>
                      <a:r>
                        <a:rPr lang="en-US" sz="1100" b="0" i="0" kern="1200" dirty="0">
                          <a:solidFill>
                            <a:schemeClr val="dk1"/>
                          </a:solidFill>
                          <a:effectLst/>
                          <a:latin typeface="+mn-lt"/>
                          <a:ea typeface="+mn-ea"/>
                          <a:cs typeface="+mn-cs"/>
                        </a:rPr>
                        <a:t>School of Information and Communication Engineering, Beijing University of Posts and Telecommunications, Beijing, China</a:t>
                      </a:r>
                      <a:endParaRPr lang="en-US" sz="1100" dirty="0"/>
                    </a:p>
                  </a:txBody>
                  <a:tcPr anchor="ctr"/>
                </a:tc>
                <a:tc>
                  <a:txBody>
                    <a:bodyPr/>
                    <a:lstStyle/>
                    <a:p>
                      <a:pPr algn="ctr"/>
                      <a:r>
                        <a:rPr lang="en-US" sz="1100" b="0" i="0" kern="1200" dirty="0">
                          <a:solidFill>
                            <a:schemeClr val="dk1"/>
                          </a:solidFill>
                          <a:effectLst/>
                          <a:latin typeface="+mn-lt"/>
                          <a:ea typeface="+mn-ea"/>
                          <a:cs typeface="+mn-cs"/>
                        </a:rPr>
                        <a:t>School of Electronic Engineering and Computer Science, Queen Mary University of London, London, U.K.</a:t>
                      </a:r>
                      <a:endParaRPr lang="en-US" sz="1100" dirty="0"/>
                    </a:p>
                  </a:txBody>
                  <a:tcPr anchor="ctr"/>
                </a:tc>
                <a:tc>
                  <a:txBody>
                    <a:bodyPr/>
                    <a:lstStyle/>
                    <a:p>
                      <a:pPr algn="ctr"/>
                      <a:r>
                        <a:rPr lang="en-US" sz="1100" b="0" i="0" kern="1200" dirty="0">
                          <a:solidFill>
                            <a:schemeClr val="dk1"/>
                          </a:solidFill>
                          <a:effectLst/>
                          <a:latin typeface="+mn-lt"/>
                          <a:ea typeface="+mn-ea"/>
                          <a:cs typeface="+mn-cs"/>
                        </a:rPr>
                        <a:t>School of Electronic Engineering and Computer Science, Queen Mary University of London, London, U.K.</a:t>
                      </a:r>
                      <a:endParaRPr lang="en-US" sz="1100" dirty="0"/>
                    </a:p>
                  </a:txBody>
                  <a:tcPr anchor="ctr"/>
                </a:tc>
                <a:tc>
                  <a:txBody>
                    <a:bodyPr/>
                    <a:lstStyle/>
                    <a:p>
                      <a:pPr algn="ctr"/>
                      <a:r>
                        <a:rPr lang="en-US" sz="1100" b="0" i="0" kern="1200" dirty="0">
                          <a:solidFill>
                            <a:schemeClr val="dk1"/>
                          </a:solidFill>
                          <a:effectLst/>
                          <a:latin typeface="+mn-lt"/>
                          <a:ea typeface="+mn-ea"/>
                          <a:cs typeface="+mn-cs"/>
                        </a:rPr>
                        <a:t>China Unicom Research Institute, Beijing, China</a:t>
                      </a:r>
                      <a:endParaRPr lang="en-US" sz="1100" dirty="0"/>
                    </a:p>
                  </a:txBody>
                  <a:tcPr anchor="ctr"/>
                </a:tc>
                <a:extLst>
                  <a:ext uri="{0D108BD9-81ED-4DB2-BD59-A6C34878D82A}">
                    <a16:rowId xmlns:a16="http://schemas.microsoft.com/office/drawing/2014/main" val="4076978840"/>
                  </a:ext>
                </a:extLst>
              </a:tr>
            </a:tbl>
          </a:graphicData>
        </a:graphic>
      </p:graphicFrame>
      <p:sp>
        <p:nvSpPr>
          <p:cNvPr id="18" name="Rectangle 17">
            <a:extLst>
              <a:ext uri="{FF2B5EF4-FFF2-40B4-BE49-F238E27FC236}">
                <a16:creationId xmlns:a16="http://schemas.microsoft.com/office/drawing/2014/main" id="{93CB273F-B09E-EEE5-F020-78B7F4ECA4EA}"/>
              </a:ext>
            </a:extLst>
          </p:cNvPr>
          <p:cNvSpPr/>
          <p:nvPr/>
        </p:nvSpPr>
        <p:spPr>
          <a:xfrm>
            <a:off x="738390" y="2118024"/>
            <a:ext cx="10715220" cy="35473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Authors:</a:t>
            </a:r>
          </a:p>
        </p:txBody>
      </p:sp>
      <p:sp>
        <p:nvSpPr>
          <p:cNvPr id="20" name="TextBox 19">
            <a:extLst>
              <a:ext uri="{FF2B5EF4-FFF2-40B4-BE49-F238E27FC236}">
                <a16:creationId xmlns:a16="http://schemas.microsoft.com/office/drawing/2014/main" id="{0A1A1BD2-B140-4E4B-3ADB-6A4F0CEC718F}"/>
              </a:ext>
            </a:extLst>
          </p:cNvPr>
          <p:cNvSpPr txBox="1"/>
          <p:nvPr/>
        </p:nvSpPr>
        <p:spPr>
          <a:xfrm>
            <a:off x="3717967" y="4759353"/>
            <a:ext cx="4756066" cy="1175706"/>
          </a:xfrm>
          <a:prstGeom prst="rect">
            <a:avLst/>
          </a:prstGeom>
          <a:noFill/>
        </p:spPr>
        <p:txBody>
          <a:bodyPr wrap="square">
            <a:spAutoFit/>
          </a:bodyPr>
          <a:lstStyle/>
          <a:p>
            <a:pPr hangingPunct="0">
              <a:lnSpc>
                <a:spcPct val="120000"/>
              </a:lnSpc>
            </a:pPr>
            <a:r>
              <a:rPr lang="en-US" sz="2000" b="1" dirty="0">
                <a:solidFill>
                  <a:srgbClr val="384F66"/>
                </a:solidFill>
                <a:latin typeface="Söhne"/>
              </a:rPr>
              <a:t>Presented By:                UMAR MUHAMMAD</a:t>
            </a:r>
          </a:p>
          <a:p>
            <a:pPr hangingPunct="0">
              <a:lnSpc>
                <a:spcPct val="120000"/>
              </a:lnSpc>
            </a:pPr>
            <a:r>
              <a:rPr lang="en-US" sz="2000" b="1" dirty="0">
                <a:solidFill>
                  <a:srgbClr val="384F66"/>
                </a:solidFill>
                <a:latin typeface="Söhne"/>
              </a:rPr>
              <a:t>Student ID:                     20245364</a:t>
            </a:r>
          </a:p>
          <a:p>
            <a:pPr hangingPunct="0">
              <a:lnSpc>
                <a:spcPct val="120000"/>
              </a:lnSpc>
            </a:pPr>
            <a:r>
              <a:rPr lang="en-US" sz="2000" b="1" dirty="0">
                <a:solidFill>
                  <a:srgbClr val="384F66"/>
                </a:solidFill>
                <a:latin typeface="Söhne"/>
              </a:rPr>
              <a:t>Date:                                2025-12-11</a:t>
            </a:r>
          </a:p>
        </p:txBody>
      </p:sp>
      <p:sp>
        <p:nvSpPr>
          <p:cNvPr id="21" name="Rectangle 20">
            <a:extLst>
              <a:ext uri="{FF2B5EF4-FFF2-40B4-BE49-F238E27FC236}">
                <a16:creationId xmlns:a16="http://schemas.microsoft.com/office/drawing/2014/main" id="{11B892C0-F166-CBB2-E3AE-1AC5998C7415}"/>
              </a:ext>
            </a:extLst>
          </p:cNvPr>
          <p:cNvSpPr/>
          <p:nvPr/>
        </p:nvSpPr>
        <p:spPr>
          <a:xfrm>
            <a:off x="738389" y="4277625"/>
            <a:ext cx="10715220" cy="35473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latin typeface="Söhne"/>
              </a:rPr>
              <a:t>Source: 2024 IEEE International Conference on Communications (ICC)</a:t>
            </a:r>
          </a:p>
        </p:txBody>
      </p:sp>
    </p:spTree>
    <p:extLst>
      <p:ext uri="{BB962C8B-B14F-4D97-AF65-F5344CB8AC3E}">
        <p14:creationId xmlns:p14="http://schemas.microsoft.com/office/powerpoint/2010/main" val="19648291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3F54049-5DC2-40F1-9351-0A66984A74B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2" descr="Jongmyon Kim&amp;#39;s lab | University of Ulsan (UOU)">
            <a:extLst>
              <a:ext uri="{FF2B5EF4-FFF2-40B4-BE49-F238E27FC236}">
                <a16:creationId xmlns:a16="http://schemas.microsoft.com/office/drawing/2014/main" id="{9AEBC0AC-F6CF-44A3-9366-36E52F140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83853BC0-C275-4A94-960F-EF164693EFE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0AB2F05-2712-497E-BA80-CB5D5CBE9E6F}"/>
              </a:ext>
            </a:extLst>
          </p:cNvPr>
          <p:cNvSpPr txBox="1"/>
          <p:nvPr/>
        </p:nvSpPr>
        <p:spPr>
          <a:xfrm>
            <a:off x="435005" y="347067"/>
            <a:ext cx="4420076" cy="584775"/>
          </a:xfrm>
          <a:prstGeom prst="rect">
            <a:avLst/>
          </a:prstGeom>
          <a:noFill/>
        </p:spPr>
        <p:txBody>
          <a:bodyPr wrap="square" rtlCol="0">
            <a:spAutoFit/>
          </a:bodyPr>
          <a:lstStyle/>
          <a:p>
            <a:r>
              <a:rPr lang="en-US" sz="3200" b="1" dirty="0">
                <a:solidFill>
                  <a:srgbClr val="0070C0"/>
                </a:solidFill>
                <a:cs typeface="Times New Roman" panose="02020603050405020304" pitchFamily="18" charset="0"/>
              </a:rPr>
              <a:t>Presentation Outline</a:t>
            </a:r>
            <a:endParaRPr lang="en-GB" sz="3200" b="1" dirty="0">
              <a:solidFill>
                <a:srgbClr val="0070C0"/>
              </a:solidFill>
              <a:cs typeface="Times New Roman" panose="02020603050405020304" pitchFamily="18" charset="0"/>
            </a:endParaRPr>
          </a:p>
        </p:txBody>
      </p:sp>
      <p:sp>
        <p:nvSpPr>
          <p:cNvPr id="13" name="TextBox 12">
            <a:extLst>
              <a:ext uri="{FF2B5EF4-FFF2-40B4-BE49-F238E27FC236}">
                <a16:creationId xmlns:a16="http://schemas.microsoft.com/office/drawing/2014/main" id="{704EE408-A161-41F3-A881-FE62B6D4A380}"/>
              </a:ext>
            </a:extLst>
          </p:cNvPr>
          <p:cNvSpPr txBox="1"/>
          <p:nvPr/>
        </p:nvSpPr>
        <p:spPr>
          <a:xfrm>
            <a:off x="286898" y="1074691"/>
            <a:ext cx="11206719" cy="3170099"/>
          </a:xfrm>
          <a:prstGeom prst="rect">
            <a:avLst/>
          </a:prstGeom>
          <a:noFill/>
          <a:ln w="19050">
            <a:noFill/>
            <a:prstDash val="dash"/>
          </a:ln>
        </p:spPr>
        <p:txBody>
          <a:bodyPr wrap="square" rtlCol="0">
            <a:spAutoFit/>
          </a:bodyPr>
          <a:lstStyle>
            <a:defPPr>
              <a:defRPr lang="en-US"/>
            </a:defPPr>
            <a:lvl1pPr>
              <a:defRPr b="1">
                <a:solidFill>
                  <a:schemeClr val="accent6">
                    <a:lumMod val="75000"/>
                  </a:schemeClr>
                </a:solidFill>
              </a:defRPr>
            </a:lvl1pPr>
          </a:lstStyle>
          <a:p>
            <a:pPr marL="342900" lvl="1" indent="-342900" algn="just">
              <a:buClr>
                <a:schemeClr val="tx1"/>
              </a:buClr>
              <a:buSzPct val="80000"/>
              <a:buFont typeface="Wingdings" panose="05000000000000000000" pitchFamily="2" charset="2"/>
              <a:buChar char="§"/>
            </a:pPr>
            <a:r>
              <a:rPr lang="en-US" sz="2000" b="1" dirty="0">
                <a:solidFill>
                  <a:srgbClr val="374151"/>
                </a:solidFill>
                <a:latin typeface="Söhne"/>
              </a:rPr>
              <a:t>Introduction and Motivation</a:t>
            </a:r>
          </a:p>
          <a:p>
            <a:pPr marL="457200" lvl="2" algn="just">
              <a:buClr>
                <a:schemeClr val="tx1"/>
              </a:buClr>
              <a:buSzPct val="80000"/>
            </a:pPr>
            <a:r>
              <a:rPr lang="en-US" dirty="0"/>
              <a:t>	→ </a:t>
            </a:r>
            <a:r>
              <a:rPr lang="en-US" sz="2000" dirty="0">
                <a:solidFill>
                  <a:srgbClr val="374151"/>
                </a:solidFill>
                <a:latin typeface="Söhne"/>
              </a:rPr>
              <a:t>Challenges in dynamic MEC networks and real-world applications</a:t>
            </a:r>
          </a:p>
          <a:p>
            <a:pPr lvl="1" indent="-457200" algn="just">
              <a:buClr>
                <a:schemeClr val="tx1"/>
              </a:buClr>
              <a:buSzPct val="80000"/>
              <a:buFont typeface="Wingdings" panose="05000000000000000000" pitchFamily="2" charset="2"/>
              <a:buChar char="§"/>
            </a:pPr>
            <a:r>
              <a:rPr lang="en-US" sz="2000" b="1" dirty="0">
                <a:solidFill>
                  <a:srgbClr val="374151"/>
                </a:solidFill>
                <a:latin typeface="Söhne"/>
              </a:rPr>
              <a:t>System Model and Problem Formulation</a:t>
            </a:r>
          </a:p>
          <a:p>
            <a:pPr marL="0" lvl="1" algn="just">
              <a:buClr>
                <a:schemeClr val="tx1"/>
              </a:buClr>
              <a:buSzPct val="80000"/>
            </a:pPr>
            <a:r>
              <a:rPr lang="en-US" sz="2000" b="1" dirty="0">
                <a:solidFill>
                  <a:srgbClr val="374151"/>
                </a:solidFill>
                <a:latin typeface="Söhne"/>
              </a:rPr>
              <a:t>	</a:t>
            </a:r>
            <a:r>
              <a:rPr lang="en-US" dirty="0"/>
              <a:t>→ </a:t>
            </a:r>
            <a:r>
              <a:rPr lang="en-US" sz="2000" dirty="0">
                <a:solidFill>
                  <a:srgbClr val="374151"/>
                </a:solidFill>
                <a:latin typeface="Söhne"/>
              </a:rPr>
              <a:t>Network architecture, task processing model, and cost formulation</a:t>
            </a:r>
          </a:p>
          <a:p>
            <a:pPr lvl="1" indent="-457200" algn="just">
              <a:buClr>
                <a:schemeClr val="tx1"/>
              </a:buClr>
              <a:buSzPct val="80000"/>
              <a:buFont typeface="Wingdings" panose="05000000000000000000" pitchFamily="2" charset="2"/>
              <a:buChar char="§"/>
            </a:pPr>
            <a:r>
              <a:rPr lang="en-US" sz="2000" b="1" dirty="0">
                <a:solidFill>
                  <a:srgbClr val="374151"/>
                </a:solidFill>
                <a:latin typeface="Söhne"/>
              </a:rPr>
              <a:t>Proposed PTORA Algorithm</a:t>
            </a:r>
          </a:p>
          <a:p>
            <a:pPr marL="457200" lvl="2" algn="just">
              <a:buClr>
                <a:schemeClr val="tx1"/>
              </a:buClr>
              <a:buSzPct val="80000"/>
            </a:pPr>
            <a:r>
              <a:rPr lang="en-US" dirty="0"/>
              <a:t>	→ </a:t>
            </a:r>
            <a:r>
              <a:rPr lang="en-US" sz="2000" dirty="0">
                <a:solidFill>
                  <a:srgbClr val="374151"/>
                </a:solidFill>
                <a:latin typeface="Söhne"/>
              </a:rPr>
              <a:t>Execution window partitioning, DDQN-based offloading, and JSATC resource allocation</a:t>
            </a:r>
          </a:p>
          <a:p>
            <a:pPr lvl="1" indent="-457200" algn="just">
              <a:buClr>
                <a:schemeClr val="tx1"/>
              </a:buClr>
              <a:buSzPct val="80000"/>
              <a:buFont typeface="Wingdings" panose="05000000000000000000" pitchFamily="2" charset="2"/>
              <a:buChar char="§"/>
            </a:pPr>
            <a:r>
              <a:rPr lang="en-US" sz="2000" b="1" dirty="0">
                <a:solidFill>
                  <a:srgbClr val="374151"/>
                </a:solidFill>
                <a:latin typeface="Söhne"/>
              </a:rPr>
              <a:t>Numerical Results and Performance</a:t>
            </a:r>
          </a:p>
          <a:p>
            <a:pPr marL="457200" lvl="2" algn="just">
              <a:buClr>
                <a:schemeClr val="tx1"/>
              </a:buClr>
              <a:buSzPct val="80000"/>
            </a:pPr>
            <a:r>
              <a:rPr lang="en-US" sz="2000" dirty="0">
                <a:solidFill>
                  <a:srgbClr val="374151"/>
                </a:solidFill>
                <a:latin typeface="Söhne"/>
              </a:rPr>
              <a:t>	</a:t>
            </a:r>
            <a:r>
              <a:rPr lang="en-US" dirty="0"/>
              <a:t>→ </a:t>
            </a:r>
            <a:r>
              <a:rPr lang="en-US" sz="2000" dirty="0">
                <a:solidFill>
                  <a:srgbClr val="374151"/>
                </a:solidFill>
                <a:latin typeface="Söhne"/>
              </a:rPr>
              <a:t>Simulation setup, convergence analysis, and comparison with baseline methods</a:t>
            </a:r>
          </a:p>
          <a:p>
            <a:pPr lvl="1" indent="-457200" algn="just">
              <a:buClr>
                <a:schemeClr val="tx1"/>
              </a:buClr>
              <a:buSzPct val="80000"/>
              <a:buFont typeface="Wingdings" panose="05000000000000000000" pitchFamily="2" charset="2"/>
              <a:buChar char="§"/>
            </a:pPr>
            <a:r>
              <a:rPr lang="en-US" sz="2000" b="1" dirty="0">
                <a:solidFill>
                  <a:srgbClr val="374151"/>
                </a:solidFill>
                <a:latin typeface="Söhne"/>
              </a:rPr>
              <a:t>Conclusion and Future Work</a:t>
            </a:r>
          </a:p>
          <a:p>
            <a:pPr marL="457200" lvl="2" algn="just">
              <a:buClr>
                <a:schemeClr val="tx1"/>
              </a:buClr>
              <a:buSzPct val="80000"/>
            </a:pPr>
            <a:r>
              <a:rPr lang="en-US" dirty="0"/>
              <a:t>	→ </a:t>
            </a:r>
            <a:r>
              <a:rPr lang="en-US" sz="2000" dirty="0">
                <a:solidFill>
                  <a:srgbClr val="374151"/>
                </a:solidFill>
                <a:latin typeface="Söhne"/>
              </a:rPr>
              <a:t>Key contributions, research directions, and deployment validation</a:t>
            </a:r>
          </a:p>
        </p:txBody>
      </p:sp>
      <p:pic>
        <p:nvPicPr>
          <p:cNvPr id="9" name="Picture 8" descr="Logo&#10;&#10;Description automatically generated">
            <a:extLst>
              <a:ext uri="{FF2B5EF4-FFF2-40B4-BE49-F238E27FC236}">
                <a16:creationId xmlns:a16="http://schemas.microsoft.com/office/drawing/2014/main" id="{874DD5B3-C0B8-4797-8786-A3F8F23BD7D2}"/>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70972"/>
          </a:xfrm>
          <a:prstGeom prst="rect">
            <a:avLst/>
          </a:prstGeom>
        </p:spPr>
      </p:pic>
      <p:sp>
        <p:nvSpPr>
          <p:cNvPr id="5" name="Decagon 4">
            <a:extLst>
              <a:ext uri="{FF2B5EF4-FFF2-40B4-BE49-F238E27FC236}">
                <a16:creationId xmlns:a16="http://schemas.microsoft.com/office/drawing/2014/main" id="{34C5A677-8CB1-3778-6EFB-4DC041040C5E}"/>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2</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3695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3F54049-5DC2-40F1-9351-0A66984A74B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9AEBC0AC-F6CF-44A3-9366-36E52F140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83853BC0-C275-4A94-960F-EF164693EFE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0AB2F05-2712-497E-BA80-CB5D5CBE9E6F}"/>
              </a:ext>
            </a:extLst>
          </p:cNvPr>
          <p:cNvSpPr txBox="1"/>
          <p:nvPr/>
        </p:nvSpPr>
        <p:spPr>
          <a:xfrm>
            <a:off x="550276" y="338293"/>
            <a:ext cx="2571923" cy="584775"/>
          </a:xfrm>
          <a:prstGeom prst="rect">
            <a:avLst/>
          </a:prstGeom>
          <a:noFill/>
        </p:spPr>
        <p:txBody>
          <a:bodyPr wrap="none" rtlCol="0">
            <a:spAutoFit/>
          </a:bodyPr>
          <a:lstStyle/>
          <a:p>
            <a:r>
              <a:rPr lang="en-US" sz="3200" b="1" dirty="0">
                <a:solidFill>
                  <a:srgbClr val="0070C0"/>
                </a:solidFill>
                <a:latin typeface="Söhne"/>
              </a:rPr>
              <a:t>The Challenge</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E0BD1DFE-0E59-4AD2-A7C8-3A3A6D48A1E1}"/>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2" name="Decagon 1">
            <a:extLst>
              <a:ext uri="{FF2B5EF4-FFF2-40B4-BE49-F238E27FC236}">
                <a16:creationId xmlns:a16="http://schemas.microsoft.com/office/drawing/2014/main" id="{4D00F057-CB74-E38E-B54A-CF8286A0090A}"/>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3</a:t>
            </a:r>
            <a:endParaRPr lang="en-US" b="1" dirty="0">
              <a:latin typeface="Söhne"/>
              <a:cs typeface="Times New Roman" panose="02020603050405020304" pitchFamily="18" charset="0"/>
            </a:endParaRPr>
          </a:p>
        </p:txBody>
      </p:sp>
      <p:sp>
        <p:nvSpPr>
          <p:cNvPr id="36" name="Rectangle: Rounded Corners 35">
            <a:extLst>
              <a:ext uri="{FF2B5EF4-FFF2-40B4-BE49-F238E27FC236}">
                <a16:creationId xmlns:a16="http://schemas.microsoft.com/office/drawing/2014/main" id="{73335C3B-180C-9DFF-8073-C714BA46A4E0}"/>
              </a:ext>
            </a:extLst>
          </p:cNvPr>
          <p:cNvSpPr/>
          <p:nvPr/>
        </p:nvSpPr>
        <p:spPr>
          <a:xfrm>
            <a:off x="435005" y="1594344"/>
            <a:ext cx="5040000" cy="1520575"/>
          </a:xfrm>
          <a:prstGeom prst="roundRect">
            <a:avLst>
              <a:gd name="adj" fmla="val 4865"/>
            </a:avLst>
          </a:prstGeom>
          <a:solidFill>
            <a:srgbClr val="E7FAFE"/>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750"/>
              </a:spcAft>
              <a:buNone/>
            </a:pPr>
            <a:r>
              <a:rPr lang="en-US" b="1" i="0" dirty="0">
                <a:solidFill>
                  <a:srgbClr val="0A2342"/>
                </a:solidFill>
                <a:effectLst/>
                <a:latin typeface="Segoe UI" panose="020B0502040204020203" pitchFamily="34" charset="0"/>
              </a:rPr>
              <a:t>1. Terminal Mobility</a:t>
            </a:r>
          </a:p>
          <a:p>
            <a:pPr algn="just">
              <a:buNone/>
            </a:pPr>
            <a:r>
              <a:rPr lang="en-US" sz="1600" b="1" i="0" dirty="0">
                <a:solidFill>
                  <a:srgbClr val="6B7280"/>
                </a:solidFill>
                <a:effectLst/>
                <a:latin typeface="Segoe UI" panose="020B0502040204020203" pitchFamily="34" charset="0"/>
              </a:rPr>
              <a:t>Mobile devices constantly move, causing time-varying channel conditions that affect communication quality and reliability.</a:t>
            </a:r>
          </a:p>
        </p:txBody>
      </p:sp>
      <p:sp>
        <p:nvSpPr>
          <p:cNvPr id="5" name="Rectangle: Rounded Corners 4">
            <a:extLst>
              <a:ext uri="{FF2B5EF4-FFF2-40B4-BE49-F238E27FC236}">
                <a16:creationId xmlns:a16="http://schemas.microsoft.com/office/drawing/2014/main" id="{F360A8BF-34C1-2660-01B4-C5F35EB462EB}"/>
              </a:ext>
            </a:extLst>
          </p:cNvPr>
          <p:cNvSpPr/>
          <p:nvPr/>
        </p:nvSpPr>
        <p:spPr>
          <a:xfrm>
            <a:off x="6705157" y="1615313"/>
            <a:ext cx="5040000" cy="1520575"/>
          </a:xfrm>
          <a:prstGeom prst="roundRect">
            <a:avLst>
              <a:gd name="adj" fmla="val 7841"/>
            </a:avLst>
          </a:prstGeom>
          <a:solidFill>
            <a:srgbClr val="E7FAFE"/>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750"/>
              </a:spcAft>
              <a:buNone/>
            </a:pPr>
            <a:r>
              <a:rPr lang="en-US" b="1" i="0" dirty="0">
                <a:solidFill>
                  <a:srgbClr val="0A2342"/>
                </a:solidFill>
                <a:effectLst/>
                <a:latin typeface="Segoe UI" panose="020B0502040204020203" pitchFamily="34" charset="0"/>
              </a:rPr>
              <a:t>2. Real-time Requirements</a:t>
            </a:r>
          </a:p>
          <a:p>
            <a:pPr algn="just">
              <a:buNone/>
            </a:pPr>
            <a:r>
              <a:rPr lang="en-US" sz="1600" b="1" i="0" dirty="0">
                <a:solidFill>
                  <a:srgbClr val="6B7280"/>
                </a:solidFill>
                <a:effectLst/>
                <a:latin typeface="Segoe UI" panose="020B0502040204020203" pitchFamily="34" charset="0"/>
              </a:rPr>
              <a:t>Applications demand rapid decision-making without prior knowledge of network topology or dynamics.</a:t>
            </a:r>
          </a:p>
        </p:txBody>
      </p:sp>
      <p:sp>
        <p:nvSpPr>
          <p:cNvPr id="16" name="Rectangle: Rounded Corners 15">
            <a:extLst>
              <a:ext uri="{FF2B5EF4-FFF2-40B4-BE49-F238E27FC236}">
                <a16:creationId xmlns:a16="http://schemas.microsoft.com/office/drawing/2014/main" id="{F5A2D77F-E4CA-0527-F3E2-AF1EF4EFD99E}"/>
              </a:ext>
            </a:extLst>
          </p:cNvPr>
          <p:cNvSpPr/>
          <p:nvPr/>
        </p:nvSpPr>
        <p:spPr>
          <a:xfrm>
            <a:off x="435005" y="3250991"/>
            <a:ext cx="5040000" cy="1520575"/>
          </a:xfrm>
          <a:prstGeom prst="roundRect">
            <a:avLst>
              <a:gd name="adj" fmla="val 10973"/>
            </a:avLst>
          </a:prstGeom>
          <a:solidFill>
            <a:srgbClr val="E7FAFE"/>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750"/>
              </a:spcAft>
              <a:buNone/>
            </a:pPr>
            <a:r>
              <a:rPr lang="en-US" b="1" i="0" dirty="0">
                <a:solidFill>
                  <a:srgbClr val="0A2342"/>
                </a:solidFill>
                <a:effectLst/>
                <a:latin typeface="Segoe UI" panose="020B0502040204020203" pitchFamily="34" charset="0"/>
              </a:rPr>
              <a:t>3. Inter-user Dependencies</a:t>
            </a:r>
          </a:p>
          <a:p>
            <a:pPr algn="just">
              <a:buNone/>
            </a:pPr>
            <a:r>
              <a:rPr lang="en-US" sz="1600" b="1" i="0" dirty="0">
                <a:solidFill>
                  <a:srgbClr val="6B7280"/>
                </a:solidFill>
                <a:effectLst/>
                <a:latin typeface="Segoe UI" panose="020B0502040204020203" pitchFamily="34" charset="0"/>
              </a:rPr>
              <a:t>Complex tasks span multiple users with dependencies (autonomous driving, smart home) that must be preserved.</a:t>
            </a:r>
          </a:p>
        </p:txBody>
      </p:sp>
      <p:sp>
        <p:nvSpPr>
          <p:cNvPr id="18" name="Rectangle: Rounded Corners 17">
            <a:extLst>
              <a:ext uri="{FF2B5EF4-FFF2-40B4-BE49-F238E27FC236}">
                <a16:creationId xmlns:a16="http://schemas.microsoft.com/office/drawing/2014/main" id="{4B9F698B-9728-7055-7951-CBC89BE5E6E9}"/>
              </a:ext>
            </a:extLst>
          </p:cNvPr>
          <p:cNvSpPr/>
          <p:nvPr/>
        </p:nvSpPr>
        <p:spPr>
          <a:xfrm>
            <a:off x="6705157" y="3271960"/>
            <a:ext cx="5040000" cy="1520575"/>
          </a:xfrm>
          <a:prstGeom prst="roundRect">
            <a:avLst>
              <a:gd name="adj" fmla="val 7841"/>
            </a:avLst>
          </a:prstGeom>
          <a:solidFill>
            <a:srgbClr val="E7FAFE"/>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750"/>
              </a:spcAft>
              <a:buNone/>
            </a:pPr>
            <a:r>
              <a:rPr lang="en-US" b="1" i="0" dirty="0">
                <a:solidFill>
                  <a:srgbClr val="0A2342"/>
                </a:solidFill>
                <a:effectLst/>
                <a:latin typeface="Segoe UI" panose="020B0502040204020203" pitchFamily="34" charset="0"/>
              </a:rPr>
              <a:t>4. Delay-Energy Trade-off</a:t>
            </a:r>
          </a:p>
          <a:p>
            <a:pPr algn="just">
              <a:buNone/>
            </a:pPr>
            <a:r>
              <a:rPr lang="en-US" sz="1600" b="1" i="0" dirty="0">
                <a:solidFill>
                  <a:srgbClr val="6B7280"/>
                </a:solidFill>
                <a:effectLst/>
                <a:latin typeface="Segoe UI" panose="020B0502040204020203" pitchFamily="34" charset="0"/>
              </a:rPr>
              <a:t>Must jointly optimize task completion time and terminal energy consumption in resource-constrained environments.</a:t>
            </a:r>
          </a:p>
        </p:txBody>
      </p:sp>
      <p:sp>
        <p:nvSpPr>
          <p:cNvPr id="26" name="Rectangle: Rounded Corners 25">
            <a:extLst>
              <a:ext uri="{FF2B5EF4-FFF2-40B4-BE49-F238E27FC236}">
                <a16:creationId xmlns:a16="http://schemas.microsoft.com/office/drawing/2014/main" id="{3289F5F7-DE12-ECCD-9D8B-D1DB9C87C700}"/>
              </a:ext>
            </a:extLst>
          </p:cNvPr>
          <p:cNvSpPr/>
          <p:nvPr/>
        </p:nvSpPr>
        <p:spPr>
          <a:xfrm>
            <a:off x="435005" y="1105822"/>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Why Dynamic MEC Networks Are Complex</a:t>
            </a:r>
            <a:endParaRPr lang="en-GB" b="1" dirty="0">
              <a:latin typeface="Söhne"/>
            </a:endParaRPr>
          </a:p>
        </p:txBody>
      </p:sp>
      <p:sp>
        <p:nvSpPr>
          <p:cNvPr id="27" name="Rectangle: Rounded Corners 26">
            <a:extLst>
              <a:ext uri="{FF2B5EF4-FFF2-40B4-BE49-F238E27FC236}">
                <a16:creationId xmlns:a16="http://schemas.microsoft.com/office/drawing/2014/main" id="{E08335E1-0B88-9E9D-1F8B-FC5371865CEF}"/>
              </a:ext>
            </a:extLst>
          </p:cNvPr>
          <p:cNvSpPr/>
          <p:nvPr/>
        </p:nvSpPr>
        <p:spPr>
          <a:xfrm>
            <a:off x="435006" y="5161144"/>
            <a:ext cx="11310151" cy="953906"/>
          </a:xfrm>
          <a:prstGeom prst="roundRect">
            <a:avLst>
              <a:gd name="adj" fmla="val 7285"/>
            </a:avLst>
          </a:prstGeom>
          <a:solidFill>
            <a:srgbClr val="85EE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900"/>
              </a:spcAft>
              <a:buNone/>
            </a:pPr>
            <a:r>
              <a:rPr lang="en-US" sz="1600" b="1" i="0" dirty="0">
                <a:solidFill>
                  <a:srgbClr val="0A2342"/>
                </a:solidFill>
                <a:effectLst/>
                <a:latin typeface="Segoe UI" panose="020B0502040204020203" pitchFamily="34" charset="0"/>
              </a:rPr>
              <a:t>💡     Traditional optimization methods struggle with dynamic environments, require repeated solving</a:t>
            </a:r>
            <a:r>
              <a:rPr lang="en-US" sz="1600" b="1" dirty="0">
                <a:solidFill>
                  <a:srgbClr val="0A2342"/>
                </a:solidFill>
                <a:latin typeface="Segoe UI" panose="020B0502040204020203" pitchFamily="34" charset="0"/>
              </a:rPr>
              <a:t>, and cannot handle long-term performance</a:t>
            </a:r>
            <a:endParaRPr lang="en-US" sz="1600" b="0" i="0" dirty="0">
              <a:solidFill>
                <a:srgbClr val="000000"/>
              </a:solidFill>
              <a:effectLst/>
              <a:latin typeface="Söhne"/>
            </a:endParaRPr>
          </a:p>
        </p:txBody>
      </p:sp>
    </p:spTree>
    <p:extLst>
      <p:ext uri="{BB962C8B-B14F-4D97-AF65-F5344CB8AC3E}">
        <p14:creationId xmlns:p14="http://schemas.microsoft.com/office/powerpoint/2010/main" val="57173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1000"/>
                                        <p:tgtEl>
                                          <p:spTgt spid="36"/>
                                        </p:tgtEl>
                                      </p:cBhvr>
                                    </p:animEffect>
                                    <p:anim calcmode="lin" valueType="num">
                                      <p:cBhvr>
                                        <p:cTn id="8" dur="1000" fill="hold"/>
                                        <p:tgtEl>
                                          <p:spTgt spid="36"/>
                                        </p:tgtEl>
                                        <p:attrNameLst>
                                          <p:attrName>ppt_x</p:attrName>
                                        </p:attrNameLst>
                                      </p:cBhvr>
                                      <p:tavLst>
                                        <p:tav tm="0">
                                          <p:val>
                                            <p:strVal val="#ppt_x"/>
                                          </p:val>
                                        </p:tav>
                                        <p:tav tm="100000">
                                          <p:val>
                                            <p:strVal val="#ppt_x"/>
                                          </p:val>
                                        </p:tav>
                                      </p:tavLst>
                                    </p:anim>
                                    <p:anim calcmode="lin" valueType="num">
                                      <p:cBhvr>
                                        <p:cTn id="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1000"/>
                                        <p:tgtEl>
                                          <p:spTgt spid="16"/>
                                        </p:tgtEl>
                                      </p:cBhvr>
                                    </p:animEffect>
                                    <p:anim calcmode="lin" valueType="num">
                                      <p:cBhvr>
                                        <p:cTn id="22" dur="1000" fill="hold"/>
                                        <p:tgtEl>
                                          <p:spTgt spid="16"/>
                                        </p:tgtEl>
                                        <p:attrNameLst>
                                          <p:attrName>ppt_x</p:attrName>
                                        </p:attrNameLst>
                                      </p:cBhvr>
                                      <p:tavLst>
                                        <p:tav tm="0">
                                          <p:val>
                                            <p:strVal val="#ppt_x"/>
                                          </p:val>
                                        </p:tav>
                                        <p:tav tm="100000">
                                          <p:val>
                                            <p:strVal val="#ppt_x"/>
                                          </p:val>
                                        </p:tav>
                                      </p:tavLst>
                                    </p:anim>
                                    <p:anim calcmode="lin" valueType="num">
                                      <p:cBhvr>
                                        <p:cTn id="2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1000"/>
                                        <p:tgtEl>
                                          <p:spTgt spid="27"/>
                                        </p:tgtEl>
                                      </p:cBhvr>
                                    </p:animEffect>
                                    <p:anim calcmode="lin" valueType="num">
                                      <p:cBhvr>
                                        <p:cTn id="36" dur="1000" fill="hold"/>
                                        <p:tgtEl>
                                          <p:spTgt spid="27"/>
                                        </p:tgtEl>
                                        <p:attrNameLst>
                                          <p:attrName>ppt_x</p:attrName>
                                        </p:attrNameLst>
                                      </p:cBhvr>
                                      <p:tavLst>
                                        <p:tav tm="0">
                                          <p:val>
                                            <p:strVal val="#ppt_x"/>
                                          </p:val>
                                        </p:tav>
                                        <p:tav tm="100000">
                                          <p:val>
                                            <p:strVal val="#ppt_x"/>
                                          </p:val>
                                        </p:tav>
                                      </p:tavLst>
                                    </p:anim>
                                    <p:anim calcmode="lin" valueType="num">
                                      <p:cBhvr>
                                        <p:cTn id="37"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5" grpId="0" animBg="1"/>
      <p:bldP spid="16" grpId="0" animBg="1"/>
      <p:bldP spid="18"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84D61-0B32-C2DD-E257-F7365155F49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57EC8B73-355C-16D7-F2CD-D7C1066AA7E2}"/>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12107F8A-FE92-2A54-C7AD-728285E482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5A3EFAA4-3786-3231-248B-DDFFD4E24395}"/>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C0C2F20-AF66-7156-9131-5E45ECF9B237}"/>
              </a:ext>
            </a:extLst>
          </p:cNvPr>
          <p:cNvSpPr txBox="1"/>
          <p:nvPr/>
        </p:nvSpPr>
        <p:spPr>
          <a:xfrm>
            <a:off x="550276" y="338293"/>
            <a:ext cx="4281941" cy="584775"/>
          </a:xfrm>
          <a:prstGeom prst="rect">
            <a:avLst/>
          </a:prstGeom>
          <a:noFill/>
        </p:spPr>
        <p:txBody>
          <a:bodyPr wrap="none" rtlCol="0">
            <a:spAutoFit/>
          </a:bodyPr>
          <a:lstStyle/>
          <a:p>
            <a:r>
              <a:rPr lang="en-US" sz="3200" b="1" dirty="0">
                <a:solidFill>
                  <a:srgbClr val="0070C0"/>
                </a:solidFill>
                <a:latin typeface="Söhne"/>
              </a:rPr>
              <a:t>Real World Applications</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DB84B124-955F-7DAF-8E54-5BF2B684BEE2}"/>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4EAACCAE-DEC4-1692-9EDD-02BE838AB3BF}"/>
              </a:ext>
            </a:extLst>
          </p:cNvPr>
          <p:cNvSpPr/>
          <p:nvPr/>
        </p:nvSpPr>
        <p:spPr>
          <a:xfrm>
            <a:off x="435004" y="1059071"/>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Why this research makes an impact</a:t>
            </a:r>
            <a:endParaRPr lang="en-GB" b="1" dirty="0">
              <a:latin typeface="Söhne"/>
            </a:endParaRPr>
          </a:p>
        </p:txBody>
      </p:sp>
      <p:sp>
        <p:nvSpPr>
          <p:cNvPr id="2" name="Decagon 1">
            <a:extLst>
              <a:ext uri="{FF2B5EF4-FFF2-40B4-BE49-F238E27FC236}">
                <a16:creationId xmlns:a16="http://schemas.microsoft.com/office/drawing/2014/main" id="{A5B54F5F-B330-E25A-33F9-6C5839E720C0}"/>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4</a:t>
            </a:r>
            <a:endParaRPr lang="en-US" b="1" dirty="0">
              <a:latin typeface="Söhne"/>
              <a:cs typeface="Times New Roman" panose="02020603050405020304" pitchFamily="18" charset="0"/>
            </a:endParaRPr>
          </a:p>
        </p:txBody>
      </p:sp>
      <p:sp>
        <p:nvSpPr>
          <p:cNvPr id="3" name="Rectangle: Rounded Corners 2">
            <a:extLst>
              <a:ext uri="{FF2B5EF4-FFF2-40B4-BE49-F238E27FC236}">
                <a16:creationId xmlns:a16="http://schemas.microsoft.com/office/drawing/2014/main" id="{2EC5BB5C-83CC-DCA7-7253-5C1E676BAAF7}"/>
              </a:ext>
            </a:extLst>
          </p:cNvPr>
          <p:cNvSpPr/>
          <p:nvPr/>
        </p:nvSpPr>
        <p:spPr>
          <a:xfrm>
            <a:off x="435004" y="1681286"/>
            <a:ext cx="3600000" cy="2174440"/>
          </a:xfrm>
          <a:prstGeom prst="roundRect">
            <a:avLst>
              <a:gd name="adj" fmla="val 4865"/>
            </a:avLst>
          </a:prstGeom>
          <a:solidFill>
            <a:srgbClr val="14315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1125"/>
              </a:spcAft>
              <a:buNone/>
            </a:pPr>
            <a:r>
              <a:rPr lang="en-US" sz="2800" b="0" i="0" dirty="0">
                <a:solidFill>
                  <a:srgbClr val="FFFFFF"/>
                </a:solidFill>
                <a:effectLst/>
                <a:latin typeface="Segoe UI" panose="020B0502040204020203" pitchFamily="34" charset="0"/>
              </a:rPr>
              <a:t>🚗</a:t>
            </a:r>
          </a:p>
          <a:p>
            <a:pPr algn="ctr">
              <a:spcAft>
                <a:spcPts val="750"/>
              </a:spcAft>
              <a:buNone/>
            </a:pPr>
            <a:r>
              <a:rPr lang="en-US" b="1" i="0" dirty="0">
                <a:solidFill>
                  <a:srgbClr val="FFFFFF"/>
                </a:solidFill>
                <a:effectLst/>
                <a:latin typeface="Segoe UI" panose="020B0502040204020203" pitchFamily="34" charset="0"/>
              </a:rPr>
              <a:t>Intelligent Transportation</a:t>
            </a:r>
          </a:p>
          <a:p>
            <a:pPr algn="ctr">
              <a:buNone/>
            </a:pPr>
            <a:r>
              <a:rPr lang="en-US" sz="1600" dirty="0"/>
              <a:t>Dynamic high-precision map development requiring distributed computation across multiple connected vehicles.</a:t>
            </a:r>
            <a:endParaRPr lang="en-US" sz="1600" b="0" i="0" dirty="0">
              <a:solidFill>
                <a:srgbClr val="FFFFFF"/>
              </a:solidFill>
              <a:effectLst/>
              <a:latin typeface="Segoe UI" panose="020B0502040204020203" pitchFamily="34" charset="0"/>
            </a:endParaRPr>
          </a:p>
        </p:txBody>
      </p:sp>
      <p:sp>
        <p:nvSpPr>
          <p:cNvPr id="15" name="Rectangle: Rounded Corners 14">
            <a:extLst>
              <a:ext uri="{FF2B5EF4-FFF2-40B4-BE49-F238E27FC236}">
                <a16:creationId xmlns:a16="http://schemas.microsoft.com/office/drawing/2014/main" id="{564CC1E5-7965-1175-D135-05308BAA806B}"/>
              </a:ext>
            </a:extLst>
          </p:cNvPr>
          <p:cNvSpPr/>
          <p:nvPr/>
        </p:nvSpPr>
        <p:spPr>
          <a:xfrm>
            <a:off x="4290081" y="1681286"/>
            <a:ext cx="3600000" cy="2174440"/>
          </a:xfrm>
          <a:prstGeom prst="roundRect">
            <a:avLst>
              <a:gd name="adj" fmla="val 4865"/>
            </a:avLst>
          </a:prstGeom>
          <a:solidFill>
            <a:srgbClr val="14315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1125"/>
              </a:spcAft>
              <a:buNone/>
            </a:pPr>
            <a:r>
              <a:rPr lang="en-US" sz="2800" b="0" i="0" dirty="0">
                <a:solidFill>
                  <a:srgbClr val="FFFFFF"/>
                </a:solidFill>
                <a:effectLst/>
                <a:latin typeface="Segoe UI" panose="020B0502040204020203" pitchFamily="34" charset="0"/>
              </a:rPr>
              <a:t>👁️</a:t>
            </a:r>
          </a:p>
          <a:p>
            <a:pPr algn="ctr">
              <a:spcAft>
                <a:spcPts val="750"/>
              </a:spcAft>
              <a:buNone/>
            </a:pPr>
            <a:r>
              <a:rPr lang="en-US" b="1" i="0" dirty="0">
                <a:solidFill>
                  <a:srgbClr val="FFFFFF"/>
                </a:solidFill>
                <a:effectLst/>
                <a:latin typeface="Segoe UI" panose="020B0502040204020203" pitchFamily="34" charset="0"/>
              </a:rPr>
              <a:t>Autonomous Driving</a:t>
            </a:r>
          </a:p>
          <a:p>
            <a:pPr algn="ctr">
              <a:spcAft>
                <a:spcPts val="750"/>
              </a:spcAft>
              <a:buNone/>
            </a:pPr>
            <a:r>
              <a:rPr lang="en-US" sz="1600" dirty="0"/>
              <a:t>See-Through perception sharing between vehicles where tasks depend on each other for enhanced safety.</a:t>
            </a:r>
            <a:endParaRPr lang="en-US" sz="1600" b="0" i="0" dirty="0">
              <a:solidFill>
                <a:srgbClr val="FFFFFF"/>
              </a:solidFill>
              <a:effectLst/>
              <a:latin typeface="Segoe UI" panose="020B0502040204020203" pitchFamily="34" charset="0"/>
            </a:endParaRPr>
          </a:p>
        </p:txBody>
      </p:sp>
      <p:sp>
        <p:nvSpPr>
          <p:cNvPr id="17" name="Rectangle: Rounded Corners 16">
            <a:extLst>
              <a:ext uri="{FF2B5EF4-FFF2-40B4-BE49-F238E27FC236}">
                <a16:creationId xmlns:a16="http://schemas.microsoft.com/office/drawing/2014/main" id="{331E7188-026D-9B69-F66E-597F84207B0C}"/>
              </a:ext>
            </a:extLst>
          </p:cNvPr>
          <p:cNvSpPr/>
          <p:nvPr/>
        </p:nvSpPr>
        <p:spPr>
          <a:xfrm>
            <a:off x="8145157" y="1681286"/>
            <a:ext cx="3600000" cy="2174440"/>
          </a:xfrm>
          <a:prstGeom prst="roundRect">
            <a:avLst>
              <a:gd name="adj" fmla="val 4865"/>
            </a:avLst>
          </a:prstGeom>
          <a:solidFill>
            <a:srgbClr val="14315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1125"/>
              </a:spcAft>
              <a:buNone/>
            </a:pPr>
            <a:r>
              <a:rPr lang="en-US" sz="2800" b="0" i="0" dirty="0">
                <a:solidFill>
                  <a:srgbClr val="FFFFFF"/>
                </a:solidFill>
                <a:effectLst/>
                <a:latin typeface="Segoe UI" panose="020B0502040204020203" pitchFamily="34" charset="0"/>
              </a:rPr>
              <a:t>🏠</a:t>
            </a:r>
          </a:p>
          <a:p>
            <a:pPr algn="ctr">
              <a:spcAft>
                <a:spcPts val="750"/>
              </a:spcAft>
              <a:buNone/>
            </a:pPr>
            <a:r>
              <a:rPr lang="en-US" b="1" i="0" dirty="0">
                <a:solidFill>
                  <a:srgbClr val="FFFFFF"/>
                </a:solidFill>
                <a:effectLst/>
                <a:latin typeface="Segoe UI" panose="020B0502040204020203" pitchFamily="34" charset="0"/>
              </a:rPr>
              <a:t>Smart Home/City</a:t>
            </a:r>
          </a:p>
          <a:p>
            <a:pPr algn="ctr">
              <a:buNone/>
            </a:pPr>
            <a:r>
              <a:rPr lang="en-US" sz="1600" dirty="0"/>
              <a:t>Distributed computing across IoT devices with serialized and parallel task dependencies.</a:t>
            </a:r>
            <a:endParaRPr lang="en-US" sz="1600" b="0" i="0" dirty="0">
              <a:solidFill>
                <a:srgbClr val="FFFFFF"/>
              </a:solidFill>
              <a:effectLst/>
              <a:latin typeface="Segoe UI" panose="020B0502040204020203" pitchFamily="34" charset="0"/>
            </a:endParaRPr>
          </a:p>
        </p:txBody>
      </p:sp>
      <p:sp>
        <p:nvSpPr>
          <p:cNvPr id="18" name="Rectangle 17">
            <a:extLst>
              <a:ext uri="{FF2B5EF4-FFF2-40B4-BE49-F238E27FC236}">
                <a16:creationId xmlns:a16="http://schemas.microsoft.com/office/drawing/2014/main" id="{D8C15A38-0FC3-BEB5-EEC5-320E51113CFE}"/>
              </a:ext>
            </a:extLst>
          </p:cNvPr>
          <p:cNvSpPr/>
          <p:nvPr/>
        </p:nvSpPr>
        <p:spPr>
          <a:xfrm>
            <a:off x="444529" y="4020195"/>
            <a:ext cx="11310151" cy="2167173"/>
          </a:xfrm>
          <a:prstGeom prst="rect">
            <a:avLst/>
          </a:prstGeom>
          <a:solidFill>
            <a:srgbClr val="F8F9F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endParaRPr lang="en-US" sz="1600" b="0" i="0" dirty="0">
              <a:solidFill>
                <a:srgbClr val="000000"/>
              </a:solidFill>
              <a:effectLst/>
              <a:latin typeface="Söhne"/>
            </a:endParaRPr>
          </a:p>
        </p:txBody>
      </p:sp>
      <p:sp>
        <p:nvSpPr>
          <p:cNvPr id="19" name="Rectangle: Rounded Corners 18">
            <a:extLst>
              <a:ext uri="{FF2B5EF4-FFF2-40B4-BE49-F238E27FC236}">
                <a16:creationId xmlns:a16="http://schemas.microsoft.com/office/drawing/2014/main" id="{78174034-7943-3117-071A-946C038C3717}"/>
              </a:ext>
            </a:extLst>
          </p:cNvPr>
          <p:cNvSpPr/>
          <p:nvPr/>
        </p:nvSpPr>
        <p:spPr>
          <a:xfrm>
            <a:off x="855077" y="4881760"/>
            <a:ext cx="4539679"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sz="1600" b="0" i="0" dirty="0">
                <a:solidFill>
                  <a:srgbClr val="000000"/>
                </a:solidFill>
                <a:effectLst/>
                <a:latin typeface="Segoe UI" panose="020B0502040204020203" pitchFamily="34" charset="0"/>
              </a:rPr>
              <a:t>Tasks distributed across multiple devices</a:t>
            </a:r>
            <a:endParaRPr lang="en-US" sz="1600" dirty="0">
              <a:solidFill>
                <a:schemeClr val="tx1"/>
              </a:solidFill>
              <a:latin typeface="Söhne"/>
            </a:endParaRPr>
          </a:p>
        </p:txBody>
      </p:sp>
      <p:sp>
        <p:nvSpPr>
          <p:cNvPr id="20" name="Rectangle: Rounded Corners 19">
            <a:extLst>
              <a:ext uri="{FF2B5EF4-FFF2-40B4-BE49-F238E27FC236}">
                <a16:creationId xmlns:a16="http://schemas.microsoft.com/office/drawing/2014/main" id="{749DC9E5-7388-3907-6AC6-BCDC680B075A}"/>
              </a:ext>
            </a:extLst>
          </p:cNvPr>
          <p:cNvSpPr/>
          <p:nvPr/>
        </p:nvSpPr>
        <p:spPr>
          <a:xfrm>
            <a:off x="855076" y="5551735"/>
            <a:ext cx="4539680"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sz="1600" b="0" i="0" dirty="0">
                <a:solidFill>
                  <a:srgbClr val="000000"/>
                </a:solidFill>
                <a:effectLst/>
                <a:latin typeface="Segoe UI" panose="020B0502040204020203" pitchFamily="34" charset="0"/>
              </a:rPr>
              <a:t>Limited battery life on terminals</a:t>
            </a:r>
            <a:endParaRPr lang="en-US" sz="1600" dirty="0">
              <a:solidFill>
                <a:schemeClr val="tx1"/>
              </a:solidFill>
              <a:latin typeface="Söhne"/>
            </a:endParaRPr>
          </a:p>
        </p:txBody>
      </p:sp>
      <p:sp>
        <p:nvSpPr>
          <p:cNvPr id="22" name="TextBox 21">
            <a:extLst>
              <a:ext uri="{FF2B5EF4-FFF2-40B4-BE49-F238E27FC236}">
                <a16:creationId xmlns:a16="http://schemas.microsoft.com/office/drawing/2014/main" id="{39D51BBD-42FA-A709-2A5E-B3E7FBD77C5A}"/>
              </a:ext>
            </a:extLst>
          </p:cNvPr>
          <p:cNvSpPr txBox="1"/>
          <p:nvPr/>
        </p:nvSpPr>
        <p:spPr>
          <a:xfrm>
            <a:off x="3553766" y="4238412"/>
            <a:ext cx="5339781" cy="646331"/>
          </a:xfrm>
          <a:prstGeom prst="rect">
            <a:avLst/>
          </a:prstGeom>
          <a:noFill/>
        </p:spPr>
        <p:txBody>
          <a:bodyPr wrap="square">
            <a:spAutoFit/>
          </a:bodyPr>
          <a:lstStyle/>
          <a:p>
            <a:pPr algn="l">
              <a:spcAft>
                <a:spcPts val="1125"/>
              </a:spcAft>
              <a:buNone/>
            </a:pPr>
            <a:r>
              <a:rPr lang="en-US" b="1" i="0" dirty="0">
                <a:solidFill>
                  <a:srgbClr val="0A2342"/>
                </a:solidFill>
                <a:effectLst/>
                <a:latin typeface="Segoe UI" panose="020B0502040204020203" pitchFamily="34" charset="0"/>
              </a:rPr>
              <a:t>Common Challenges Across Applications</a:t>
            </a:r>
            <a:br>
              <a:rPr lang="en-US" b="0" i="0" dirty="0">
                <a:solidFill>
                  <a:srgbClr val="000000"/>
                </a:solidFill>
                <a:effectLst/>
                <a:latin typeface="Segoe UI" panose="020B0502040204020203" pitchFamily="34" charset="0"/>
              </a:rPr>
            </a:br>
            <a:endParaRPr lang="en-US" b="1" i="0" dirty="0">
              <a:solidFill>
                <a:srgbClr val="667EEA"/>
              </a:solidFill>
              <a:effectLst/>
              <a:latin typeface="Söhne"/>
            </a:endParaRPr>
          </a:p>
        </p:txBody>
      </p:sp>
      <p:sp>
        <p:nvSpPr>
          <p:cNvPr id="24" name="Rectangle: Rounded Corners 23">
            <a:extLst>
              <a:ext uri="{FF2B5EF4-FFF2-40B4-BE49-F238E27FC236}">
                <a16:creationId xmlns:a16="http://schemas.microsoft.com/office/drawing/2014/main" id="{EEE0A0D5-D653-62D4-0D96-B87DB025248C}"/>
              </a:ext>
            </a:extLst>
          </p:cNvPr>
          <p:cNvSpPr/>
          <p:nvPr/>
        </p:nvSpPr>
        <p:spPr>
          <a:xfrm>
            <a:off x="6600827" y="4881760"/>
            <a:ext cx="4539679"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sz="1600" b="0" i="0" dirty="0">
                <a:solidFill>
                  <a:srgbClr val="000000"/>
                </a:solidFill>
                <a:effectLst/>
                <a:latin typeface="Segoe UI" panose="020B0502040204020203" pitchFamily="34" charset="0"/>
              </a:rPr>
              <a:t>Strict latency requirements</a:t>
            </a:r>
            <a:endParaRPr lang="en-US" sz="1600" dirty="0">
              <a:solidFill>
                <a:schemeClr val="tx1"/>
              </a:solidFill>
              <a:latin typeface="Söhne"/>
            </a:endParaRPr>
          </a:p>
        </p:txBody>
      </p:sp>
      <p:sp>
        <p:nvSpPr>
          <p:cNvPr id="25" name="Rectangle: Rounded Corners 24">
            <a:extLst>
              <a:ext uri="{FF2B5EF4-FFF2-40B4-BE49-F238E27FC236}">
                <a16:creationId xmlns:a16="http://schemas.microsoft.com/office/drawing/2014/main" id="{B6EDAC92-1248-3F4E-C0F8-38BCD27935AD}"/>
              </a:ext>
            </a:extLst>
          </p:cNvPr>
          <p:cNvSpPr/>
          <p:nvPr/>
        </p:nvSpPr>
        <p:spPr>
          <a:xfrm>
            <a:off x="6600827" y="5551735"/>
            <a:ext cx="4539679"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en-US" sz="1600" b="0" i="0" dirty="0">
                <a:solidFill>
                  <a:srgbClr val="000000"/>
                </a:solidFill>
                <a:effectLst/>
                <a:latin typeface="Segoe UI" panose="020B0502040204020203" pitchFamily="34" charset="0"/>
              </a:rPr>
              <a:t>Dynamic network conditions</a:t>
            </a:r>
            <a:endParaRPr lang="en-US" sz="1600" dirty="0">
              <a:solidFill>
                <a:schemeClr val="tx1"/>
              </a:solidFill>
              <a:latin typeface="Söhne"/>
            </a:endParaRPr>
          </a:p>
        </p:txBody>
      </p:sp>
    </p:spTree>
    <p:extLst>
      <p:ext uri="{BB962C8B-B14F-4D97-AF65-F5344CB8AC3E}">
        <p14:creationId xmlns:p14="http://schemas.microsoft.com/office/powerpoint/2010/main" val="409093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1000"/>
                                        <p:tgtEl>
                                          <p:spTgt spid="15"/>
                                        </p:tgtEl>
                                      </p:cBhvr>
                                    </p:animEffect>
                                    <p:anim calcmode="lin" valueType="num">
                                      <p:cBhvr>
                                        <p:cTn id="15" dur="1000" fill="hold"/>
                                        <p:tgtEl>
                                          <p:spTgt spid="15"/>
                                        </p:tgtEl>
                                        <p:attrNameLst>
                                          <p:attrName>ppt_x</p:attrName>
                                        </p:attrNameLst>
                                      </p:cBhvr>
                                      <p:tavLst>
                                        <p:tav tm="0">
                                          <p:val>
                                            <p:strVal val="#ppt_x"/>
                                          </p:val>
                                        </p:tav>
                                        <p:tav tm="100000">
                                          <p:val>
                                            <p:strVal val="#ppt_x"/>
                                          </p:val>
                                        </p:tav>
                                      </p:tavLst>
                                    </p:anim>
                                    <p:anim calcmode="lin" valueType="num">
                                      <p:cBhvr>
                                        <p:cTn id="1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1000"/>
                                        <p:tgtEl>
                                          <p:spTgt spid="17"/>
                                        </p:tgtEl>
                                      </p:cBhvr>
                                    </p:animEffect>
                                    <p:anim calcmode="lin" valueType="num">
                                      <p:cBhvr>
                                        <p:cTn id="22" dur="1000" fill="hold"/>
                                        <p:tgtEl>
                                          <p:spTgt spid="17"/>
                                        </p:tgtEl>
                                        <p:attrNameLst>
                                          <p:attrName>ppt_x</p:attrName>
                                        </p:attrNameLst>
                                      </p:cBhvr>
                                      <p:tavLst>
                                        <p:tav tm="0">
                                          <p:val>
                                            <p:strVal val="#ppt_x"/>
                                          </p:val>
                                        </p:tav>
                                        <p:tav tm="100000">
                                          <p:val>
                                            <p:strVal val="#ppt_x"/>
                                          </p:val>
                                        </p:tav>
                                      </p:tavLst>
                                    </p:anim>
                                    <p:anim calcmode="lin" valueType="num">
                                      <p:cBhvr>
                                        <p:cTn id="23"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000"/>
                                        <p:tgtEl>
                                          <p:spTgt spid="22"/>
                                        </p:tgtEl>
                                      </p:cBhvr>
                                    </p:animEffect>
                                    <p:anim calcmode="lin" valueType="num">
                                      <p:cBhvr>
                                        <p:cTn id="34" dur="1000" fill="hold"/>
                                        <p:tgtEl>
                                          <p:spTgt spid="22"/>
                                        </p:tgtEl>
                                        <p:attrNameLst>
                                          <p:attrName>ppt_x</p:attrName>
                                        </p:attrNameLst>
                                      </p:cBhvr>
                                      <p:tavLst>
                                        <p:tav tm="0">
                                          <p:val>
                                            <p:strVal val="#ppt_x"/>
                                          </p:val>
                                        </p:tav>
                                        <p:tav tm="100000">
                                          <p:val>
                                            <p:strVal val="#ppt_x"/>
                                          </p:val>
                                        </p:tav>
                                      </p:tavLst>
                                    </p:anim>
                                    <p:anim calcmode="lin" valueType="num">
                                      <p:cBhvr>
                                        <p:cTn id="35" dur="1000" fill="hold"/>
                                        <p:tgtEl>
                                          <p:spTgt spid="2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1000"/>
                                        <p:tgtEl>
                                          <p:spTgt spid="19"/>
                                        </p:tgtEl>
                                      </p:cBhvr>
                                    </p:animEffect>
                                    <p:anim calcmode="lin" valueType="num">
                                      <p:cBhvr>
                                        <p:cTn id="39" dur="1000" fill="hold"/>
                                        <p:tgtEl>
                                          <p:spTgt spid="19"/>
                                        </p:tgtEl>
                                        <p:attrNameLst>
                                          <p:attrName>ppt_x</p:attrName>
                                        </p:attrNameLst>
                                      </p:cBhvr>
                                      <p:tavLst>
                                        <p:tav tm="0">
                                          <p:val>
                                            <p:strVal val="#ppt_x"/>
                                          </p:val>
                                        </p:tav>
                                        <p:tav tm="100000">
                                          <p:val>
                                            <p:strVal val="#ppt_x"/>
                                          </p:val>
                                        </p:tav>
                                      </p:tavLst>
                                    </p:anim>
                                    <p:anim calcmode="lin" valueType="num">
                                      <p:cBhvr>
                                        <p:cTn id="4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1000"/>
                                        <p:tgtEl>
                                          <p:spTgt spid="24"/>
                                        </p:tgtEl>
                                      </p:cBhvr>
                                    </p:animEffect>
                                    <p:anim calcmode="lin" valueType="num">
                                      <p:cBhvr>
                                        <p:cTn id="46" dur="1000" fill="hold"/>
                                        <p:tgtEl>
                                          <p:spTgt spid="24"/>
                                        </p:tgtEl>
                                        <p:attrNameLst>
                                          <p:attrName>ppt_x</p:attrName>
                                        </p:attrNameLst>
                                      </p:cBhvr>
                                      <p:tavLst>
                                        <p:tav tm="0">
                                          <p:val>
                                            <p:strVal val="#ppt_x"/>
                                          </p:val>
                                        </p:tav>
                                        <p:tav tm="100000">
                                          <p:val>
                                            <p:strVal val="#ppt_x"/>
                                          </p:val>
                                        </p:tav>
                                      </p:tavLst>
                                    </p:anim>
                                    <p:anim calcmode="lin" valueType="num">
                                      <p:cBhvr>
                                        <p:cTn id="47"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1000"/>
                                        <p:tgtEl>
                                          <p:spTgt spid="20"/>
                                        </p:tgtEl>
                                      </p:cBhvr>
                                    </p:animEffect>
                                    <p:anim calcmode="lin" valueType="num">
                                      <p:cBhvr>
                                        <p:cTn id="53" dur="1000" fill="hold"/>
                                        <p:tgtEl>
                                          <p:spTgt spid="20"/>
                                        </p:tgtEl>
                                        <p:attrNameLst>
                                          <p:attrName>ppt_x</p:attrName>
                                        </p:attrNameLst>
                                      </p:cBhvr>
                                      <p:tavLst>
                                        <p:tav tm="0">
                                          <p:val>
                                            <p:strVal val="#ppt_x"/>
                                          </p:val>
                                        </p:tav>
                                        <p:tav tm="100000">
                                          <p:val>
                                            <p:strVal val="#ppt_x"/>
                                          </p:val>
                                        </p:tav>
                                      </p:tavLst>
                                    </p:anim>
                                    <p:anim calcmode="lin" valueType="num">
                                      <p:cBhvr>
                                        <p:cTn id="5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25"/>
                                        </p:tgtEl>
                                        <p:attrNameLst>
                                          <p:attrName>style.visibility</p:attrName>
                                        </p:attrNameLst>
                                      </p:cBhvr>
                                      <p:to>
                                        <p:strVal val="visible"/>
                                      </p:to>
                                    </p:set>
                                    <p:animEffect transition="in" filter="fade">
                                      <p:cBhvr>
                                        <p:cTn id="59" dur="1000"/>
                                        <p:tgtEl>
                                          <p:spTgt spid="25"/>
                                        </p:tgtEl>
                                      </p:cBhvr>
                                    </p:animEffect>
                                    <p:anim calcmode="lin" valueType="num">
                                      <p:cBhvr>
                                        <p:cTn id="60" dur="1000" fill="hold"/>
                                        <p:tgtEl>
                                          <p:spTgt spid="25"/>
                                        </p:tgtEl>
                                        <p:attrNameLst>
                                          <p:attrName>ppt_x</p:attrName>
                                        </p:attrNameLst>
                                      </p:cBhvr>
                                      <p:tavLst>
                                        <p:tav tm="0">
                                          <p:val>
                                            <p:strVal val="#ppt_x"/>
                                          </p:val>
                                        </p:tav>
                                        <p:tav tm="100000">
                                          <p:val>
                                            <p:strVal val="#ppt_x"/>
                                          </p:val>
                                        </p:tav>
                                      </p:tavLst>
                                    </p:anim>
                                    <p:anim calcmode="lin" valueType="num">
                                      <p:cBhvr>
                                        <p:cTn id="6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animBg="1"/>
      <p:bldP spid="17" grpId="0" animBg="1"/>
      <p:bldP spid="18" grpId="0" animBg="1"/>
      <p:bldP spid="19" grpId="0" animBg="1"/>
      <p:bldP spid="20" grpId="0" animBg="1"/>
      <p:bldP spid="22" grpId="0"/>
      <p:bldP spid="24" grpId="0" animBg="1"/>
      <p:bldP spid="2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55F9A4-B369-F6F8-2ED9-58727609ECB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C617F25-32A2-636C-FA43-31AA6BEF9765}"/>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764EBBBB-79A2-6178-821C-B08BD6E293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03CADEDF-933C-FF72-B0C5-EB1DD2AC306B}"/>
              </a:ext>
            </a:extLst>
          </p:cNvPr>
          <p:cNvCxnSpPr>
            <a:cxnSpLocks/>
          </p:cNvCxnSpPr>
          <p:nvPr/>
        </p:nvCxnSpPr>
        <p:spPr>
          <a:xfrm>
            <a:off x="435005" y="947129"/>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8E9CEDC-0854-6AFB-2F95-78D953628285}"/>
              </a:ext>
            </a:extLst>
          </p:cNvPr>
          <p:cNvSpPr txBox="1"/>
          <p:nvPr/>
        </p:nvSpPr>
        <p:spPr>
          <a:xfrm>
            <a:off x="550276" y="338293"/>
            <a:ext cx="2492605" cy="584775"/>
          </a:xfrm>
          <a:prstGeom prst="rect">
            <a:avLst/>
          </a:prstGeom>
          <a:noFill/>
        </p:spPr>
        <p:txBody>
          <a:bodyPr wrap="none" rtlCol="0">
            <a:spAutoFit/>
          </a:bodyPr>
          <a:lstStyle/>
          <a:p>
            <a:r>
              <a:rPr lang="en-US" sz="3200" b="1" dirty="0">
                <a:solidFill>
                  <a:srgbClr val="0070C0"/>
                </a:solidFill>
                <a:latin typeface="Söhne"/>
              </a:rPr>
              <a:t>Related Work</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6FB5D37E-9C6A-DC72-6DF1-B796F4FB1B93}"/>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4461D669-B439-36A4-0FD5-D30203F73FC7}"/>
              </a:ext>
            </a:extLst>
          </p:cNvPr>
          <p:cNvSpPr/>
          <p:nvPr/>
        </p:nvSpPr>
        <p:spPr>
          <a:xfrm>
            <a:off x="435004" y="1059071"/>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Task Offloading with Dependencies in MEC Networks</a:t>
            </a:r>
            <a:endParaRPr lang="en-GB" b="1" dirty="0">
              <a:latin typeface="Söhne"/>
            </a:endParaRPr>
          </a:p>
        </p:txBody>
      </p:sp>
      <p:sp>
        <p:nvSpPr>
          <p:cNvPr id="2" name="Decagon 1">
            <a:extLst>
              <a:ext uri="{FF2B5EF4-FFF2-40B4-BE49-F238E27FC236}">
                <a16:creationId xmlns:a16="http://schemas.microsoft.com/office/drawing/2014/main" id="{60C5B85D-5B46-EC29-1350-FCFFEBC69E27}"/>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5</a:t>
            </a:r>
            <a:endParaRPr lang="en-US" b="1" dirty="0">
              <a:latin typeface="Söhne"/>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D441DAEE-DD4A-BC59-E0A1-81296E81A734}"/>
              </a:ext>
            </a:extLst>
          </p:cNvPr>
          <p:cNvGraphicFramePr>
            <a:graphicFrameLocks noGrp="1"/>
          </p:cNvGraphicFramePr>
          <p:nvPr>
            <p:extLst>
              <p:ext uri="{D42A27DB-BD31-4B8C-83A1-F6EECF244321}">
                <p14:modId xmlns:p14="http://schemas.microsoft.com/office/powerpoint/2010/main" val="3497817862"/>
              </p:ext>
            </p:extLst>
          </p:nvPr>
        </p:nvGraphicFramePr>
        <p:xfrm>
          <a:off x="435004" y="1653136"/>
          <a:ext cx="11310152" cy="3560214"/>
        </p:xfrm>
        <a:graphic>
          <a:graphicData uri="http://schemas.openxmlformats.org/drawingml/2006/table">
            <a:tbl>
              <a:tblPr firstRow="1" bandRow="1">
                <a:tableStyleId>{5C22544A-7EE6-4342-B048-85BDC9FD1C3A}</a:tableStyleId>
              </a:tblPr>
              <a:tblGrid>
                <a:gridCol w="2061652">
                  <a:extLst>
                    <a:ext uri="{9D8B030D-6E8A-4147-A177-3AD203B41FA5}">
                      <a16:colId xmlns:a16="http://schemas.microsoft.com/office/drawing/2014/main" val="81787477"/>
                    </a:ext>
                  </a:extLst>
                </a:gridCol>
                <a:gridCol w="2848595">
                  <a:extLst>
                    <a:ext uri="{9D8B030D-6E8A-4147-A177-3AD203B41FA5}">
                      <a16:colId xmlns:a16="http://schemas.microsoft.com/office/drawing/2014/main" val="3794534306"/>
                    </a:ext>
                  </a:extLst>
                </a:gridCol>
                <a:gridCol w="2866517">
                  <a:extLst>
                    <a:ext uri="{9D8B030D-6E8A-4147-A177-3AD203B41FA5}">
                      <a16:colId xmlns:a16="http://schemas.microsoft.com/office/drawing/2014/main" val="4274161422"/>
                    </a:ext>
                  </a:extLst>
                </a:gridCol>
                <a:gridCol w="3533388">
                  <a:extLst>
                    <a:ext uri="{9D8B030D-6E8A-4147-A177-3AD203B41FA5}">
                      <a16:colId xmlns:a16="http://schemas.microsoft.com/office/drawing/2014/main" val="1865125675"/>
                    </a:ext>
                  </a:extLst>
                </a:gridCol>
              </a:tblGrid>
              <a:tr h="442800">
                <a:tc>
                  <a:txBody>
                    <a:bodyPr/>
                    <a:lstStyle/>
                    <a:p>
                      <a:pPr marL="0" indent="144145" algn="ctr" defTabSz="914400" rtl="0" eaLnBrk="1" latinLnBrk="0" hangingPunct="1">
                        <a:lnSpc>
                          <a:spcPts val="1200"/>
                        </a:lnSpc>
                        <a:buNone/>
                      </a:pPr>
                      <a:r>
                        <a:rPr lang="en-US" sz="1400" b="1" i="0" kern="1200" dirty="0">
                          <a:solidFill>
                            <a:schemeClr val="bg1"/>
                          </a:solidFill>
                          <a:latin typeface="Söhne"/>
                          <a:ea typeface="+mn-ea"/>
                          <a:cs typeface="+mn-cs"/>
                        </a:rPr>
                        <a:t>Reference</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tc>
                  <a:txBody>
                    <a:bodyPr/>
                    <a:lstStyle/>
                    <a:p>
                      <a:pPr marL="0" indent="144145" algn="ctr" defTabSz="914400" rtl="0" eaLnBrk="1" latinLnBrk="0" hangingPunct="1">
                        <a:lnSpc>
                          <a:spcPts val="1200"/>
                        </a:lnSpc>
                        <a:buNone/>
                      </a:pPr>
                      <a:r>
                        <a:rPr lang="en-US" sz="1400" b="1" i="0" kern="1200" dirty="0">
                          <a:solidFill>
                            <a:schemeClr val="bg1"/>
                          </a:solidFill>
                          <a:latin typeface="Söhne"/>
                          <a:ea typeface="+mn-ea"/>
                          <a:cs typeface="+mn-cs"/>
                        </a:rPr>
                        <a:t>Approach</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tc>
                  <a:txBody>
                    <a:bodyPr/>
                    <a:lstStyle/>
                    <a:p>
                      <a:pPr marL="0" indent="144145" algn="ctr" defTabSz="914400" rtl="0" eaLnBrk="1" latinLnBrk="0" hangingPunct="1">
                        <a:lnSpc>
                          <a:spcPts val="1200"/>
                        </a:lnSpc>
                        <a:buNone/>
                      </a:pPr>
                      <a:r>
                        <a:rPr lang="en-US" sz="1400" b="1" i="0" kern="1200" dirty="0">
                          <a:solidFill>
                            <a:schemeClr val="bg1"/>
                          </a:solidFill>
                          <a:latin typeface="Söhne"/>
                          <a:ea typeface="+mn-ea"/>
                          <a:cs typeface="+mn-cs"/>
                        </a:rPr>
                        <a:t>Limitations</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tc>
                  <a:txBody>
                    <a:bodyPr/>
                    <a:lstStyle/>
                    <a:p>
                      <a:pPr marL="0" indent="144145" algn="ctr" defTabSz="914400" rtl="0" eaLnBrk="1" latinLnBrk="0" hangingPunct="1">
                        <a:lnSpc>
                          <a:spcPts val="1200"/>
                        </a:lnSpc>
                        <a:buNone/>
                      </a:pPr>
                      <a:r>
                        <a:rPr lang="en-US" sz="1400" b="1" i="0" kern="1200" dirty="0">
                          <a:solidFill>
                            <a:schemeClr val="bg1"/>
                          </a:solidFill>
                          <a:latin typeface="Söhne"/>
                          <a:ea typeface="+mn-ea"/>
                          <a:cs typeface="+mn-cs"/>
                        </a:rPr>
                        <a:t>This Paper</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extLst>
                  <a:ext uri="{0D108BD9-81ED-4DB2-BD59-A6C34878D82A}">
                    <a16:rowId xmlns:a16="http://schemas.microsoft.com/office/drawing/2014/main" val="2179048212"/>
                  </a:ext>
                </a:extLst>
              </a:tr>
              <a:tr h="749721">
                <a:tc>
                  <a:txBody>
                    <a:bodyPr/>
                    <a:lstStyle/>
                    <a:p>
                      <a:pPr marL="0" indent="144145" algn="ctr" defTabSz="914400" rtl="0" eaLnBrk="1" latinLnBrk="0" hangingPunct="1">
                        <a:lnSpc>
                          <a:spcPts val="1200"/>
                        </a:lnSpc>
                        <a:buNone/>
                      </a:pPr>
                      <a:r>
                        <a:rPr lang="en-US" sz="1400" b="1" i="0" dirty="0">
                          <a:solidFill>
                            <a:srgbClr val="000000"/>
                          </a:solidFill>
                          <a:effectLst/>
                          <a:latin typeface="Söhne"/>
                        </a:rPr>
                        <a:t>[6], [7], [8], [9]</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ct val="100000"/>
                        </a:lnSpc>
                        <a:buNone/>
                      </a:pPr>
                      <a:r>
                        <a:rPr lang="en-US" sz="1400" b="0" i="0" dirty="0">
                          <a:solidFill>
                            <a:srgbClr val="000000"/>
                          </a:solidFill>
                          <a:effectLst/>
                          <a:latin typeface="Söhne"/>
                        </a:rPr>
                        <a:t>DAG-based fine-grained offloading for single-user tasks</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No inter-user dependencies</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Limited to single-user scenarios</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Handles multi-user task dependencies</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Real collaborative scenarios</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655372576"/>
                  </a:ext>
                </a:extLst>
              </a:tr>
              <a:tr h="763480">
                <a:tc>
                  <a:txBody>
                    <a:bodyPr/>
                    <a:lstStyle/>
                    <a:p>
                      <a:pPr marL="0" indent="144145" algn="ctr" defTabSz="914400" rtl="0" eaLnBrk="1" latinLnBrk="0" hangingPunct="1">
                        <a:lnSpc>
                          <a:spcPts val="1200"/>
                        </a:lnSpc>
                        <a:buNone/>
                      </a:pPr>
                      <a:r>
                        <a:rPr lang="en-US" sz="1400" b="1" i="0" dirty="0">
                          <a:solidFill>
                            <a:srgbClr val="000000"/>
                          </a:solidFill>
                          <a:effectLst/>
                          <a:latin typeface="Söhne"/>
                        </a:rPr>
                        <a:t>[10], [11]</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ct val="100000"/>
                        </a:lnSpc>
                        <a:buNone/>
                      </a:pPr>
                      <a:r>
                        <a:rPr lang="en-US" sz="1400" b="0" i="0" dirty="0">
                          <a:solidFill>
                            <a:srgbClr val="000000"/>
                          </a:solidFill>
                          <a:effectLst/>
                          <a:latin typeface="Söhne"/>
                        </a:rPr>
                        <a:t>Closed-form solutions with one-climb policy for linear dependencies</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Only linear task structures</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Static users</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No mobility</a:t>
                      </a:r>
                      <a:endParaRPr lang="en-US" sz="1400" b="0"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Complex DAG structures</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Mobile terminals</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Dynamic channels</a:t>
                      </a:r>
                      <a:endParaRPr lang="en-US" sz="1400" b="0"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241379255"/>
                  </a:ext>
                </a:extLst>
              </a:tr>
              <a:tr h="0">
                <a:tc>
                  <a:txBody>
                    <a:bodyPr/>
                    <a:lstStyle/>
                    <a:p>
                      <a:pPr marL="0" indent="144145" algn="ctr" defTabSz="914400" rtl="0" eaLnBrk="1" latinLnBrk="0" hangingPunct="1">
                        <a:lnSpc>
                          <a:spcPts val="1200"/>
                        </a:lnSpc>
                        <a:buNone/>
                      </a:pPr>
                      <a:r>
                        <a:rPr lang="en-US" sz="1400" b="1" i="0" kern="1200" dirty="0">
                          <a:solidFill>
                            <a:schemeClr val="tx1"/>
                          </a:solidFill>
                          <a:latin typeface="Söhne"/>
                          <a:ea typeface="+mn-ea"/>
                          <a:cs typeface="+mn-cs"/>
                        </a:rPr>
                        <a:t>[12]</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ct val="100000"/>
                        </a:lnSpc>
                        <a:buNone/>
                      </a:pPr>
                      <a:r>
                        <a:rPr lang="en-US" sz="1400" b="0" i="0" dirty="0">
                          <a:solidFill>
                            <a:srgbClr val="000000"/>
                          </a:solidFill>
                          <a:effectLst/>
                          <a:latin typeface="Söhne"/>
                        </a:rPr>
                        <a:t>Heuristic algorithm for DAG critical path minimization</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285750" indent="-285750" algn="l">
                        <a:lnSpc>
                          <a:spcPct val="100000"/>
                        </a:lnSpc>
                        <a:buFont typeface="Arial" panose="020B0604020202020204" pitchFamily="34" charset="0"/>
                        <a:buChar char="•"/>
                      </a:pPr>
                      <a:r>
                        <a:rPr lang="en-US" sz="1400" b="0" i="0" kern="1200" dirty="0">
                          <a:solidFill>
                            <a:schemeClr val="tx1"/>
                          </a:solidFill>
                          <a:latin typeface="Söhne"/>
                          <a:ea typeface="+mn-ea"/>
                          <a:cs typeface="+mn-cs"/>
                        </a:rPr>
                        <a:t>Requires prior knowledge</a:t>
                      </a:r>
                    </a:p>
                    <a:p>
                      <a:pPr marL="285750" indent="-285750" algn="l">
                        <a:lnSpc>
                          <a:spcPct val="100000"/>
                        </a:lnSpc>
                        <a:buFont typeface="Arial" panose="020B0604020202020204" pitchFamily="34" charset="0"/>
                        <a:buChar char="•"/>
                      </a:pPr>
                      <a:r>
                        <a:rPr lang="en-US" sz="1400" b="0" i="0" kern="1200" dirty="0">
                          <a:solidFill>
                            <a:schemeClr val="tx1"/>
                          </a:solidFill>
                          <a:latin typeface="Söhne"/>
                          <a:ea typeface="+mn-ea"/>
                          <a:cs typeface="+mn-cs"/>
                        </a:rPr>
                        <a:t>Iterative solving</a:t>
                      </a:r>
                    </a:p>
                    <a:p>
                      <a:pPr marL="285750" indent="-285750" algn="l">
                        <a:lnSpc>
                          <a:spcPct val="100000"/>
                        </a:lnSpc>
                        <a:buFont typeface="Arial" panose="020B0604020202020204" pitchFamily="34" charset="0"/>
                        <a:buChar char="•"/>
                      </a:pPr>
                      <a:r>
                        <a:rPr lang="en-US" sz="1400" b="0" i="0" kern="1200" dirty="0">
                          <a:solidFill>
                            <a:schemeClr val="tx1"/>
                          </a:solidFill>
                          <a:latin typeface="Söhne"/>
                          <a:ea typeface="+mn-ea"/>
                          <a:cs typeface="+mn-cs"/>
                        </a:rPr>
                        <a:t>Not adaptive</a:t>
                      </a:r>
                    </a:p>
                  </a:txBody>
                  <a:tcPr marL="114300" marR="114300" marT="114300" marB="114300" anchor="ctr">
                    <a:solidFill>
                      <a:schemeClr val="tx2">
                        <a:lumMod val="20000"/>
                        <a:lumOff val="80000"/>
                      </a:schemeClr>
                    </a:solidFill>
                  </a:tcPr>
                </a:tc>
                <a:tc>
                  <a:txBody>
                    <a:bodyPr/>
                    <a:lstStyle/>
                    <a:p>
                      <a:pPr marL="285750" indent="-285750" algn="l">
                        <a:buFont typeface="Arial" panose="020B0604020202020204" pitchFamily="34" charset="0"/>
                        <a:buChar char="•"/>
                      </a:pPr>
                      <a:r>
                        <a:rPr lang="en-US" sz="1400" b="0" i="0" dirty="0">
                          <a:solidFill>
                            <a:srgbClr val="000000"/>
                          </a:solidFill>
                          <a:effectLst/>
                          <a:latin typeface="Söhne"/>
                        </a:rPr>
                        <a:t>No prior knowledge needed</a:t>
                      </a:r>
                    </a:p>
                    <a:p>
                      <a:pPr marL="285750" indent="-285750" algn="l">
                        <a:buFont typeface="Arial" panose="020B0604020202020204" pitchFamily="34" charset="0"/>
                        <a:buChar char="•"/>
                      </a:pPr>
                      <a:r>
                        <a:rPr lang="en-US" sz="1400" b="0" i="0" dirty="0">
                          <a:solidFill>
                            <a:srgbClr val="000000"/>
                          </a:solidFill>
                          <a:effectLst/>
                          <a:latin typeface="Söhne"/>
                        </a:rPr>
                        <a:t>Real-time decisions</a:t>
                      </a:r>
                    </a:p>
                    <a:p>
                      <a:pPr marL="285750" indent="-285750" algn="l">
                        <a:buFont typeface="Arial" panose="020B0604020202020204" pitchFamily="34" charset="0"/>
                        <a:buChar char="•"/>
                      </a:pPr>
                      <a:r>
                        <a:rPr lang="en-US" sz="1400" b="0" i="0" dirty="0">
                          <a:solidFill>
                            <a:srgbClr val="000000"/>
                          </a:solidFill>
                          <a:effectLst/>
                          <a:latin typeface="Söhne"/>
                        </a:rPr>
                        <a:t>Continuous learning</a:t>
                      </a:r>
                      <a:endParaRPr lang="en-US" sz="1400" b="0" i="0" kern="1200" dirty="0">
                        <a:solidFill>
                          <a:schemeClr val="tx1"/>
                        </a:solidFill>
                        <a:latin typeface="Söhne"/>
                        <a:ea typeface="+mn-ea"/>
                        <a:cs typeface="+mn-cs"/>
                      </a:endParaRPr>
                    </a:p>
                  </a:txBody>
                  <a:tcPr marL="114300" marR="114300" marT="114300" marB="114300" anchor="ctr">
                    <a:solidFill>
                      <a:schemeClr val="tx2">
                        <a:lumMod val="20000"/>
                        <a:lumOff val="80000"/>
                      </a:schemeClr>
                    </a:solidFill>
                  </a:tcPr>
                </a:tc>
                <a:extLst>
                  <a:ext uri="{0D108BD9-81ED-4DB2-BD59-A6C34878D82A}">
                    <a16:rowId xmlns:a16="http://schemas.microsoft.com/office/drawing/2014/main" val="3732201554"/>
                  </a:ext>
                </a:extLst>
              </a:tr>
              <a:tr h="735533">
                <a:tc>
                  <a:txBody>
                    <a:bodyPr/>
                    <a:lstStyle/>
                    <a:p>
                      <a:pPr marL="0" indent="144145" algn="ctr" defTabSz="914400" rtl="0" eaLnBrk="1" latinLnBrk="0" hangingPunct="1">
                        <a:lnSpc>
                          <a:spcPts val="1200"/>
                        </a:lnSpc>
                        <a:buNone/>
                      </a:pPr>
                      <a:r>
                        <a:rPr lang="en-US" sz="1400" b="1" i="0" dirty="0">
                          <a:solidFill>
                            <a:srgbClr val="000000"/>
                          </a:solidFill>
                          <a:effectLst/>
                          <a:latin typeface="Söhne"/>
                        </a:rPr>
                        <a:t>GA / OCP</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ct val="100000"/>
                        </a:lnSpc>
                        <a:buNone/>
                      </a:pPr>
                      <a:r>
                        <a:rPr lang="en-US" sz="1400" b="0" i="0" dirty="0">
                          <a:solidFill>
                            <a:srgbClr val="000000"/>
                          </a:solidFill>
                          <a:effectLst/>
                          <a:latin typeface="Söhne"/>
                        </a:rPr>
                        <a:t>Evolutionary / Rule-based optimization</a:t>
                      </a:r>
                      <a:endParaRPr lang="en-US" sz="14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Repeated solving required</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Slow in dynamic environments</a:t>
                      </a:r>
                    </a:p>
                    <a:p>
                      <a:pPr marL="285750" indent="-285750" algn="l" defTabSz="914400" rtl="0" eaLnBrk="1" latinLnBrk="0" hangingPunct="1">
                        <a:lnSpc>
                          <a:spcPct val="100000"/>
                        </a:lnSpc>
                        <a:buFont typeface="Arial" panose="020B0604020202020204" pitchFamily="34" charset="0"/>
                        <a:buChar char="•"/>
                      </a:pPr>
                      <a:r>
                        <a:rPr lang="en-US" sz="1400" b="0" i="0" dirty="0">
                          <a:solidFill>
                            <a:srgbClr val="000000"/>
                          </a:solidFill>
                          <a:effectLst/>
                          <a:latin typeface="Söhne"/>
                        </a:rPr>
                        <a:t>No long-term optimization</a:t>
                      </a:r>
                      <a:endParaRPr lang="en-US" sz="1400" b="0"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285750" indent="-285750" algn="l" defTabSz="914400" rtl="0" eaLnBrk="1" latinLnBrk="0" hangingPunct="1">
                        <a:lnSpc>
                          <a:spcPct val="100000"/>
                        </a:lnSpc>
                        <a:buFont typeface="Arial" panose="020B0604020202020204" pitchFamily="34" charset="0"/>
                        <a:buChar char="•"/>
                      </a:pPr>
                      <a:r>
                        <a:rPr lang="en-US" sz="1400" b="0" i="0" kern="1200" dirty="0">
                          <a:solidFill>
                            <a:schemeClr val="tx1"/>
                          </a:solidFill>
                          <a:latin typeface="Söhne"/>
                          <a:ea typeface="+mn-ea"/>
                          <a:cs typeface="+mn-cs"/>
                        </a:rPr>
                        <a:t>Single forward pass</a:t>
                      </a:r>
                    </a:p>
                    <a:p>
                      <a:pPr marL="285750" indent="-285750" algn="l" defTabSz="914400" rtl="0" eaLnBrk="1" latinLnBrk="0" hangingPunct="1">
                        <a:lnSpc>
                          <a:spcPct val="100000"/>
                        </a:lnSpc>
                        <a:buFont typeface="Arial" panose="020B0604020202020204" pitchFamily="34" charset="0"/>
                        <a:buChar char="•"/>
                      </a:pPr>
                      <a:r>
                        <a:rPr lang="en-US" sz="1400" b="0" i="0" kern="1200" dirty="0">
                          <a:solidFill>
                            <a:schemeClr val="tx1"/>
                          </a:solidFill>
                          <a:latin typeface="Söhne"/>
                          <a:ea typeface="+mn-ea"/>
                          <a:cs typeface="+mn-cs"/>
                        </a:rPr>
                        <a:t>Fast adaptation</a:t>
                      </a:r>
                    </a:p>
                    <a:p>
                      <a:pPr marL="285750" indent="-285750" algn="l" defTabSz="914400" rtl="0" eaLnBrk="1" latinLnBrk="0" hangingPunct="1">
                        <a:lnSpc>
                          <a:spcPct val="100000"/>
                        </a:lnSpc>
                        <a:buFont typeface="Arial" panose="020B0604020202020204" pitchFamily="34" charset="0"/>
                        <a:buChar char="•"/>
                      </a:pPr>
                      <a:r>
                        <a:rPr lang="en-US" sz="1400" b="0" i="0" kern="1200" dirty="0">
                          <a:solidFill>
                            <a:schemeClr val="tx1"/>
                          </a:solidFill>
                          <a:latin typeface="Söhne"/>
                          <a:ea typeface="+mn-ea"/>
                          <a:cs typeface="+mn-cs"/>
                        </a:rPr>
                        <a:t>Long-term reward maximization</a:t>
                      </a:r>
                    </a:p>
                  </a:txBody>
                  <a:tcPr marL="68580" marR="68580" marT="0" marB="0" anchor="ctr">
                    <a:solidFill>
                      <a:schemeClr val="tx2">
                        <a:lumMod val="20000"/>
                        <a:lumOff val="80000"/>
                      </a:schemeClr>
                    </a:solidFill>
                  </a:tcPr>
                </a:tc>
                <a:extLst>
                  <a:ext uri="{0D108BD9-81ED-4DB2-BD59-A6C34878D82A}">
                    <a16:rowId xmlns:a16="http://schemas.microsoft.com/office/drawing/2014/main" val="2454076118"/>
                  </a:ext>
                </a:extLst>
              </a:tr>
            </a:tbl>
          </a:graphicData>
        </a:graphic>
      </p:graphicFrame>
      <p:sp>
        <p:nvSpPr>
          <p:cNvPr id="4" name="Rectangle 3">
            <a:extLst>
              <a:ext uri="{FF2B5EF4-FFF2-40B4-BE49-F238E27FC236}">
                <a16:creationId xmlns:a16="http://schemas.microsoft.com/office/drawing/2014/main" id="{5D873078-F860-81A6-60B1-54BCD9787E21}"/>
              </a:ext>
            </a:extLst>
          </p:cNvPr>
          <p:cNvSpPr/>
          <p:nvPr/>
        </p:nvSpPr>
        <p:spPr>
          <a:xfrm>
            <a:off x="446846" y="1475920"/>
            <a:ext cx="3600000" cy="110566"/>
          </a:xfrm>
          <a:prstGeom prst="rect">
            <a:avLst/>
          </a:prstGeom>
          <a:solidFill>
            <a:srgbClr val="715A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öhne"/>
            </a:endParaRPr>
          </a:p>
        </p:txBody>
      </p:sp>
      <p:sp>
        <p:nvSpPr>
          <p:cNvPr id="7" name="Rectangle 6">
            <a:extLst>
              <a:ext uri="{FF2B5EF4-FFF2-40B4-BE49-F238E27FC236}">
                <a16:creationId xmlns:a16="http://schemas.microsoft.com/office/drawing/2014/main" id="{D39C4918-6F3B-FA02-4155-4BC6C0A963C6}"/>
              </a:ext>
            </a:extLst>
          </p:cNvPr>
          <p:cNvSpPr/>
          <p:nvPr/>
        </p:nvSpPr>
        <p:spPr>
          <a:xfrm>
            <a:off x="4296000" y="1463030"/>
            <a:ext cx="3600000" cy="110566"/>
          </a:xfrm>
          <a:prstGeom prst="rect">
            <a:avLst/>
          </a:prstGeom>
          <a:solidFill>
            <a:srgbClr val="6879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öhne"/>
            </a:endParaRPr>
          </a:p>
        </p:txBody>
      </p:sp>
      <p:sp>
        <p:nvSpPr>
          <p:cNvPr id="13" name="Rectangle 12">
            <a:extLst>
              <a:ext uri="{FF2B5EF4-FFF2-40B4-BE49-F238E27FC236}">
                <a16:creationId xmlns:a16="http://schemas.microsoft.com/office/drawing/2014/main" id="{A29349DE-B88E-F93D-3FCA-CA053A15BAE9}"/>
              </a:ext>
            </a:extLst>
          </p:cNvPr>
          <p:cNvSpPr/>
          <p:nvPr/>
        </p:nvSpPr>
        <p:spPr>
          <a:xfrm>
            <a:off x="8145155" y="1474098"/>
            <a:ext cx="3600000" cy="110566"/>
          </a:xfrm>
          <a:prstGeom prst="rect">
            <a:avLst/>
          </a:prstGeom>
          <a:solidFill>
            <a:srgbClr val="705C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Söhne"/>
            </a:endParaRPr>
          </a:p>
        </p:txBody>
      </p:sp>
      <p:sp>
        <p:nvSpPr>
          <p:cNvPr id="24" name="Rectangle 23">
            <a:extLst>
              <a:ext uri="{FF2B5EF4-FFF2-40B4-BE49-F238E27FC236}">
                <a16:creationId xmlns:a16="http://schemas.microsoft.com/office/drawing/2014/main" id="{22FE54FB-CF8A-C905-6B33-232D9457F7E5}"/>
              </a:ext>
            </a:extLst>
          </p:cNvPr>
          <p:cNvSpPr/>
          <p:nvPr/>
        </p:nvSpPr>
        <p:spPr>
          <a:xfrm>
            <a:off x="435005" y="5394969"/>
            <a:ext cx="11310150" cy="857459"/>
          </a:xfrm>
          <a:prstGeom prst="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Aft>
                <a:spcPts val="600"/>
              </a:spcAft>
              <a:buNone/>
            </a:pPr>
            <a:r>
              <a:rPr lang="en-US" b="1" i="0" dirty="0">
                <a:solidFill>
                  <a:srgbClr val="667EEA"/>
                </a:solidFill>
                <a:effectLst/>
                <a:latin typeface="Söhne"/>
              </a:rPr>
              <a:t>Research Gap</a:t>
            </a:r>
          </a:p>
          <a:p>
            <a:pPr algn="just">
              <a:buNone/>
            </a:pPr>
            <a:r>
              <a:rPr lang="en-US" sz="1400" b="0" i="0" dirty="0">
                <a:solidFill>
                  <a:srgbClr val="000000"/>
                </a:solidFill>
                <a:effectLst/>
                <a:latin typeface="Söhne"/>
              </a:rPr>
              <a:t>Previous works focused on independent tasks or single-user DAGs. Real-world scenarios involve </a:t>
            </a:r>
            <a:r>
              <a:rPr lang="en-US" sz="1400" b="1" i="0" dirty="0">
                <a:solidFill>
                  <a:srgbClr val="000000"/>
                </a:solidFill>
                <a:effectLst/>
                <a:latin typeface="Söhne"/>
              </a:rPr>
              <a:t>inter-user task dependencies</a:t>
            </a:r>
            <a:r>
              <a:rPr lang="en-US" sz="1400" b="0" i="0" dirty="0">
                <a:solidFill>
                  <a:srgbClr val="000000"/>
                </a:solidFill>
                <a:effectLst/>
                <a:latin typeface="Söhne"/>
              </a:rPr>
              <a:t> that require new optimization approaches.</a:t>
            </a:r>
          </a:p>
        </p:txBody>
      </p:sp>
    </p:spTree>
    <p:extLst>
      <p:ext uri="{BB962C8B-B14F-4D97-AF65-F5344CB8AC3E}">
        <p14:creationId xmlns:p14="http://schemas.microsoft.com/office/powerpoint/2010/main" val="27255985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E9A8-50DA-2663-D722-EA93CEC5AF0E}"/>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7844110-9DF0-4E6F-9930-FE7E8B8C13D9}"/>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1FA759DB-86B6-282D-2A8F-B225E17828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5F857028-0366-9F1E-2804-A5B2806A9BB2}"/>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9744974-20CA-4A38-EFF4-5EB335FD267E}"/>
              </a:ext>
            </a:extLst>
          </p:cNvPr>
          <p:cNvSpPr txBox="1"/>
          <p:nvPr/>
        </p:nvSpPr>
        <p:spPr>
          <a:xfrm>
            <a:off x="550276" y="338293"/>
            <a:ext cx="2495555" cy="584775"/>
          </a:xfrm>
          <a:prstGeom prst="rect">
            <a:avLst/>
          </a:prstGeom>
          <a:noFill/>
        </p:spPr>
        <p:txBody>
          <a:bodyPr wrap="none" rtlCol="0">
            <a:spAutoFit/>
          </a:bodyPr>
          <a:lstStyle/>
          <a:p>
            <a:r>
              <a:rPr lang="en-US" sz="3200" b="1" dirty="0">
                <a:solidFill>
                  <a:srgbClr val="0070C0"/>
                </a:solidFill>
                <a:latin typeface="Söhne"/>
              </a:rPr>
              <a:t>Research Gap</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FA854B5D-DD22-D697-3652-5A51580F43A1}"/>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B183DDE9-4E82-1D0F-25F2-B2A247CE57E7}"/>
              </a:ext>
            </a:extLst>
          </p:cNvPr>
          <p:cNvSpPr/>
          <p:nvPr/>
        </p:nvSpPr>
        <p:spPr>
          <a:xfrm>
            <a:off x="435004" y="1030935"/>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What previous work is missing</a:t>
            </a:r>
            <a:endParaRPr lang="en-GB" b="1" dirty="0">
              <a:latin typeface="Söhne"/>
            </a:endParaRPr>
          </a:p>
        </p:txBody>
      </p:sp>
      <p:sp>
        <p:nvSpPr>
          <p:cNvPr id="2" name="Decagon 1">
            <a:extLst>
              <a:ext uri="{FF2B5EF4-FFF2-40B4-BE49-F238E27FC236}">
                <a16:creationId xmlns:a16="http://schemas.microsoft.com/office/drawing/2014/main" id="{9D4647BC-4547-197A-8233-C8BA3BC10A58}"/>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6</a:t>
            </a:r>
            <a:endParaRPr lang="en-US" b="1" dirty="0">
              <a:latin typeface="Söhne"/>
              <a:cs typeface="Times New Roman" panose="02020603050405020304" pitchFamily="18" charset="0"/>
            </a:endParaRPr>
          </a:p>
        </p:txBody>
      </p:sp>
      <p:sp>
        <p:nvSpPr>
          <p:cNvPr id="3" name="Rectangle: Rounded Corners 2">
            <a:extLst>
              <a:ext uri="{FF2B5EF4-FFF2-40B4-BE49-F238E27FC236}">
                <a16:creationId xmlns:a16="http://schemas.microsoft.com/office/drawing/2014/main" id="{51B34FF2-9481-EEF1-2CCC-D85BC9D3C246}"/>
              </a:ext>
            </a:extLst>
          </p:cNvPr>
          <p:cNvSpPr/>
          <p:nvPr/>
        </p:nvSpPr>
        <p:spPr>
          <a:xfrm>
            <a:off x="435004" y="1502632"/>
            <a:ext cx="11310151" cy="2037600"/>
          </a:xfrm>
          <a:prstGeom prst="roundRect">
            <a:avLst>
              <a:gd name="adj" fmla="val 4962"/>
            </a:avLst>
          </a:prstGeom>
          <a:solidFill>
            <a:schemeClr val="bg1"/>
          </a:solidFill>
          <a:ln w="19050">
            <a:solidFill>
              <a:srgbClr val="FF0000"/>
            </a:solidFill>
            <a:prstDash val="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1125"/>
              </a:spcAft>
              <a:buNone/>
            </a:pPr>
            <a:endParaRPr lang="en-US" sz="1200" b="0" i="0" dirty="0">
              <a:solidFill>
                <a:srgbClr val="FFFFFF"/>
              </a:solidFill>
              <a:effectLst/>
              <a:latin typeface="Segoe UI" panose="020B0502040204020203" pitchFamily="34" charset="0"/>
            </a:endParaRPr>
          </a:p>
        </p:txBody>
      </p:sp>
      <p:sp>
        <p:nvSpPr>
          <p:cNvPr id="11" name="TextBox 10">
            <a:extLst>
              <a:ext uri="{FF2B5EF4-FFF2-40B4-BE49-F238E27FC236}">
                <a16:creationId xmlns:a16="http://schemas.microsoft.com/office/drawing/2014/main" id="{86B2CDFC-480C-F911-2ED4-C65A413CCAC4}"/>
              </a:ext>
            </a:extLst>
          </p:cNvPr>
          <p:cNvSpPr txBox="1"/>
          <p:nvPr/>
        </p:nvSpPr>
        <p:spPr>
          <a:xfrm>
            <a:off x="550274" y="1581459"/>
            <a:ext cx="4467225" cy="338554"/>
          </a:xfrm>
          <a:prstGeom prst="rect">
            <a:avLst/>
          </a:prstGeom>
          <a:noFill/>
        </p:spPr>
        <p:txBody>
          <a:bodyPr wrap="square" rtlCol="0">
            <a:spAutoFit/>
          </a:bodyPr>
          <a:lstStyle/>
          <a:p>
            <a:pPr algn="l">
              <a:spcAft>
                <a:spcPts val="1125"/>
              </a:spcAft>
              <a:buNone/>
            </a:pPr>
            <a:r>
              <a:rPr lang="en-US" sz="1600" b="1" i="0" dirty="0">
                <a:effectLst/>
                <a:latin typeface="Segoe UI" panose="020B0502040204020203" pitchFamily="34" charset="0"/>
              </a:rPr>
              <a:t>Limitations in Prior Research</a:t>
            </a:r>
          </a:p>
        </p:txBody>
      </p:sp>
      <p:sp>
        <p:nvSpPr>
          <p:cNvPr id="12" name="TextBox 11">
            <a:extLst>
              <a:ext uri="{FF2B5EF4-FFF2-40B4-BE49-F238E27FC236}">
                <a16:creationId xmlns:a16="http://schemas.microsoft.com/office/drawing/2014/main" id="{9922F0E6-578B-6F09-9E1B-43D781FB842A}"/>
              </a:ext>
            </a:extLst>
          </p:cNvPr>
          <p:cNvSpPr txBox="1"/>
          <p:nvPr/>
        </p:nvSpPr>
        <p:spPr>
          <a:xfrm>
            <a:off x="550274" y="2066748"/>
            <a:ext cx="5375296" cy="574516"/>
          </a:xfrm>
          <a:prstGeom prst="rect">
            <a:avLst/>
          </a:prstGeom>
          <a:noFill/>
        </p:spPr>
        <p:txBody>
          <a:bodyPr wrap="square" rtlCol="0">
            <a:spAutoFit/>
          </a:bodyPr>
          <a:lstStyle/>
          <a:p>
            <a:pPr algn="l">
              <a:buNone/>
            </a:pPr>
            <a:r>
              <a:rPr lang="en-US" sz="1400" b="1" i="0" dirty="0">
                <a:effectLst/>
                <a:latin typeface="Segoe UI" panose="020B0502040204020203" pitchFamily="34" charset="0"/>
              </a:rPr>
              <a:t>1. Independent Task Assumption</a:t>
            </a:r>
            <a:endParaRPr lang="en-US" sz="1400" b="0" i="0" dirty="0">
              <a:effectLst/>
              <a:latin typeface="Segoe UI" panose="020B0502040204020203" pitchFamily="34" charset="0"/>
            </a:endParaRPr>
          </a:p>
          <a:p>
            <a:pPr algn="l">
              <a:spcBef>
                <a:spcPts val="375"/>
              </a:spcBef>
              <a:buNone/>
            </a:pPr>
            <a:r>
              <a:rPr lang="en-US" sz="1400" b="0" i="0" dirty="0">
                <a:effectLst/>
                <a:latin typeface="Segoe UI" panose="020B0502040204020203" pitchFamily="34" charset="0"/>
              </a:rPr>
              <a:t>Most works ignore inter-user dependencies</a:t>
            </a:r>
          </a:p>
        </p:txBody>
      </p:sp>
      <p:sp>
        <p:nvSpPr>
          <p:cNvPr id="13" name="TextBox 12">
            <a:extLst>
              <a:ext uri="{FF2B5EF4-FFF2-40B4-BE49-F238E27FC236}">
                <a16:creationId xmlns:a16="http://schemas.microsoft.com/office/drawing/2014/main" id="{D4743CB9-AE82-27FB-3423-3131B3E607F4}"/>
              </a:ext>
            </a:extLst>
          </p:cNvPr>
          <p:cNvSpPr txBox="1"/>
          <p:nvPr/>
        </p:nvSpPr>
        <p:spPr>
          <a:xfrm>
            <a:off x="550274" y="2748293"/>
            <a:ext cx="5375296" cy="574516"/>
          </a:xfrm>
          <a:prstGeom prst="rect">
            <a:avLst/>
          </a:prstGeom>
          <a:noFill/>
        </p:spPr>
        <p:txBody>
          <a:bodyPr wrap="square" rtlCol="0">
            <a:spAutoFit/>
          </a:bodyPr>
          <a:lstStyle/>
          <a:p>
            <a:pPr algn="l">
              <a:buNone/>
            </a:pPr>
            <a:r>
              <a:rPr lang="en-US" sz="1400" b="1" i="0" dirty="0">
                <a:effectLst/>
                <a:latin typeface="Segoe UI" panose="020B0502040204020203" pitchFamily="34" charset="0"/>
              </a:rPr>
              <a:t>3. Linear Dependencies Only</a:t>
            </a:r>
            <a:endParaRPr lang="en-US" sz="1400" b="0" i="0" dirty="0">
              <a:effectLst/>
              <a:latin typeface="Segoe UI" panose="020B0502040204020203" pitchFamily="34" charset="0"/>
            </a:endParaRPr>
          </a:p>
          <a:p>
            <a:pPr algn="l">
              <a:spcBef>
                <a:spcPts val="375"/>
              </a:spcBef>
              <a:buNone/>
            </a:pPr>
            <a:r>
              <a:rPr lang="en-US" sz="1400" b="0" i="0" dirty="0">
                <a:effectLst/>
                <a:latin typeface="Segoe UI" panose="020B0502040204020203" pitchFamily="34" charset="0"/>
              </a:rPr>
              <a:t>Not general DAG structures</a:t>
            </a:r>
          </a:p>
        </p:txBody>
      </p:sp>
      <p:sp>
        <p:nvSpPr>
          <p:cNvPr id="14" name="TextBox 13">
            <a:extLst>
              <a:ext uri="{FF2B5EF4-FFF2-40B4-BE49-F238E27FC236}">
                <a16:creationId xmlns:a16="http://schemas.microsoft.com/office/drawing/2014/main" id="{08CC3FF9-CBD9-6510-8B63-0C96B5C21003}"/>
              </a:ext>
            </a:extLst>
          </p:cNvPr>
          <p:cNvSpPr txBox="1"/>
          <p:nvPr/>
        </p:nvSpPr>
        <p:spPr>
          <a:xfrm>
            <a:off x="6147714" y="2066747"/>
            <a:ext cx="5375296" cy="574516"/>
          </a:xfrm>
          <a:prstGeom prst="rect">
            <a:avLst/>
          </a:prstGeom>
          <a:noFill/>
        </p:spPr>
        <p:txBody>
          <a:bodyPr wrap="square" rtlCol="0">
            <a:spAutoFit/>
          </a:bodyPr>
          <a:lstStyle/>
          <a:p>
            <a:pPr algn="l">
              <a:buNone/>
            </a:pPr>
            <a:r>
              <a:rPr lang="en-US" sz="1400" b="1" i="0" dirty="0">
                <a:effectLst/>
                <a:latin typeface="Segoe UI" panose="020B0502040204020203" pitchFamily="34" charset="0"/>
              </a:rPr>
              <a:t>2. Static Scenarios</a:t>
            </a:r>
            <a:endParaRPr lang="en-US" sz="1400" b="0" i="0" dirty="0">
              <a:effectLst/>
              <a:latin typeface="Segoe UI" panose="020B0502040204020203" pitchFamily="34" charset="0"/>
            </a:endParaRPr>
          </a:p>
          <a:p>
            <a:pPr algn="l">
              <a:spcBef>
                <a:spcPts val="375"/>
              </a:spcBef>
              <a:buNone/>
            </a:pPr>
            <a:r>
              <a:rPr lang="en-US" sz="1400" b="0" i="0" dirty="0">
                <a:effectLst/>
                <a:latin typeface="Segoe UI" panose="020B0502040204020203" pitchFamily="34" charset="0"/>
              </a:rPr>
              <a:t>Limited mobility considerations</a:t>
            </a:r>
          </a:p>
        </p:txBody>
      </p:sp>
      <p:sp>
        <p:nvSpPr>
          <p:cNvPr id="15" name="TextBox 14">
            <a:extLst>
              <a:ext uri="{FF2B5EF4-FFF2-40B4-BE49-F238E27FC236}">
                <a16:creationId xmlns:a16="http://schemas.microsoft.com/office/drawing/2014/main" id="{20FD721C-70EF-6120-CF76-82DECBAC0364}"/>
              </a:ext>
            </a:extLst>
          </p:cNvPr>
          <p:cNvSpPr txBox="1"/>
          <p:nvPr/>
        </p:nvSpPr>
        <p:spPr>
          <a:xfrm>
            <a:off x="6147714" y="2748292"/>
            <a:ext cx="5375296" cy="574516"/>
          </a:xfrm>
          <a:prstGeom prst="rect">
            <a:avLst/>
          </a:prstGeom>
          <a:noFill/>
        </p:spPr>
        <p:txBody>
          <a:bodyPr wrap="square" rtlCol="0">
            <a:spAutoFit/>
          </a:bodyPr>
          <a:lstStyle/>
          <a:p>
            <a:pPr algn="l">
              <a:buNone/>
            </a:pPr>
            <a:r>
              <a:rPr lang="en-US" sz="1400" b="1" i="0" dirty="0">
                <a:effectLst/>
                <a:latin typeface="Segoe UI" panose="020B0502040204020203" pitchFamily="34" charset="0"/>
              </a:rPr>
              <a:t>4. Prior Knowledge Required</a:t>
            </a:r>
            <a:endParaRPr lang="en-US" sz="1400" b="0" i="0" dirty="0">
              <a:effectLst/>
              <a:latin typeface="Segoe UI" panose="020B0502040204020203" pitchFamily="34" charset="0"/>
            </a:endParaRPr>
          </a:p>
          <a:p>
            <a:pPr algn="l">
              <a:spcBef>
                <a:spcPts val="375"/>
              </a:spcBef>
              <a:buNone/>
            </a:pPr>
            <a:r>
              <a:rPr lang="en-US" sz="1400" b="0" i="0" dirty="0">
                <a:effectLst/>
                <a:latin typeface="Segoe UI" panose="020B0502040204020203" pitchFamily="34" charset="0"/>
              </a:rPr>
              <a:t>Can't adapt to unknown environments</a:t>
            </a:r>
          </a:p>
        </p:txBody>
      </p:sp>
      <p:sp>
        <p:nvSpPr>
          <p:cNvPr id="21" name="Rectangle: Rounded Corners 20">
            <a:extLst>
              <a:ext uri="{FF2B5EF4-FFF2-40B4-BE49-F238E27FC236}">
                <a16:creationId xmlns:a16="http://schemas.microsoft.com/office/drawing/2014/main" id="{878BE596-DC96-F68F-86F4-C479077CA913}"/>
              </a:ext>
            </a:extLst>
          </p:cNvPr>
          <p:cNvSpPr/>
          <p:nvPr/>
        </p:nvSpPr>
        <p:spPr>
          <a:xfrm>
            <a:off x="435003" y="4009404"/>
            <a:ext cx="5400000" cy="2038448"/>
          </a:xfrm>
          <a:prstGeom prst="roundRect">
            <a:avLst>
              <a:gd name="adj" fmla="val 5138"/>
            </a:avLst>
          </a:prstGeom>
          <a:solidFill>
            <a:srgbClr val="E7FAFE"/>
          </a:solidFill>
          <a:ln>
            <a:solidFill>
              <a:srgbClr val="0070C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750"/>
              </a:spcAft>
              <a:buNone/>
            </a:pPr>
            <a:r>
              <a:rPr lang="en-US" sz="1400" b="1" i="0" dirty="0">
                <a:solidFill>
                  <a:srgbClr val="0A2342"/>
                </a:solidFill>
                <a:effectLst/>
                <a:latin typeface="Segoe UI" panose="020B0502040204020203" pitchFamily="34" charset="0"/>
              </a:rPr>
              <a:t>What </a:t>
            </a:r>
            <a:r>
              <a:rPr lang="en-US" sz="1400" b="1" dirty="0">
                <a:solidFill>
                  <a:srgbClr val="0A2342"/>
                </a:solidFill>
                <a:latin typeface="Segoe UI" panose="020B0502040204020203" pitchFamily="34" charset="0"/>
              </a:rPr>
              <a:t>Paper</a:t>
            </a:r>
            <a:r>
              <a:rPr lang="en-US" sz="1400" b="1" i="0" dirty="0">
                <a:solidFill>
                  <a:srgbClr val="0A2342"/>
                </a:solidFill>
                <a:effectLst/>
                <a:latin typeface="Segoe UI" panose="020B0502040204020203" pitchFamily="34" charset="0"/>
              </a:rPr>
              <a:t> Include</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Inter-user task dependencies (DAG)</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Terminal mobility and time-varying channels</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Deep reinforcement learning approach</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No prior knowledge required</a:t>
            </a:r>
          </a:p>
        </p:txBody>
      </p:sp>
      <p:sp>
        <p:nvSpPr>
          <p:cNvPr id="22" name="Rectangle: Rounded Corners 21">
            <a:extLst>
              <a:ext uri="{FF2B5EF4-FFF2-40B4-BE49-F238E27FC236}">
                <a16:creationId xmlns:a16="http://schemas.microsoft.com/office/drawing/2014/main" id="{C923371D-1AD5-8075-419C-843C1D311609}"/>
              </a:ext>
            </a:extLst>
          </p:cNvPr>
          <p:cNvSpPr/>
          <p:nvPr/>
        </p:nvSpPr>
        <p:spPr>
          <a:xfrm>
            <a:off x="6345156" y="3996312"/>
            <a:ext cx="5400000" cy="2037600"/>
          </a:xfrm>
          <a:prstGeom prst="roundRect">
            <a:avLst>
              <a:gd name="adj" fmla="val 5138"/>
            </a:avLst>
          </a:prstGeom>
          <a:solidFill>
            <a:srgbClr val="E7FAFE"/>
          </a:solidFill>
          <a:ln>
            <a:solidFill>
              <a:srgbClr val="0070C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750"/>
              </a:spcAft>
              <a:buNone/>
            </a:pPr>
            <a:r>
              <a:rPr lang="en-US" sz="1400" b="1" i="0" dirty="0">
                <a:solidFill>
                  <a:srgbClr val="0A2342"/>
                </a:solidFill>
                <a:effectLst/>
                <a:latin typeface="Segoe UI" panose="020B0502040204020203" pitchFamily="34" charset="0"/>
              </a:rPr>
              <a:t>Paper’s Contributions</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Execution window partitioning</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DDQN-based task offloading</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Joint resource allocation (JSATC)</a:t>
            </a:r>
          </a:p>
          <a:p>
            <a:pPr marL="285750" indent="-285750" algn="l">
              <a:spcBef>
                <a:spcPts val="600"/>
              </a:spcBef>
              <a:spcAft>
                <a:spcPts val="600"/>
              </a:spcAft>
              <a:buFont typeface="Arial" panose="020B0604020202020204" pitchFamily="34" charset="0"/>
              <a:buChar char="•"/>
            </a:pPr>
            <a:r>
              <a:rPr lang="en-US" sz="1400" b="0" i="0" dirty="0">
                <a:solidFill>
                  <a:srgbClr val="000000"/>
                </a:solidFill>
                <a:effectLst/>
                <a:latin typeface="Segoe UI" panose="020B0502040204020203" pitchFamily="34" charset="0"/>
              </a:rPr>
              <a:t>Long-term optimization</a:t>
            </a:r>
          </a:p>
        </p:txBody>
      </p:sp>
    </p:spTree>
    <p:extLst>
      <p:ext uri="{BB962C8B-B14F-4D97-AF65-F5344CB8AC3E}">
        <p14:creationId xmlns:p14="http://schemas.microsoft.com/office/powerpoint/2010/main" val="579459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fade">
                                      <p:cBhvr>
                                        <p:cTn id="26" dur="1000"/>
                                        <p:tgtEl>
                                          <p:spTgt spid="14"/>
                                        </p:tgtEl>
                                      </p:cBhvr>
                                    </p:animEffect>
                                    <p:anim calcmode="lin" valueType="num">
                                      <p:cBhvr>
                                        <p:cTn id="27" dur="1000" fill="hold"/>
                                        <p:tgtEl>
                                          <p:spTgt spid="14"/>
                                        </p:tgtEl>
                                        <p:attrNameLst>
                                          <p:attrName>ppt_x</p:attrName>
                                        </p:attrNameLst>
                                      </p:cBhvr>
                                      <p:tavLst>
                                        <p:tav tm="0">
                                          <p:val>
                                            <p:strVal val="#ppt_x"/>
                                          </p:val>
                                        </p:tav>
                                        <p:tav tm="100000">
                                          <p:val>
                                            <p:strVal val="#ppt_x"/>
                                          </p:val>
                                        </p:tav>
                                      </p:tavLst>
                                    </p:anim>
                                    <p:anim calcmode="lin" valueType="num">
                                      <p:cBhvr>
                                        <p:cTn id="2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anim calcmode="lin" valueType="num">
                                      <p:cBhvr>
                                        <p:cTn id="34" dur="1000" fill="hold"/>
                                        <p:tgtEl>
                                          <p:spTgt spid="13"/>
                                        </p:tgtEl>
                                        <p:attrNameLst>
                                          <p:attrName>ppt_x</p:attrName>
                                        </p:attrNameLst>
                                      </p:cBhvr>
                                      <p:tavLst>
                                        <p:tav tm="0">
                                          <p:val>
                                            <p:strVal val="#ppt_x"/>
                                          </p:val>
                                        </p:tav>
                                        <p:tav tm="100000">
                                          <p:val>
                                            <p:strVal val="#ppt_x"/>
                                          </p:val>
                                        </p:tav>
                                      </p:tavLst>
                                    </p:anim>
                                    <p:anim calcmode="lin" valueType="num">
                                      <p:cBhvr>
                                        <p:cTn id="3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1000"/>
                                        <p:tgtEl>
                                          <p:spTgt spid="21"/>
                                        </p:tgtEl>
                                      </p:cBhvr>
                                    </p:animEffect>
                                    <p:anim calcmode="lin" valueType="num">
                                      <p:cBhvr>
                                        <p:cTn id="48" dur="1000" fill="hold"/>
                                        <p:tgtEl>
                                          <p:spTgt spid="21"/>
                                        </p:tgtEl>
                                        <p:attrNameLst>
                                          <p:attrName>ppt_x</p:attrName>
                                        </p:attrNameLst>
                                      </p:cBhvr>
                                      <p:tavLst>
                                        <p:tav tm="0">
                                          <p:val>
                                            <p:strVal val="#ppt_x"/>
                                          </p:val>
                                        </p:tav>
                                        <p:tav tm="100000">
                                          <p:val>
                                            <p:strVal val="#ppt_x"/>
                                          </p:val>
                                        </p:tav>
                                      </p:tavLst>
                                    </p:anim>
                                    <p:anim calcmode="lin" valueType="num">
                                      <p:cBhvr>
                                        <p:cTn id="4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1000"/>
                                        <p:tgtEl>
                                          <p:spTgt spid="22"/>
                                        </p:tgtEl>
                                      </p:cBhvr>
                                    </p:animEffect>
                                    <p:anim calcmode="lin" valueType="num">
                                      <p:cBhvr>
                                        <p:cTn id="55" dur="1000" fill="hold"/>
                                        <p:tgtEl>
                                          <p:spTgt spid="22"/>
                                        </p:tgtEl>
                                        <p:attrNameLst>
                                          <p:attrName>ppt_x</p:attrName>
                                        </p:attrNameLst>
                                      </p:cBhvr>
                                      <p:tavLst>
                                        <p:tav tm="0">
                                          <p:val>
                                            <p:strVal val="#ppt_x"/>
                                          </p:val>
                                        </p:tav>
                                        <p:tav tm="100000">
                                          <p:val>
                                            <p:strVal val="#ppt_x"/>
                                          </p:val>
                                        </p:tav>
                                      </p:tavLst>
                                    </p:anim>
                                    <p:anim calcmode="lin" valueType="num">
                                      <p:cBhvr>
                                        <p:cTn id="56"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12" grpId="0"/>
      <p:bldP spid="13" grpId="0"/>
      <p:bldP spid="14" grpId="0"/>
      <p:bldP spid="15" grpId="0"/>
      <p:bldP spid="21" grpId="0" animBg="1"/>
      <p:bldP spid="2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A2AAB-F4C8-5B72-46D5-16772E18EE1F}"/>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EB1F31E-3BD9-4269-8EB7-57A59F78BDD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EB0A7E77-2BCF-2A33-19A0-87299B446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51F635ED-04ED-C632-C3E2-E7A0D96E8FF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8F61214-7735-7920-BE8F-3F2D08C85254}"/>
              </a:ext>
            </a:extLst>
          </p:cNvPr>
          <p:cNvSpPr txBox="1"/>
          <p:nvPr/>
        </p:nvSpPr>
        <p:spPr>
          <a:xfrm>
            <a:off x="435002" y="334506"/>
            <a:ext cx="2308645" cy="584775"/>
          </a:xfrm>
          <a:prstGeom prst="rect">
            <a:avLst/>
          </a:prstGeom>
          <a:noFill/>
        </p:spPr>
        <p:txBody>
          <a:bodyPr wrap="none" rtlCol="0">
            <a:spAutoFit/>
          </a:bodyPr>
          <a:lstStyle/>
          <a:p>
            <a:r>
              <a:rPr lang="en-US" sz="3200" b="1" dirty="0">
                <a:solidFill>
                  <a:srgbClr val="0070C0"/>
                </a:solidFill>
                <a:latin typeface="Söhne"/>
              </a:rPr>
              <a:t>Paper’s Goal</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40251BD6-DBB4-F3C5-4E15-E9A6D5999E1A}"/>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852BA77B-8B5D-DAE5-3D21-E4EEEAFA766F}"/>
              </a:ext>
            </a:extLst>
          </p:cNvPr>
          <p:cNvSpPr/>
          <p:nvPr/>
        </p:nvSpPr>
        <p:spPr>
          <a:xfrm>
            <a:off x="435004" y="1030935"/>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Why this paper matters</a:t>
            </a:r>
            <a:endParaRPr lang="en-GB" b="1" dirty="0">
              <a:latin typeface="Söhne"/>
            </a:endParaRPr>
          </a:p>
        </p:txBody>
      </p:sp>
      <p:sp>
        <p:nvSpPr>
          <p:cNvPr id="2" name="Decagon 1">
            <a:extLst>
              <a:ext uri="{FF2B5EF4-FFF2-40B4-BE49-F238E27FC236}">
                <a16:creationId xmlns:a16="http://schemas.microsoft.com/office/drawing/2014/main" id="{DFE158BB-2CEC-E810-FAC2-026ECFA8203B}"/>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7</a:t>
            </a:r>
            <a:endParaRPr lang="en-US" b="1" dirty="0">
              <a:latin typeface="Söhne"/>
              <a:cs typeface="Times New Roman" panose="02020603050405020304" pitchFamily="18" charset="0"/>
            </a:endParaRPr>
          </a:p>
        </p:txBody>
      </p:sp>
      <p:sp>
        <p:nvSpPr>
          <p:cNvPr id="3" name="Rectangle: Rounded Corners 2">
            <a:extLst>
              <a:ext uri="{FF2B5EF4-FFF2-40B4-BE49-F238E27FC236}">
                <a16:creationId xmlns:a16="http://schemas.microsoft.com/office/drawing/2014/main" id="{246704DB-E43D-80AE-1A13-74B564ED38AC}"/>
              </a:ext>
            </a:extLst>
          </p:cNvPr>
          <p:cNvSpPr/>
          <p:nvPr/>
        </p:nvSpPr>
        <p:spPr>
          <a:xfrm>
            <a:off x="435004" y="1502632"/>
            <a:ext cx="11310151" cy="1581261"/>
          </a:xfrm>
          <a:prstGeom prst="roundRect">
            <a:avLst>
              <a:gd name="adj" fmla="val 4962"/>
            </a:avLst>
          </a:prstGeom>
          <a:solidFill>
            <a:schemeClr val="bg1"/>
          </a:solidFill>
          <a:ln w="19050">
            <a:solidFill>
              <a:srgbClr val="1C3ECE"/>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1125"/>
              </a:spcAft>
              <a:buNone/>
            </a:pPr>
            <a:endParaRPr lang="en-US" sz="1200" b="0" i="0" dirty="0">
              <a:solidFill>
                <a:srgbClr val="FFFFFF"/>
              </a:solidFill>
              <a:effectLst/>
              <a:latin typeface="Segoe UI" panose="020B0502040204020203" pitchFamily="34" charset="0"/>
            </a:endParaRPr>
          </a:p>
        </p:txBody>
      </p:sp>
      <p:sp>
        <p:nvSpPr>
          <p:cNvPr id="11" name="TextBox 10">
            <a:extLst>
              <a:ext uri="{FF2B5EF4-FFF2-40B4-BE49-F238E27FC236}">
                <a16:creationId xmlns:a16="http://schemas.microsoft.com/office/drawing/2014/main" id="{939FFD29-C17A-9A6E-2181-6C1E593E7F42}"/>
              </a:ext>
            </a:extLst>
          </p:cNvPr>
          <p:cNvSpPr txBox="1"/>
          <p:nvPr/>
        </p:nvSpPr>
        <p:spPr>
          <a:xfrm>
            <a:off x="550276" y="1622591"/>
            <a:ext cx="3598279" cy="338554"/>
          </a:xfrm>
          <a:prstGeom prst="rect">
            <a:avLst/>
          </a:prstGeom>
          <a:noFill/>
        </p:spPr>
        <p:txBody>
          <a:bodyPr wrap="square" rtlCol="0">
            <a:spAutoFit/>
          </a:bodyPr>
          <a:lstStyle/>
          <a:p>
            <a:pPr algn="l">
              <a:spcAft>
                <a:spcPts val="1125"/>
              </a:spcAft>
              <a:buNone/>
            </a:pPr>
            <a:r>
              <a:rPr lang="en-US" sz="1600" b="1" i="0" dirty="0">
                <a:effectLst/>
                <a:latin typeface="Segoe UI" panose="020B0502040204020203" pitchFamily="34" charset="0"/>
              </a:rPr>
              <a:t>Paper Solution: PTORA Algorithm</a:t>
            </a:r>
          </a:p>
        </p:txBody>
      </p:sp>
      <p:sp>
        <p:nvSpPr>
          <p:cNvPr id="12" name="TextBox 11">
            <a:extLst>
              <a:ext uri="{FF2B5EF4-FFF2-40B4-BE49-F238E27FC236}">
                <a16:creationId xmlns:a16="http://schemas.microsoft.com/office/drawing/2014/main" id="{70C874B6-384B-42C4-6382-9F5457F8BE6E}"/>
              </a:ext>
            </a:extLst>
          </p:cNvPr>
          <p:cNvSpPr txBox="1"/>
          <p:nvPr/>
        </p:nvSpPr>
        <p:spPr>
          <a:xfrm>
            <a:off x="550275" y="2042611"/>
            <a:ext cx="11060763" cy="1354217"/>
          </a:xfrm>
          <a:prstGeom prst="rect">
            <a:avLst/>
          </a:prstGeom>
          <a:noFill/>
        </p:spPr>
        <p:txBody>
          <a:bodyPr wrap="square" rtlCol="0">
            <a:spAutoFit/>
          </a:bodyPr>
          <a:lstStyle/>
          <a:p>
            <a:pPr algn="just"/>
            <a:r>
              <a:rPr lang="en-US" dirty="0"/>
              <a:t>To develop a </a:t>
            </a:r>
            <a:r>
              <a:rPr lang="en-US" b="1" dirty="0"/>
              <a:t>Deep Reinforcement Learning framework</a:t>
            </a:r>
            <a:r>
              <a:rPr lang="en-US" dirty="0"/>
              <a:t> that jointly optimizes task offloading and resource allocation for </a:t>
            </a:r>
            <a:r>
              <a:rPr lang="en-US" b="1" dirty="0"/>
              <a:t>inter-user dependent tasks</a:t>
            </a:r>
            <a:r>
              <a:rPr lang="en-US" dirty="0"/>
              <a:t> in dynamic MEC networks by learning from the underlying graph representation of the network environment.</a:t>
            </a:r>
          </a:p>
          <a:p>
            <a:pPr algn="just"/>
            <a:br>
              <a:rPr lang="en-US" sz="1400" dirty="0"/>
            </a:br>
            <a:endParaRPr lang="en-US" sz="1400" b="0" i="0" dirty="0">
              <a:effectLst/>
              <a:latin typeface="Segoe UI" panose="020B0502040204020203" pitchFamily="34" charset="0"/>
            </a:endParaRPr>
          </a:p>
        </p:txBody>
      </p:sp>
      <p:sp>
        <p:nvSpPr>
          <p:cNvPr id="16" name="Rectangle: Rounded Corners 15">
            <a:extLst>
              <a:ext uri="{FF2B5EF4-FFF2-40B4-BE49-F238E27FC236}">
                <a16:creationId xmlns:a16="http://schemas.microsoft.com/office/drawing/2014/main" id="{A27B8B7F-4ACB-5618-A9B8-3B94E00ED759}"/>
              </a:ext>
            </a:extLst>
          </p:cNvPr>
          <p:cNvSpPr/>
          <p:nvPr/>
        </p:nvSpPr>
        <p:spPr>
          <a:xfrm>
            <a:off x="440924" y="3224109"/>
            <a:ext cx="11310152" cy="1322392"/>
          </a:xfrm>
          <a:prstGeom prst="roundRect">
            <a:avLst>
              <a:gd name="adj" fmla="val 7285"/>
            </a:avLst>
          </a:prstGeom>
          <a:solidFill>
            <a:schemeClr val="bg1"/>
          </a:solidFill>
          <a:ln w="1905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400" b="1" i="0" dirty="0">
                <a:solidFill>
                  <a:srgbClr val="E65100"/>
                </a:solidFill>
                <a:effectLst/>
                <a:latin typeface="Segoe UI" panose="020B0502040204020203" pitchFamily="34" charset="0"/>
              </a:rPr>
              <a:t>Key Innovation</a:t>
            </a:r>
          </a:p>
          <a:p>
            <a:pPr algn="just">
              <a:buNone/>
            </a:pPr>
            <a:r>
              <a:rPr lang="en-US" sz="1400" b="0" i="0" dirty="0">
                <a:solidFill>
                  <a:srgbClr val="333333"/>
                </a:solidFill>
                <a:effectLst/>
                <a:latin typeface="Segoe UI" panose="020B0502040204020203" pitchFamily="34" charset="0"/>
              </a:rPr>
              <a:t>Combine </a:t>
            </a:r>
            <a:r>
              <a:rPr lang="en-US" sz="1400" b="1" i="0" dirty="0">
                <a:solidFill>
                  <a:srgbClr val="333333"/>
                </a:solidFill>
                <a:effectLst/>
                <a:latin typeface="Segoe UI" panose="020B0502040204020203" pitchFamily="34" charset="0"/>
              </a:rPr>
              <a:t>DDQN</a:t>
            </a:r>
            <a:r>
              <a:rPr lang="en-US" sz="1400" b="0" i="0" dirty="0">
                <a:solidFill>
                  <a:srgbClr val="333333"/>
                </a:solidFill>
                <a:effectLst/>
                <a:latin typeface="Segoe UI" panose="020B0502040204020203" pitchFamily="34" charset="0"/>
              </a:rPr>
              <a:t> (Double Deep Q Network for intelligent offloading decisions) with </a:t>
            </a:r>
            <a:r>
              <a:rPr lang="en-US" sz="1400" b="1" i="0" dirty="0">
                <a:solidFill>
                  <a:srgbClr val="333333"/>
                </a:solidFill>
                <a:effectLst/>
                <a:latin typeface="Segoe UI" panose="020B0502040204020203" pitchFamily="34" charset="0"/>
              </a:rPr>
              <a:t>JSATC</a:t>
            </a:r>
            <a:r>
              <a:rPr lang="en-US" sz="1400" b="0" i="0" dirty="0">
                <a:solidFill>
                  <a:srgbClr val="333333"/>
                </a:solidFill>
                <a:effectLst/>
                <a:latin typeface="Segoe UI" panose="020B0502040204020203" pitchFamily="34" charset="0"/>
              </a:rPr>
              <a:t> (Joint Subchannel Allocation and Transmit Power Control for resource optimization) to achieve superior performance </a:t>
            </a:r>
            <a:r>
              <a:rPr lang="en-US" sz="1400" b="1" i="0" dirty="0">
                <a:solidFill>
                  <a:srgbClr val="333333"/>
                </a:solidFill>
                <a:effectLst/>
                <a:latin typeface="Segoe UI" panose="020B0502040204020203" pitchFamily="34" charset="0"/>
              </a:rPr>
              <a:t>without requiring prior knowledge</a:t>
            </a:r>
            <a:r>
              <a:rPr lang="en-US" sz="1400" b="0" i="0" dirty="0">
                <a:solidFill>
                  <a:srgbClr val="333333"/>
                </a:solidFill>
                <a:effectLst/>
                <a:latin typeface="Segoe UI" panose="020B0502040204020203" pitchFamily="34" charset="0"/>
              </a:rPr>
              <a:t> of network dynamics or task structures.</a:t>
            </a:r>
          </a:p>
        </p:txBody>
      </p:sp>
      <p:sp>
        <p:nvSpPr>
          <p:cNvPr id="21" name="Rectangle: Rounded Corners 20">
            <a:extLst>
              <a:ext uri="{FF2B5EF4-FFF2-40B4-BE49-F238E27FC236}">
                <a16:creationId xmlns:a16="http://schemas.microsoft.com/office/drawing/2014/main" id="{1FC9A3A5-7FBA-D472-072A-4A5448A0730F}"/>
              </a:ext>
            </a:extLst>
          </p:cNvPr>
          <p:cNvSpPr/>
          <p:nvPr/>
        </p:nvSpPr>
        <p:spPr>
          <a:xfrm>
            <a:off x="435002" y="4686717"/>
            <a:ext cx="11310153" cy="1549248"/>
          </a:xfrm>
          <a:prstGeom prst="roundRect">
            <a:avLst>
              <a:gd name="adj" fmla="val 5138"/>
            </a:avLst>
          </a:prstGeom>
          <a:solidFill>
            <a:schemeClr val="bg1"/>
          </a:solidFill>
          <a:ln w="19050">
            <a:solidFill>
              <a:schemeClr val="accent6"/>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750"/>
              </a:spcAft>
              <a:buNone/>
            </a:pPr>
            <a:endParaRPr lang="en-US" sz="1400" b="0" i="0" dirty="0">
              <a:solidFill>
                <a:srgbClr val="000000"/>
              </a:solidFill>
              <a:effectLst/>
              <a:latin typeface="Segoe UI" panose="020B0502040204020203" pitchFamily="34" charset="0"/>
            </a:endParaRPr>
          </a:p>
        </p:txBody>
      </p:sp>
      <p:sp>
        <p:nvSpPr>
          <p:cNvPr id="7" name="TextBox 6">
            <a:extLst>
              <a:ext uri="{FF2B5EF4-FFF2-40B4-BE49-F238E27FC236}">
                <a16:creationId xmlns:a16="http://schemas.microsoft.com/office/drawing/2014/main" id="{248CED29-CFC8-4045-C7FA-4C82545CE4FC}"/>
              </a:ext>
            </a:extLst>
          </p:cNvPr>
          <p:cNvSpPr txBox="1"/>
          <p:nvPr/>
        </p:nvSpPr>
        <p:spPr>
          <a:xfrm>
            <a:off x="593769" y="5272233"/>
            <a:ext cx="3247960" cy="748923"/>
          </a:xfrm>
          <a:prstGeom prst="rect">
            <a:avLst/>
          </a:prstGeom>
          <a:noFill/>
        </p:spPr>
        <p:txBody>
          <a:bodyPr wrap="square">
            <a:spAutoFit/>
          </a:bodyPr>
          <a:lstStyle/>
          <a:p>
            <a:pPr algn="ctr">
              <a:spcAft>
                <a:spcPts val="750"/>
              </a:spcAft>
              <a:buNone/>
            </a:pPr>
            <a:r>
              <a:rPr lang="en-US" sz="1200" b="1" i="0" dirty="0">
                <a:solidFill>
                  <a:srgbClr val="2E7D32"/>
                </a:solidFill>
                <a:effectLst/>
                <a:latin typeface="Segoe UI" panose="020B0502040204020203" pitchFamily="34" charset="0"/>
              </a:rPr>
              <a:t>1. Model Complex Dependencies</a:t>
            </a:r>
          </a:p>
          <a:p>
            <a:pPr algn="ctr">
              <a:buNone/>
            </a:pPr>
            <a:r>
              <a:rPr lang="en-US" sz="1200" b="0" i="0" dirty="0">
                <a:solidFill>
                  <a:srgbClr val="555555"/>
                </a:solidFill>
                <a:effectLst/>
                <a:latin typeface="Segoe UI" panose="020B0502040204020203" pitchFamily="34" charset="0"/>
              </a:rPr>
              <a:t>Handle inter-user task dependencies in multi-user scenarios using DAG structures.</a:t>
            </a:r>
          </a:p>
        </p:txBody>
      </p:sp>
      <p:sp>
        <p:nvSpPr>
          <p:cNvPr id="10" name="TextBox 9">
            <a:extLst>
              <a:ext uri="{FF2B5EF4-FFF2-40B4-BE49-F238E27FC236}">
                <a16:creationId xmlns:a16="http://schemas.microsoft.com/office/drawing/2014/main" id="{9B291249-23C6-69F2-A8F8-BEC4329A0BDD}"/>
              </a:ext>
            </a:extLst>
          </p:cNvPr>
          <p:cNvSpPr txBox="1"/>
          <p:nvPr/>
        </p:nvSpPr>
        <p:spPr>
          <a:xfrm>
            <a:off x="4486712" y="5278995"/>
            <a:ext cx="3483471" cy="748923"/>
          </a:xfrm>
          <a:prstGeom prst="rect">
            <a:avLst/>
          </a:prstGeom>
          <a:noFill/>
        </p:spPr>
        <p:txBody>
          <a:bodyPr wrap="square">
            <a:spAutoFit/>
          </a:bodyPr>
          <a:lstStyle/>
          <a:p>
            <a:pPr algn="ctr">
              <a:spcAft>
                <a:spcPts val="750"/>
              </a:spcAft>
              <a:buNone/>
            </a:pPr>
            <a:r>
              <a:rPr lang="en-US" sz="1200" b="1" i="0" dirty="0">
                <a:solidFill>
                  <a:srgbClr val="2E7D32"/>
                </a:solidFill>
                <a:effectLst/>
                <a:latin typeface="Segoe UI" panose="020B0502040204020203" pitchFamily="34" charset="0"/>
              </a:rPr>
              <a:t>2. Dynamic Adaptation</a:t>
            </a:r>
          </a:p>
          <a:p>
            <a:pPr algn="ctr">
              <a:buNone/>
            </a:pPr>
            <a:r>
              <a:rPr lang="en-US" sz="1200" b="0" i="0" dirty="0">
                <a:solidFill>
                  <a:srgbClr val="555555"/>
                </a:solidFill>
                <a:effectLst/>
                <a:latin typeface="Segoe UI" panose="020B0502040204020203" pitchFamily="34" charset="0"/>
              </a:rPr>
              <a:t>Account for terminal mobility and time-varying channel states in real-time.</a:t>
            </a:r>
          </a:p>
        </p:txBody>
      </p:sp>
      <p:sp>
        <p:nvSpPr>
          <p:cNvPr id="18" name="TextBox 17">
            <a:extLst>
              <a:ext uri="{FF2B5EF4-FFF2-40B4-BE49-F238E27FC236}">
                <a16:creationId xmlns:a16="http://schemas.microsoft.com/office/drawing/2014/main" id="{C8A2A5B8-169D-386A-2E78-B97E5ECDA209}"/>
              </a:ext>
            </a:extLst>
          </p:cNvPr>
          <p:cNvSpPr txBox="1"/>
          <p:nvPr/>
        </p:nvSpPr>
        <p:spPr>
          <a:xfrm>
            <a:off x="8215475" y="5277291"/>
            <a:ext cx="3180454" cy="748923"/>
          </a:xfrm>
          <a:prstGeom prst="rect">
            <a:avLst/>
          </a:prstGeom>
          <a:noFill/>
        </p:spPr>
        <p:txBody>
          <a:bodyPr wrap="square">
            <a:spAutoFit/>
          </a:bodyPr>
          <a:lstStyle/>
          <a:p>
            <a:pPr algn="ctr">
              <a:spcAft>
                <a:spcPts val="750"/>
              </a:spcAft>
              <a:buNone/>
            </a:pPr>
            <a:r>
              <a:rPr lang="en-US" sz="1200" b="1" i="0" dirty="0">
                <a:solidFill>
                  <a:srgbClr val="2E7D32"/>
                </a:solidFill>
                <a:effectLst/>
                <a:latin typeface="Segoe UI" panose="020B0502040204020203" pitchFamily="34" charset="0"/>
              </a:rPr>
              <a:t>3. Joint Optimization</a:t>
            </a:r>
          </a:p>
          <a:p>
            <a:pPr algn="ctr">
              <a:buNone/>
            </a:pPr>
            <a:r>
              <a:rPr lang="en-US" sz="1200" b="0" i="0" dirty="0">
                <a:solidFill>
                  <a:srgbClr val="555555"/>
                </a:solidFill>
                <a:effectLst/>
                <a:latin typeface="Segoe UI" panose="020B0502040204020203" pitchFamily="34" charset="0"/>
              </a:rPr>
              <a:t>Simultaneously optimize task offloading decisions and resource allocation.</a:t>
            </a:r>
          </a:p>
        </p:txBody>
      </p:sp>
      <p:sp>
        <p:nvSpPr>
          <p:cNvPr id="20" name="TextBox 19">
            <a:extLst>
              <a:ext uri="{FF2B5EF4-FFF2-40B4-BE49-F238E27FC236}">
                <a16:creationId xmlns:a16="http://schemas.microsoft.com/office/drawing/2014/main" id="{95F71A55-AED0-3F39-18F1-BE724B2E0BCA}"/>
              </a:ext>
            </a:extLst>
          </p:cNvPr>
          <p:cNvSpPr txBox="1"/>
          <p:nvPr/>
        </p:nvSpPr>
        <p:spPr>
          <a:xfrm>
            <a:off x="4583501" y="4753266"/>
            <a:ext cx="2664954" cy="369332"/>
          </a:xfrm>
          <a:prstGeom prst="rect">
            <a:avLst/>
          </a:prstGeom>
          <a:noFill/>
        </p:spPr>
        <p:txBody>
          <a:bodyPr wrap="square">
            <a:spAutoFit/>
          </a:bodyPr>
          <a:lstStyle/>
          <a:p>
            <a:pPr algn="ctr">
              <a:spcBef>
                <a:spcPts val="1875"/>
              </a:spcBef>
              <a:spcAft>
                <a:spcPts val="1125"/>
              </a:spcAft>
              <a:buNone/>
            </a:pPr>
            <a:r>
              <a:rPr lang="en-US" b="1" dirty="0">
                <a:solidFill>
                  <a:srgbClr val="2E7D32"/>
                </a:solidFill>
                <a:latin typeface="Segoe UI" panose="020B0502040204020203" pitchFamily="34" charset="0"/>
              </a:rPr>
              <a:t>Main Objectives</a:t>
            </a:r>
          </a:p>
        </p:txBody>
      </p:sp>
    </p:spTree>
    <p:extLst>
      <p:ext uri="{BB962C8B-B14F-4D97-AF65-F5344CB8AC3E}">
        <p14:creationId xmlns:p14="http://schemas.microsoft.com/office/powerpoint/2010/main" val="480702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1000"/>
                                        <p:tgtEl>
                                          <p:spTgt spid="11"/>
                                        </p:tgtEl>
                                      </p:cBhvr>
                                    </p:animEffect>
                                    <p:anim calcmode="lin" valueType="num">
                                      <p:cBhvr>
                                        <p:cTn id="13" dur="1000" fill="hold"/>
                                        <p:tgtEl>
                                          <p:spTgt spid="11"/>
                                        </p:tgtEl>
                                        <p:attrNameLst>
                                          <p:attrName>ppt_x</p:attrName>
                                        </p:attrNameLst>
                                      </p:cBhvr>
                                      <p:tavLst>
                                        <p:tav tm="0">
                                          <p:val>
                                            <p:strVal val="#ppt_x"/>
                                          </p:val>
                                        </p:tav>
                                        <p:tav tm="100000">
                                          <p:val>
                                            <p:strVal val="#ppt_x"/>
                                          </p:val>
                                        </p:tav>
                                      </p:tavLst>
                                    </p:anim>
                                    <p:anim calcmode="lin" valueType="num">
                                      <p:cBhvr>
                                        <p:cTn id="14" dur="1000" fill="hold"/>
                                        <p:tgtEl>
                                          <p:spTgt spid="1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1000"/>
                                        <p:tgtEl>
                                          <p:spTgt spid="16"/>
                                        </p:tgtEl>
                                      </p:cBhvr>
                                    </p:animEffect>
                                    <p:anim calcmode="lin" valueType="num">
                                      <p:cBhvr>
                                        <p:cTn id="25" dur="1000" fill="hold"/>
                                        <p:tgtEl>
                                          <p:spTgt spid="16"/>
                                        </p:tgtEl>
                                        <p:attrNameLst>
                                          <p:attrName>ppt_x</p:attrName>
                                        </p:attrNameLst>
                                      </p:cBhvr>
                                      <p:tavLst>
                                        <p:tav tm="0">
                                          <p:val>
                                            <p:strVal val="#ppt_x"/>
                                          </p:val>
                                        </p:tav>
                                        <p:tav tm="100000">
                                          <p:val>
                                            <p:strVal val="#ppt_x"/>
                                          </p:val>
                                        </p:tav>
                                      </p:tavLst>
                                    </p:anim>
                                    <p:anim calcmode="lin" valueType="num">
                                      <p:cBhvr>
                                        <p:cTn id="2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1000"/>
                                        <p:tgtEl>
                                          <p:spTgt spid="21"/>
                                        </p:tgtEl>
                                      </p:cBhvr>
                                    </p:animEffect>
                                    <p:anim calcmode="lin" valueType="num">
                                      <p:cBhvr>
                                        <p:cTn id="32" dur="1000" fill="hold"/>
                                        <p:tgtEl>
                                          <p:spTgt spid="21"/>
                                        </p:tgtEl>
                                        <p:attrNameLst>
                                          <p:attrName>ppt_x</p:attrName>
                                        </p:attrNameLst>
                                      </p:cBhvr>
                                      <p:tavLst>
                                        <p:tav tm="0">
                                          <p:val>
                                            <p:strVal val="#ppt_x"/>
                                          </p:val>
                                        </p:tav>
                                        <p:tav tm="100000">
                                          <p:val>
                                            <p:strVal val="#ppt_x"/>
                                          </p:val>
                                        </p:tav>
                                      </p:tavLst>
                                    </p:anim>
                                    <p:anim calcmode="lin" valueType="num">
                                      <p:cBhvr>
                                        <p:cTn id="33" dur="1000" fill="hold"/>
                                        <p:tgtEl>
                                          <p:spTgt spid="21"/>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1000"/>
                                        <p:tgtEl>
                                          <p:spTgt spid="20"/>
                                        </p:tgtEl>
                                      </p:cBhvr>
                                    </p:animEffect>
                                    <p:anim calcmode="lin" valueType="num">
                                      <p:cBhvr>
                                        <p:cTn id="37" dur="1000" fill="hold"/>
                                        <p:tgtEl>
                                          <p:spTgt spid="20"/>
                                        </p:tgtEl>
                                        <p:attrNameLst>
                                          <p:attrName>ppt_x</p:attrName>
                                        </p:attrNameLst>
                                      </p:cBhvr>
                                      <p:tavLst>
                                        <p:tav tm="0">
                                          <p:val>
                                            <p:strVal val="#ppt_x"/>
                                          </p:val>
                                        </p:tav>
                                        <p:tav tm="100000">
                                          <p:val>
                                            <p:strVal val="#ppt_x"/>
                                          </p:val>
                                        </p:tav>
                                      </p:tavLst>
                                    </p:anim>
                                    <p:anim calcmode="lin" valueType="num">
                                      <p:cBhvr>
                                        <p:cTn id="38" dur="1000" fill="hold"/>
                                        <p:tgtEl>
                                          <p:spTgt spid="2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1000"/>
                                        <p:tgtEl>
                                          <p:spTgt spid="10"/>
                                        </p:tgtEl>
                                      </p:cBhvr>
                                    </p:animEffect>
                                    <p:anim calcmode="lin" valueType="num">
                                      <p:cBhvr>
                                        <p:cTn id="49" dur="1000" fill="hold"/>
                                        <p:tgtEl>
                                          <p:spTgt spid="10"/>
                                        </p:tgtEl>
                                        <p:attrNameLst>
                                          <p:attrName>ppt_x</p:attrName>
                                        </p:attrNameLst>
                                      </p:cBhvr>
                                      <p:tavLst>
                                        <p:tav tm="0">
                                          <p:val>
                                            <p:strVal val="#ppt_x"/>
                                          </p:val>
                                        </p:tav>
                                        <p:tav tm="100000">
                                          <p:val>
                                            <p:strVal val="#ppt_x"/>
                                          </p:val>
                                        </p:tav>
                                      </p:tavLst>
                                    </p:anim>
                                    <p:anim calcmode="lin" valueType="num">
                                      <p:cBhvr>
                                        <p:cTn id="5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8">
                                            <p:txEl>
                                              <p:pRg st="0" end="0"/>
                                            </p:txEl>
                                          </p:spTgt>
                                        </p:tgtEl>
                                        <p:attrNameLst>
                                          <p:attrName>style.visibility</p:attrName>
                                        </p:attrNameLst>
                                      </p:cBhvr>
                                      <p:to>
                                        <p:strVal val="visible"/>
                                      </p:to>
                                    </p:set>
                                    <p:animEffect transition="in" filter="fade">
                                      <p:cBhvr>
                                        <p:cTn id="55" dur="1000"/>
                                        <p:tgtEl>
                                          <p:spTgt spid="18">
                                            <p:txEl>
                                              <p:pRg st="0" end="0"/>
                                            </p:txEl>
                                          </p:spTgt>
                                        </p:tgtEl>
                                      </p:cBhvr>
                                    </p:animEffect>
                                    <p:anim calcmode="lin" valueType="num">
                                      <p:cBhvr>
                                        <p:cTn id="56" dur="1000" fill="hold"/>
                                        <p:tgtEl>
                                          <p:spTgt spid="18">
                                            <p:txEl>
                                              <p:pRg st="0" end="0"/>
                                            </p:txEl>
                                          </p:spTgt>
                                        </p:tgtEl>
                                        <p:attrNameLst>
                                          <p:attrName>ppt_x</p:attrName>
                                        </p:attrNameLst>
                                      </p:cBhvr>
                                      <p:tavLst>
                                        <p:tav tm="0">
                                          <p:val>
                                            <p:strVal val="#ppt_x"/>
                                          </p:val>
                                        </p:tav>
                                        <p:tav tm="100000">
                                          <p:val>
                                            <p:strVal val="#ppt_x"/>
                                          </p:val>
                                        </p:tav>
                                      </p:tavLst>
                                    </p:anim>
                                    <p:anim calcmode="lin" valueType="num">
                                      <p:cBhvr>
                                        <p:cTn id="57" dur="1000" fill="hold"/>
                                        <p:tgtEl>
                                          <p:spTgt spid="18">
                                            <p:txEl>
                                              <p:pRg st="0" end="0"/>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8">
                                            <p:txEl>
                                              <p:pRg st="1" end="1"/>
                                            </p:txEl>
                                          </p:spTgt>
                                        </p:tgtEl>
                                        <p:attrNameLst>
                                          <p:attrName>style.visibility</p:attrName>
                                        </p:attrNameLst>
                                      </p:cBhvr>
                                      <p:to>
                                        <p:strVal val="visible"/>
                                      </p:to>
                                    </p:set>
                                    <p:animEffect transition="in" filter="fade">
                                      <p:cBhvr>
                                        <p:cTn id="60" dur="1000"/>
                                        <p:tgtEl>
                                          <p:spTgt spid="18">
                                            <p:txEl>
                                              <p:pRg st="1" end="1"/>
                                            </p:txEl>
                                          </p:spTgt>
                                        </p:tgtEl>
                                      </p:cBhvr>
                                    </p:animEffect>
                                    <p:anim calcmode="lin" valueType="num">
                                      <p:cBhvr>
                                        <p:cTn id="61" dur="1000" fill="hold"/>
                                        <p:tgtEl>
                                          <p:spTgt spid="18">
                                            <p:txEl>
                                              <p:pRg st="1" end="1"/>
                                            </p:txEl>
                                          </p:spTgt>
                                        </p:tgtEl>
                                        <p:attrNameLst>
                                          <p:attrName>ppt_x</p:attrName>
                                        </p:attrNameLst>
                                      </p:cBhvr>
                                      <p:tavLst>
                                        <p:tav tm="0">
                                          <p:val>
                                            <p:strVal val="#ppt_x"/>
                                          </p:val>
                                        </p:tav>
                                        <p:tav tm="100000">
                                          <p:val>
                                            <p:strVal val="#ppt_x"/>
                                          </p:val>
                                        </p:tav>
                                      </p:tavLst>
                                    </p:anim>
                                    <p:anim calcmode="lin" valueType="num">
                                      <p:cBhvr>
                                        <p:cTn id="62" dur="1000" fill="hold"/>
                                        <p:tgtEl>
                                          <p:spTgt spid="1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1" grpId="0"/>
      <p:bldP spid="12" grpId="0"/>
      <p:bldP spid="16" grpId="0" animBg="1"/>
      <p:bldP spid="21" grpId="0" animBg="1"/>
      <p:bldP spid="7" grpId="0"/>
      <p:bldP spid="10" grpId="0"/>
      <p:bldP spid="18" grpId="0" build="allAtOnce"/>
      <p:bldP spid="2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F194F-9309-8638-81B6-BF0A5D07508E}"/>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245DCB9-0549-9106-8A81-73DFD9705289}"/>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36C3AC0C-C1EB-7A23-5659-FF2ACE6FAE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91D155C8-CA01-EF7B-A905-1D6891008206}"/>
              </a:ext>
            </a:extLst>
          </p:cNvPr>
          <p:cNvCxnSpPr>
            <a:cxnSpLocks/>
          </p:cNvCxnSpPr>
          <p:nvPr/>
        </p:nvCxnSpPr>
        <p:spPr>
          <a:xfrm>
            <a:off x="435005" y="947129"/>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9CB61C1-B707-7AA7-95BC-0414EACB8991}"/>
              </a:ext>
            </a:extLst>
          </p:cNvPr>
          <p:cNvSpPr txBox="1"/>
          <p:nvPr/>
        </p:nvSpPr>
        <p:spPr>
          <a:xfrm>
            <a:off x="550276" y="338293"/>
            <a:ext cx="4177747" cy="584775"/>
          </a:xfrm>
          <a:prstGeom prst="rect">
            <a:avLst/>
          </a:prstGeom>
          <a:noFill/>
        </p:spPr>
        <p:txBody>
          <a:bodyPr wrap="none" rtlCol="0">
            <a:spAutoFit/>
          </a:bodyPr>
          <a:lstStyle/>
          <a:p>
            <a:r>
              <a:rPr lang="en-US" sz="3200" b="1" dirty="0">
                <a:solidFill>
                  <a:srgbClr val="0070C0"/>
                </a:solidFill>
                <a:latin typeface="Söhne"/>
              </a:rPr>
              <a:t>Experimental Overview</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8B659C30-9258-9891-B6D0-6B0C7D5075F5}"/>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7B9EB3AA-9514-7D02-535B-3F5F5C28D470}"/>
              </a:ext>
            </a:extLst>
          </p:cNvPr>
          <p:cNvSpPr/>
          <p:nvPr/>
        </p:nvSpPr>
        <p:spPr>
          <a:xfrm>
            <a:off x="435004" y="1030790"/>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What was tested and how</a:t>
            </a:r>
            <a:endParaRPr lang="en-GB" b="1" dirty="0">
              <a:latin typeface="Söhne"/>
            </a:endParaRPr>
          </a:p>
        </p:txBody>
      </p:sp>
      <p:sp>
        <p:nvSpPr>
          <p:cNvPr id="2" name="Decagon 1">
            <a:extLst>
              <a:ext uri="{FF2B5EF4-FFF2-40B4-BE49-F238E27FC236}">
                <a16:creationId xmlns:a16="http://schemas.microsoft.com/office/drawing/2014/main" id="{3C3E7982-747C-1503-FC3F-3878A16C7C1A}"/>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8</a:t>
            </a:r>
            <a:endParaRPr lang="en-US" b="1" dirty="0">
              <a:latin typeface="Söhne"/>
              <a:cs typeface="Times New Roman" panose="02020603050405020304" pitchFamily="18" charset="0"/>
            </a:endParaRPr>
          </a:p>
        </p:txBody>
      </p:sp>
      <p:sp>
        <p:nvSpPr>
          <p:cNvPr id="3" name="Rectangle 2">
            <a:extLst>
              <a:ext uri="{FF2B5EF4-FFF2-40B4-BE49-F238E27FC236}">
                <a16:creationId xmlns:a16="http://schemas.microsoft.com/office/drawing/2014/main" id="{73DAADFD-5587-4A2E-9A18-1CC297482423}"/>
              </a:ext>
            </a:extLst>
          </p:cNvPr>
          <p:cNvSpPr/>
          <p:nvPr/>
        </p:nvSpPr>
        <p:spPr>
          <a:xfrm>
            <a:off x="468642" y="2161994"/>
            <a:ext cx="5590367" cy="2259086"/>
          </a:xfrm>
          <a:prstGeom prst="rect">
            <a:avLst/>
          </a:prstGeom>
          <a:solidFill>
            <a:srgbClr val="E7FAF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600"/>
              </a:spcAft>
              <a:buNone/>
            </a:pPr>
            <a:r>
              <a:rPr lang="en-US" sz="1500" b="1" i="0" dirty="0">
                <a:solidFill>
                  <a:srgbClr val="0A2342"/>
                </a:solidFill>
                <a:effectLst/>
                <a:latin typeface="Segoe UI" panose="020B0502040204020203" pitchFamily="34" charset="0"/>
              </a:rPr>
              <a:t>Simulation Environment</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Type:</a:t>
            </a:r>
            <a:r>
              <a:rPr lang="en-US" sz="1500" b="0" i="0" dirty="0">
                <a:solidFill>
                  <a:srgbClr val="4A4A4A"/>
                </a:solidFill>
                <a:effectLst/>
                <a:latin typeface="Segoe UI" panose="020B0502040204020203" pitchFamily="34" charset="0"/>
              </a:rPr>
              <a:t> Custom Python-based MEC simulator</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Framework:</a:t>
            </a:r>
            <a:r>
              <a:rPr lang="en-US" sz="1500" b="0" i="0" dirty="0">
                <a:solidFill>
                  <a:srgbClr val="4A4A4A"/>
                </a:solidFill>
                <a:effectLst/>
                <a:latin typeface="Segoe UI" panose="020B0502040204020203" pitchFamily="34" charset="0"/>
              </a:rPr>
              <a:t> Python 3.8 with </a:t>
            </a:r>
            <a:r>
              <a:rPr lang="en-US" sz="1500" b="0" i="0" dirty="0" err="1">
                <a:solidFill>
                  <a:srgbClr val="4A4A4A"/>
                </a:solidFill>
                <a:effectLst/>
                <a:latin typeface="Segoe UI" panose="020B0502040204020203" pitchFamily="34" charset="0"/>
              </a:rPr>
              <a:t>PyTorch</a:t>
            </a:r>
            <a:r>
              <a:rPr lang="en-US" sz="1500" b="0" i="0" dirty="0">
                <a:solidFill>
                  <a:srgbClr val="4A4A4A"/>
                </a:solidFill>
                <a:effectLst/>
                <a:latin typeface="Segoe UI" panose="020B0502040204020203" pitchFamily="34" charset="0"/>
              </a:rPr>
              <a:t> 1.8.0</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Hardware:</a:t>
            </a:r>
            <a:r>
              <a:rPr lang="en-US" sz="1500" b="0" i="0" dirty="0">
                <a:solidFill>
                  <a:srgbClr val="4A4A4A"/>
                </a:solidFill>
                <a:effectLst/>
                <a:latin typeface="Segoe UI" panose="020B0502040204020203" pitchFamily="34" charset="0"/>
              </a:rPr>
              <a:t> Intel i5-10210U CPU</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Purpose:</a:t>
            </a:r>
            <a:r>
              <a:rPr lang="en-US" sz="1500" b="0" i="0" dirty="0">
                <a:solidFill>
                  <a:srgbClr val="4A4A4A"/>
                </a:solidFill>
                <a:effectLst/>
                <a:latin typeface="Segoe UI" panose="020B0502040204020203" pitchFamily="34" charset="0"/>
              </a:rPr>
              <a:t> Evaluate PTORA in dynamic MEC scenarios</a:t>
            </a:r>
          </a:p>
          <a:p>
            <a:pPr algn="ctr"/>
            <a:endParaRPr lang="en-US" sz="1500" dirty="0">
              <a:latin typeface="Söhne"/>
            </a:endParaRPr>
          </a:p>
        </p:txBody>
      </p:sp>
      <p:sp>
        <p:nvSpPr>
          <p:cNvPr id="5" name="Rectangle 4">
            <a:extLst>
              <a:ext uri="{FF2B5EF4-FFF2-40B4-BE49-F238E27FC236}">
                <a16:creationId xmlns:a16="http://schemas.microsoft.com/office/drawing/2014/main" id="{5064BAA4-9088-C406-FE37-71EFB3B67582}"/>
              </a:ext>
            </a:extLst>
          </p:cNvPr>
          <p:cNvSpPr/>
          <p:nvPr/>
        </p:nvSpPr>
        <p:spPr>
          <a:xfrm>
            <a:off x="6199433" y="2161995"/>
            <a:ext cx="5545724" cy="2259086"/>
          </a:xfrm>
          <a:prstGeom prst="rect">
            <a:avLst/>
          </a:prstGeom>
          <a:solidFill>
            <a:srgbClr val="E7FAFE"/>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600"/>
              </a:spcAft>
              <a:buNone/>
            </a:pPr>
            <a:r>
              <a:rPr lang="en-US" sz="1500" b="1" i="0" dirty="0">
                <a:solidFill>
                  <a:srgbClr val="0A2342"/>
                </a:solidFill>
                <a:effectLst/>
                <a:latin typeface="Segoe UI" panose="020B0502040204020203" pitchFamily="34" charset="0"/>
              </a:rPr>
              <a:t>What Was Measured</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Primary metric:</a:t>
            </a:r>
            <a:r>
              <a:rPr lang="en-US" sz="1500" b="0" i="0" dirty="0">
                <a:solidFill>
                  <a:srgbClr val="4A4A4A"/>
                </a:solidFill>
                <a:effectLst/>
                <a:latin typeface="Segoe UI" panose="020B0502040204020203" pitchFamily="34" charset="0"/>
              </a:rPr>
              <a:t> Weighted delay-energy cost</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Convergence:</a:t>
            </a:r>
            <a:r>
              <a:rPr lang="en-US" sz="1500" b="0" i="0" dirty="0">
                <a:solidFill>
                  <a:srgbClr val="4A4A4A"/>
                </a:solidFill>
                <a:effectLst/>
                <a:latin typeface="Segoe UI" panose="020B0502040204020203" pitchFamily="34" charset="0"/>
              </a:rPr>
              <a:t> Accumulated rewards over episodes</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Scalability:</a:t>
            </a:r>
            <a:r>
              <a:rPr lang="en-US" sz="1500" b="0" i="0" dirty="0">
                <a:solidFill>
                  <a:srgbClr val="4A4A4A"/>
                </a:solidFill>
                <a:effectLst/>
                <a:latin typeface="Segoe UI" panose="020B0502040204020203" pitchFamily="34" charset="0"/>
              </a:rPr>
              <a:t> Performance with varying </a:t>
            </a:r>
            <a:r>
              <a:rPr lang="en-US" sz="1500" dirty="0">
                <a:solidFill>
                  <a:srgbClr val="4A4A4A"/>
                </a:solidFill>
                <a:latin typeface="Segoe UI" panose="020B0502040204020203" pitchFamily="34" charset="0"/>
              </a:rPr>
              <a:t>edge server</a:t>
            </a:r>
            <a:r>
              <a:rPr lang="en-US" sz="1500" b="0" i="0" dirty="0">
                <a:solidFill>
                  <a:srgbClr val="4A4A4A"/>
                </a:solidFill>
                <a:effectLst/>
                <a:latin typeface="Segoe UI" panose="020B0502040204020203" pitchFamily="34" charset="0"/>
              </a:rPr>
              <a:t> capacity</a:t>
            </a:r>
          </a:p>
          <a:p>
            <a:pPr marL="285750" indent="-285750" algn="l">
              <a:spcBef>
                <a:spcPts val="450"/>
              </a:spcBef>
              <a:buFont typeface="Arial" panose="020B0604020202020204" pitchFamily="34" charset="0"/>
              <a:buChar char="•"/>
            </a:pPr>
            <a:r>
              <a:rPr lang="en-US" sz="1500" b="1" i="0" dirty="0">
                <a:solidFill>
                  <a:srgbClr val="0A2342"/>
                </a:solidFill>
                <a:effectLst/>
                <a:latin typeface="Segoe UI" panose="020B0502040204020203" pitchFamily="34" charset="0"/>
              </a:rPr>
              <a:t>Adaptability:</a:t>
            </a:r>
            <a:r>
              <a:rPr lang="en-US" sz="1500" b="0" i="0" dirty="0">
                <a:solidFill>
                  <a:srgbClr val="4A4A4A"/>
                </a:solidFill>
                <a:effectLst/>
                <a:latin typeface="Segoe UI" panose="020B0502040204020203" pitchFamily="34" charset="0"/>
              </a:rPr>
              <a:t> Different delay-energy trade-offs</a:t>
            </a:r>
          </a:p>
          <a:p>
            <a:pPr algn="ctr"/>
            <a:endParaRPr lang="en-US" sz="1500" dirty="0">
              <a:latin typeface="Söhne"/>
            </a:endParaRPr>
          </a:p>
        </p:txBody>
      </p:sp>
      <p:sp>
        <p:nvSpPr>
          <p:cNvPr id="4" name="Rectangle: Rounded Corners 3">
            <a:extLst>
              <a:ext uri="{FF2B5EF4-FFF2-40B4-BE49-F238E27FC236}">
                <a16:creationId xmlns:a16="http://schemas.microsoft.com/office/drawing/2014/main" id="{63328408-BCD4-601A-8DD2-21D4CF94B3BB}"/>
              </a:ext>
            </a:extLst>
          </p:cNvPr>
          <p:cNvSpPr/>
          <p:nvPr/>
        </p:nvSpPr>
        <p:spPr>
          <a:xfrm>
            <a:off x="472836" y="1447207"/>
            <a:ext cx="11272321" cy="562148"/>
          </a:xfrm>
          <a:prstGeom prst="roundRect">
            <a:avLst>
              <a:gd name="adj" fmla="val 7285"/>
            </a:avLst>
          </a:prstGeom>
          <a:solidFill>
            <a:srgbClr val="85EE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200" b="1" i="0" dirty="0">
                <a:solidFill>
                  <a:srgbClr val="0A2342"/>
                </a:solidFill>
                <a:effectLst/>
                <a:latin typeface="Segoe UI" panose="020B0502040204020203" pitchFamily="34" charset="0"/>
              </a:rPr>
              <a:t>The paper uses SIMULATION-BASED EXPERIMENTS — No real-world dataset, but a comprehensive MEC network simulator with realistic parameters</a:t>
            </a:r>
            <a:endParaRPr lang="en-US" sz="1200" i="0" dirty="0">
              <a:solidFill>
                <a:srgbClr val="000000"/>
              </a:solidFill>
              <a:effectLst/>
              <a:latin typeface="Söhne"/>
            </a:endParaRPr>
          </a:p>
        </p:txBody>
      </p:sp>
      <p:sp>
        <p:nvSpPr>
          <p:cNvPr id="7" name="Rectangle 6">
            <a:extLst>
              <a:ext uri="{FF2B5EF4-FFF2-40B4-BE49-F238E27FC236}">
                <a16:creationId xmlns:a16="http://schemas.microsoft.com/office/drawing/2014/main" id="{1758504F-794C-241C-BE8D-E86003C87F71}"/>
              </a:ext>
            </a:extLst>
          </p:cNvPr>
          <p:cNvSpPr/>
          <p:nvPr/>
        </p:nvSpPr>
        <p:spPr>
          <a:xfrm>
            <a:off x="477917" y="4564163"/>
            <a:ext cx="11310151" cy="1680312"/>
          </a:xfrm>
          <a:prstGeom prst="rect">
            <a:avLst/>
          </a:prstGeom>
          <a:noFill/>
          <a:ln>
            <a:solidFill>
              <a:srgbClr val="00B0F0"/>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endParaRPr lang="en-US" sz="1600" b="0" i="0" dirty="0">
              <a:solidFill>
                <a:srgbClr val="000000"/>
              </a:solidFill>
              <a:effectLst/>
              <a:latin typeface="Söhne"/>
            </a:endParaRPr>
          </a:p>
        </p:txBody>
      </p:sp>
      <p:sp>
        <p:nvSpPr>
          <p:cNvPr id="13" name="Rectangle: Rounded Corners 12">
            <a:extLst>
              <a:ext uri="{FF2B5EF4-FFF2-40B4-BE49-F238E27FC236}">
                <a16:creationId xmlns:a16="http://schemas.microsoft.com/office/drawing/2014/main" id="{6709BBAF-2C43-0C07-30D5-1A97D9DC650B}"/>
              </a:ext>
            </a:extLst>
          </p:cNvPr>
          <p:cNvSpPr/>
          <p:nvPr/>
        </p:nvSpPr>
        <p:spPr>
          <a:xfrm>
            <a:off x="690503" y="5149049"/>
            <a:ext cx="2880000" cy="962913"/>
          </a:xfrm>
          <a:prstGeom prst="roundRect">
            <a:avLst>
              <a:gd name="adj" fmla="val 5832"/>
            </a:avLst>
          </a:prstGeom>
          <a:solidFill>
            <a:schemeClr val="bg1"/>
          </a:solidFill>
          <a:ln>
            <a:solidFill>
              <a:srgbClr val="69EA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450"/>
              </a:spcAft>
              <a:buNone/>
            </a:pPr>
            <a:r>
              <a:rPr lang="en-US" sz="1200" b="1" i="0" dirty="0">
                <a:solidFill>
                  <a:srgbClr val="0A2342"/>
                </a:solidFill>
                <a:effectLst/>
                <a:latin typeface="Segoe UI" panose="020B0502040204020203" pitchFamily="34" charset="0"/>
              </a:rPr>
              <a:t>Dynamic MEC Network</a:t>
            </a:r>
          </a:p>
          <a:p>
            <a:pPr>
              <a:buNone/>
            </a:pPr>
            <a:r>
              <a:rPr lang="en-US" sz="1200" b="0" i="0" dirty="0">
                <a:solidFill>
                  <a:srgbClr val="4A4A4A"/>
                </a:solidFill>
                <a:effectLst/>
                <a:latin typeface="Segoe UI" panose="020B0502040204020203" pitchFamily="34" charset="0"/>
              </a:rPr>
              <a:t>Mobile terminals with time-varying channels and mobility</a:t>
            </a:r>
          </a:p>
        </p:txBody>
      </p:sp>
      <p:sp>
        <p:nvSpPr>
          <p:cNvPr id="20" name="TextBox 19">
            <a:extLst>
              <a:ext uri="{FF2B5EF4-FFF2-40B4-BE49-F238E27FC236}">
                <a16:creationId xmlns:a16="http://schemas.microsoft.com/office/drawing/2014/main" id="{E59EDB14-F161-737E-19C3-B8E254E355A5}"/>
              </a:ext>
            </a:extLst>
          </p:cNvPr>
          <p:cNvSpPr txBox="1"/>
          <p:nvPr/>
        </p:nvSpPr>
        <p:spPr>
          <a:xfrm>
            <a:off x="4214568" y="4667412"/>
            <a:ext cx="3836848" cy="338554"/>
          </a:xfrm>
          <a:prstGeom prst="rect">
            <a:avLst/>
          </a:prstGeom>
          <a:noFill/>
        </p:spPr>
        <p:txBody>
          <a:bodyPr wrap="square">
            <a:spAutoFit/>
          </a:bodyPr>
          <a:lstStyle/>
          <a:p>
            <a:pPr algn="ctr">
              <a:spcAft>
                <a:spcPts val="1125"/>
              </a:spcAft>
              <a:buNone/>
            </a:pPr>
            <a:r>
              <a:rPr lang="en-US" sz="1600" b="1" i="0" dirty="0">
                <a:solidFill>
                  <a:srgbClr val="0A2342"/>
                </a:solidFill>
                <a:effectLst/>
                <a:latin typeface="Segoe UI" panose="020B0502040204020203" pitchFamily="34" charset="0"/>
              </a:rPr>
              <a:t>Key Characteristics</a:t>
            </a:r>
            <a:endParaRPr lang="en-US" sz="1600" b="1" i="0" dirty="0">
              <a:solidFill>
                <a:srgbClr val="667EEA"/>
              </a:solidFill>
              <a:effectLst/>
              <a:latin typeface="Söhne"/>
            </a:endParaRPr>
          </a:p>
        </p:txBody>
      </p:sp>
      <p:sp>
        <p:nvSpPr>
          <p:cNvPr id="21" name="Rectangle: Rounded Corners 20">
            <a:extLst>
              <a:ext uri="{FF2B5EF4-FFF2-40B4-BE49-F238E27FC236}">
                <a16:creationId xmlns:a16="http://schemas.microsoft.com/office/drawing/2014/main" id="{EA493731-E82D-C356-FB96-9E6F6A254E47}"/>
              </a:ext>
            </a:extLst>
          </p:cNvPr>
          <p:cNvSpPr/>
          <p:nvPr/>
        </p:nvSpPr>
        <p:spPr>
          <a:xfrm>
            <a:off x="4331607" y="5149049"/>
            <a:ext cx="3148956" cy="962913"/>
          </a:xfrm>
          <a:prstGeom prst="roundRect">
            <a:avLst>
              <a:gd name="adj" fmla="val 5195"/>
            </a:avLst>
          </a:prstGeom>
          <a:solidFill>
            <a:schemeClr val="bg1"/>
          </a:solidFill>
          <a:ln>
            <a:solidFill>
              <a:srgbClr val="69EA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450"/>
              </a:spcAft>
              <a:buNone/>
            </a:pPr>
            <a:r>
              <a:rPr lang="en-US" sz="1200" b="1" i="0" dirty="0">
                <a:solidFill>
                  <a:srgbClr val="0A2342"/>
                </a:solidFill>
                <a:effectLst/>
                <a:latin typeface="Segoe UI" panose="020B0502040204020203" pitchFamily="34" charset="0"/>
              </a:rPr>
              <a:t>Inter-user Dependencies</a:t>
            </a:r>
          </a:p>
          <a:p>
            <a:pPr algn="l">
              <a:buNone/>
            </a:pPr>
            <a:r>
              <a:rPr lang="en-US" sz="1200" b="0" i="0" dirty="0">
                <a:solidFill>
                  <a:srgbClr val="4A4A4A"/>
                </a:solidFill>
                <a:effectLst/>
                <a:latin typeface="Segoe UI" panose="020B0502040204020203" pitchFamily="34" charset="0"/>
              </a:rPr>
              <a:t>Tasks structured as DAGs spanning multiple users</a:t>
            </a:r>
          </a:p>
        </p:txBody>
      </p:sp>
      <p:sp>
        <p:nvSpPr>
          <p:cNvPr id="22" name="Rectangle: Rounded Corners 21">
            <a:extLst>
              <a:ext uri="{FF2B5EF4-FFF2-40B4-BE49-F238E27FC236}">
                <a16:creationId xmlns:a16="http://schemas.microsoft.com/office/drawing/2014/main" id="{156C3157-0EFF-7DAB-24E6-5A3B5D01E1F1}"/>
              </a:ext>
            </a:extLst>
          </p:cNvPr>
          <p:cNvSpPr/>
          <p:nvPr/>
        </p:nvSpPr>
        <p:spPr>
          <a:xfrm>
            <a:off x="8241667" y="5149048"/>
            <a:ext cx="3386187" cy="962913"/>
          </a:xfrm>
          <a:prstGeom prst="roundRect">
            <a:avLst>
              <a:gd name="adj" fmla="val 8382"/>
            </a:avLst>
          </a:prstGeom>
          <a:solidFill>
            <a:schemeClr val="bg1"/>
          </a:solidFill>
          <a:ln>
            <a:solidFill>
              <a:srgbClr val="69EAFF"/>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450"/>
              </a:spcAft>
              <a:buNone/>
            </a:pPr>
            <a:r>
              <a:rPr lang="en-US" sz="1200" b="1" i="0" dirty="0">
                <a:solidFill>
                  <a:srgbClr val="0A2342"/>
                </a:solidFill>
                <a:effectLst/>
                <a:latin typeface="Segoe UI" panose="020B0502040204020203" pitchFamily="34" charset="0"/>
              </a:rPr>
              <a:t>Real-time Requirements</a:t>
            </a:r>
          </a:p>
          <a:p>
            <a:pPr algn="l">
              <a:buNone/>
            </a:pPr>
            <a:r>
              <a:rPr lang="en-US" sz="1200" b="0" i="0" dirty="0">
                <a:solidFill>
                  <a:srgbClr val="4A4A4A"/>
                </a:solidFill>
                <a:effectLst/>
                <a:latin typeface="Segoe UI" panose="020B0502040204020203" pitchFamily="34" charset="0"/>
              </a:rPr>
              <a:t>Fast decision-making without prior knowledge</a:t>
            </a:r>
          </a:p>
        </p:txBody>
      </p:sp>
    </p:spTree>
    <p:extLst>
      <p:ext uri="{BB962C8B-B14F-4D97-AF65-F5344CB8AC3E}">
        <p14:creationId xmlns:p14="http://schemas.microsoft.com/office/powerpoint/2010/main" val="2791909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1000"/>
                                        <p:tgtEl>
                                          <p:spTgt spid="20"/>
                                        </p:tgtEl>
                                      </p:cBhvr>
                                    </p:animEffect>
                                    <p:anim calcmode="lin" valueType="num">
                                      <p:cBhvr>
                                        <p:cTn id="34" dur="1000" fill="hold"/>
                                        <p:tgtEl>
                                          <p:spTgt spid="20"/>
                                        </p:tgtEl>
                                        <p:attrNameLst>
                                          <p:attrName>ppt_x</p:attrName>
                                        </p:attrNameLst>
                                      </p:cBhvr>
                                      <p:tavLst>
                                        <p:tav tm="0">
                                          <p:val>
                                            <p:strVal val="#ppt_x"/>
                                          </p:val>
                                        </p:tav>
                                        <p:tav tm="100000">
                                          <p:val>
                                            <p:strVal val="#ppt_x"/>
                                          </p:val>
                                        </p:tav>
                                      </p:tavLst>
                                    </p:anim>
                                    <p:anim calcmode="lin" valueType="num">
                                      <p:cBhvr>
                                        <p:cTn id="35" dur="1000" fill="hold"/>
                                        <p:tgtEl>
                                          <p:spTgt spid="2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1000"/>
                                        <p:tgtEl>
                                          <p:spTgt spid="13"/>
                                        </p:tgtEl>
                                      </p:cBhvr>
                                    </p:animEffect>
                                    <p:anim calcmode="lin" valueType="num">
                                      <p:cBhvr>
                                        <p:cTn id="39" dur="1000" fill="hold"/>
                                        <p:tgtEl>
                                          <p:spTgt spid="13"/>
                                        </p:tgtEl>
                                        <p:attrNameLst>
                                          <p:attrName>ppt_x</p:attrName>
                                        </p:attrNameLst>
                                      </p:cBhvr>
                                      <p:tavLst>
                                        <p:tav tm="0">
                                          <p:val>
                                            <p:strVal val="#ppt_x"/>
                                          </p:val>
                                        </p:tav>
                                        <p:tav tm="100000">
                                          <p:val>
                                            <p:strVal val="#ppt_x"/>
                                          </p:val>
                                        </p:tav>
                                      </p:tavLst>
                                    </p:anim>
                                    <p:anim calcmode="lin" valueType="num">
                                      <p:cBhvr>
                                        <p:cTn id="40"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1000"/>
                                        <p:tgtEl>
                                          <p:spTgt spid="21"/>
                                        </p:tgtEl>
                                      </p:cBhvr>
                                    </p:animEffect>
                                    <p:anim calcmode="lin" valueType="num">
                                      <p:cBhvr>
                                        <p:cTn id="46" dur="1000" fill="hold"/>
                                        <p:tgtEl>
                                          <p:spTgt spid="21"/>
                                        </p:tgtEl>
                                        <p:attrNameLst>
                                          <p:attrName>ppt_x</p:attrName>
                                        </p:attrNameLst>
                                      </p:cBhvr>
                                      <p:tavLst>
                                        <p:tav tm="0">
                                          <p:val>
                                            <p:strVal val="#ppt_x"/>
                                          </p:val>
                                        </p:tav>
                                        <p:tav tm="100000">
                                          <p:val>
                                            <p:strVal val="#ppt_x"/>
                                          </p:val>
                                        </p:tav>
                                      </p:tavLst>
                                    </p:anim>
                                    <p:anim calcmode="lin" valueType="num">
                                      <p:cBhvr>
                                        <p:cTn id="47"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1000"/>
                                        <p:tgtEl>
                                          <p:spTgt spid="22"/>
                                        </p:tgtEl>
                                      </p:cBhvr>
                                    </p:animEffect>
                                    <p:anim calcmode="lin" valueType="num">
                                      <p:cBhvr>
                                        <p:cTn id="53" dur="1000" fill="hold"/>
                                        <p:tgtEl>
                                          <p:spTgt spid="22"/>
                                        </p:tgtEl>
                                        <p:attrNameLst>
                                          <p:attrName>ppt_x</p:attrName>
                                        </p:attrNameLst>
                                      </p:cBhvr>
                                      <p:tavLst>
                                        <p:tav tm="0">
                                          <p:val>
                                            <p:strVal val="#ppt_x"/>
                                          </p:val>
                                        </p:tav>
                                        <p:tav tm="100000">
                                          <p:val>
                                            <p:strVal val="#ppt_x"/>
                                          </p:val>
                                        </p:tav>
                                      </p:tavLst>
                                    </p:anim>
                                    <p:anim calcmode="lin" valueType="num">
                                      <p:cBhvr>
                                        <p:cTn id="54"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4" grpId="0" animBg="1"/>
      <p:bldP spid="7" grpId="0" animBg="1"/>
      <p:bldP spid="13" grpId="0" animBg="1"/>
      <p:bldP spid="20" grpId="0"/>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6D6A6-097E-B1CC-976D-E7C24E098CDE}"/>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EA516FA-A462-5EB8-9568-5B92BE97248F}"/>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F831916D-CC1C-9ADC-300E-7BE27218FA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5F730DD9-67FC-343A-8EA3-B04A9CD1EA4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B308AEF-88EC-9844-A46A-D8E36C8A296E}"/>
              </a:ext>
            </a:extLst>
          </p:cNvPr>
          <p:cNvSpPr txBox="1"/>
          <p:nvPr/>
        </p:nvSpPr>
        <p:spPr>
          <a:xfrm>
            <a:off x="550276" y="338293"/>
            <a:ext cx="2907334" cy="584775"/>
          </a:xfrm>
          <a:prstGeom prst="rect">
            <a:avLst/>
          </a:prstGeom>
          <a:noFill/>
        </p:spPr>
        <p:txBody>
          <a:bodyPr wrap="none" rtlCol="0">
            <a:spAutoFit/>
          </a:bodyPr>
          <a:lstStyle/>
          <a:p>
            <a:r>
              <a:rPr lang="en-US" sz="3200" b="1" dirty="0">
                <a:solidFill>
                  <a:srgbClr val="0070C0"/>
                </a:solidFill>
                <a:latin typeface="Söhne"/>
              </a:rPr>
              <a:t>What is PTORA?</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CB1A0D60-9325-FBAB-DEB0-7FDA829BBAE6}"/>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3F29DC05-A3AE-06E8-5495-23BE8C74C7B4}"/>
              </a:ext>
            </a:extLst>
          </p:cNvPr>
          <p:cNvSpPr/>
          <p:nvPr/>
        </p:nvSpPr>
        <p:spPr>
          <a:xfrm>
            <a:off x="435004" y="1030935"/>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Understanding proposed the algorithm at a high level</a:t>
            </a:r>
            <a:endParaRPr lang="en-GB" b="1" dirty="0">
              <a:latin typeface="Söhne"/>
            </a:endParaRPr>
          </a:p>
        </p:txBody>
      </p:sp>
      <p:sp>
        <p:nvSpPr>
          <p:cNvPr id="2" name="Decagon 1">
            <a:extLst>
              <a:ext uri="{FF2B5EF4-FFF2-40B4-BE49-F238E27FC236}">
                <a16:creationId xmlns:a16="http://schemas.microsoft.com/office/drawing/2014/main" id="{160371DE-BE7F-F3A1-8D7D-218545EA37BF}"/>
              </a:ext>
            </a:extLst>
          </p:cNvPr>
          <p:cNvSpPr/>
          <p:nvPr/>
        </p:nvSpPr>
        <p:spPr>
          <a:xfrm>
            <a:off x="11662146" y="6503492"/>
            <a:ext cx="353243" cy="304093"/>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9</a:t>
            </a:r>
            <a:endParaRPr lang="en-US" b="1" dirty="0">
              <a:latin typeface="Söhne"/>
              <a:cs typeface="Times New Roman" panose="02020603050405020304" pitchFamily="18" charset="0"/>
            </a:endParaRPr>
          </a:p>
        </p:txBody>
      </p:sp>
      <p:sp>
        <p:nvSpPr>
          <p:cNvPr id="3" name="Rectangle: Rounded Corners 2">
            <a:extLst>
              <a:ext uri="{FF2B5EF4-FFF2-40B4-BE49-F238E27FC236}">
                <a16:creationId xmlns:a16="http://schemas.microsoft.com/office/drawing/2014/main" id="{6AB9125D-CA8D-D39F-3706-1B3D280EBC63}"/>
              </a:ext>
            </a:extLst>
          </p:cNvPr>
          <p:cNvSpPr/>
          <p:nvPr/>
        </p:nvSpPr>
        <p:spPr>
          <a:xfrm>
            <a:off x="435004" y="2174413"/>
            <a:ext cx="11310151" cy="2299634"/>
          </a:xfrm>
          <a:prstGeom prst="roundRect">
            <a:avLst>
              <a:gd name="adj" fmla="val 4962"/>
            </a:avLst>
          </a:prstGeom>
          <a:solidFill>
            <a:schemeClr val="bg1"/>
          </a:solidFill>
          <a:ln w="19050">
            <a:solidFill>
              <a:srgbClr val="0070C0"/>
            </a:solidFill>
            <a:prstDash val="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1125"/>
              </a:spcAft>
              <a:buNone/>
            </a:pPr>
            <a:endParaRPr lang="en-US" sz="1200" b="0" i="0" dirty="0">
              <a:solidFill>
                <a:srgbClr val="FFFFFF"/>
              </a:solidFill>
              <a:effectLst/>
              <a:latin typeface="Segoe UI" panose="020B0502040204020203" pitchFamily="34" charset="0"/>
            </a:endParaRPr>
          </a:p>
        </p:txBody>
      </p:sp>
      <p:sp>
        <p:nvSpPr>
          <p:cNvPr id="14" name="TextBox 13">
            <a:extLst>
              <a:ext uri="{FF2B5EF4-FFF2-40B4-BE49-F238E27FC236}">
                <a16:creationId xmlns:a16="http://schemas.microsoft.com/office/drawing/2014/main" id="{AFD5803F-DF19-742C-621B-0800777FCC67}"/>
              </a:ext>
            </a:extLst>
          </p:cNvPr>
          <p:cNvSpPr txBox="1"/>
          <p:nvPr/>
        </p:nvSpPr>
        <p:spPr>
          <a:xfrm>
            <a:off x="550276" y="2230368"/>
            <a:ext cx="9144000" cy="2118529"/>
          </a:xfrm>
          <a:prstGeom prst="rect">
            <a:avLst/>
          </a:prstGeom>
          <a:noFill/>
        </p:spPr>
        <p:txBody>
          <a:bodyPr wrap="square" rtlCol="0">
            <a:spAutoFit/>
          </a:bodyPr>
          <a:lstStyle/>
          <a:p>
            <a:pPr algn="l">
              <a:spcAft>
                <a:spcPts val="1050"/>
              </a:spcAft>
              <a:buNone/>
            </a:pPr>
            <a:r>
              <a:rPr lang="en-US" sz="1400" b="0" i="0" dirty="0">
                <a:solidFill>
                  <a:srgbClr val="1A1A1A"/>
                </a:solidFill>
                <a:effectLst/>
                <a:latin typeface="Segoe UI" panose="020B0502040204020203" pitchFamily="34" charset="0"/>
              </a:rPr>
              <a:t>In a mobile edge computing (MEC) network where:</a:t>
            </a:r>
          </a:p>
          <a:p>
            <a:pPr marL="285750" indent="-285750" algn="l">
              <a:spcBef>
                <a:spcPts val="900"/>
              </a:spcBef>
              <a:spcAft>
                <a:spcPts val="900"/>
              </a:spcAft>
              <a:buFont typeface="Arial" panose="020B0604020202020204" pitchFamily="34" charset="0"/>
              <a:buChar char="•"/>
            </a:pPr>
            <a:r>
              <a:rPr lang="en-US" sz="1400" b="1" i="0" dirty="0">
                <a:solidFill>
                  <a:srgbClr val="0A2342"/>
                </a:solidFill>
                <a:effectLst/>
                <a:latin typeface="Segoe UI" panose="020B0502040204020203" pitchFamily="34" charset="0"/>
              </a:rPr>
              <a:t>Tasks have dependencies</a:t>
            </a:r>
            <a:r>
              <a:rPr lang="en-US" sz="1400" b="0" i="0" dirty="0">
                <a:solidFill>
                  <a:srgbClr val="2A2A2A"/>
                </a:solidFill>
                <a:effectLst/>
                <a:latin typeface="Segoe UI" panose="020B0502040204020203" pitchFamily="34" charset="0"/>
              </a:rPr>
              <a:t> across multiple users (DAG structure)</a:t>
            </a:r>
          </a:p>
          <a:p>
            <a:pPr marL="285750" indent="-285750" algn="l">
              <a:spcBef>
                <a:spcPts val="900"/>
              </a:spcBef>
              <a:spcAft>
                <a:spcPts val="900"/>
              </a:spcAft>
              <a:buFont typeface="Arial" panose="020B0604020202020204" pitchFamily="34" charset="0"/>
              <a:buChar char="•"/>
            </a:pPr>
            <a:r>
              <a:rPr lang="en-US" sz="1400" b="1" i="0" dirty="0">
                <a:solidFill>
                  <a:srgbClr val="0A2342"/>
                </a:solidFill>
                <a:effectLst/>
                <a:latin typeface="Segoe UI" panose="020B0502040204020203" pitchFamily="34" charset="0"/>
              </a:rPr>
              <a:t>Network conditions change</a:t>
            </a:r>
            <a:r>
              <a:rPr lang="en-US" sz="1400" b="0" i="0" dirty="0">
                <a:solidFill>
                  <a:srgbClr val="2A2A2A"/>
                </a:solidFill>
                <a:effectLst/>
                <a:latin typeface="Segoe UI" panose="020B0502040204020203" pitchFamily="34" charset="0"/>
              </a:rPr>
              <a:t> dynamically (mobility, time-varying channels)</a:t>
            </a:r>
          </a:p>
          <a:p>
            <a:pPr marL="285750" indent="-285750" algn="l">
              <a:spcBef>
                <a:spcPts val="900"/>
              </a:spcBef>
              <a:spcAft>
                <a:spcPts val="900"/>
              </a:spcAft>
              <a:buFont typeface="Arial" panose="020B0604020202020204" pitchFamily="34" charset="0"/>
              <a:buChar char="•"/>
            </a:pPr>
            <a:r>
              <a:rPr lang="en-US" sz="1400" b="1" i="0" dirty="0">
                <a:solidFill>
                  <a:srgbClr val="0A2342"/>
                </a:solidFill>
                <a:effectLst/>
                <a:latin typeface="Segoe UI" panose="020B0502040204020203" pitchFamily="34" charset="0"/>
              </a:rPr>
              <a:t>Resources are limited</a:t>
            </a:r>
            <a:r>
              <a:rPr lang="en-US" sz="1400" b="0" i="0" dirty="0">
                <a:solidFill>
                  <a:srgbClr val="2A2A2A"/>
                </a:solidFill>
                <a:effectLst/>
                <a:latin typeface="Segoe UI" panose="020B0502040204020203" pitchFamily="34" charset="0"/>
              </a:rPr>
              <a:t> (channels, power, computing capacity)</a:t>
            </a:r>
          </a:p>
          <a:p>
            <a:pPr marL="285750" indent="-285750" algn="l">
              <a:spcBef>
                <a:spcPts val="900"/>
              </a:spcBef>
              <a:buFont typeface="Arial" panose="020B0604020202020204" pitchFamily="34" charset="0"/>
              <a:buChar char="•"/>
            </a:pPr>
            <a:r>
              <a:rPr lang="en-US" sz="1400" b="1" i="0" dirty="0">
                <a:solidFill>
                  <a:srgbClr val="0A2342"/>
                </a:solidFill>
                <a:effectLst/>
                <a:latin typeface="Segoe UI" panose="020B0502040204020203" pitchFamily="34" charset="0"/>
              </a:rPr>
              <a:t>How do we decide which tasks to offload and how to allocate resources to minimize delay-energy cost?</a:t>
            </a:r>
          </a:p>
        </p:txBody>
      </p:sp>
      <p:sp>
        <p:nvSpPr>
          <p:cNvPr id="16" name="Rectangle: Rounded Corners 15">
            <a:extLst>
              <a:ext uri="{FF2B5EF4-FFF2-40B4-BE49-F238E27FC236}">
                <a16:creationId xmlns:a16="http://schemas.microsoft.com/office/drawing/2014/main" id="{69166E6A-714C-A170-744A-86DF50F17A0F}"/>
              </a:ext>
            </a:extLst>
          </p:cNvPr>
          <p:cNvSpPr/>
          <p:nvPr/>
        </p:nvSpPr>
        <p:spPr>
          <a:xfrm>
            <a:off x="446844" y="1450842"/>
            <a:ext cx="11310151" cy="562148"/>
          </a:xfrm>
          <a:prstGeom prst="roundRect">
            <a:avLst>
              <a:gd name="adj" fmla="val 7285"/>
            </a:avLst>
          </a:prstGeom>
          <a:noFill/>
          <a:ln w="19050">
            <a:solidFill>
              <a:srgbClr val="3BE3FF"/>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600" b="1" i="0" dirty="0">
                <a:solidFill>
                  <a:srgbClr val="0A2342"/>
                </a:solidFill>
                <a:effectLst/>
                <a:latin typeface="Segoe UI" panose="020B0502040204020203" pitchFamily="34" charset="0"/>
              </a:rPr>
              <a:t>PTORA = </a:t>
            </a:r>
            <a:r>
              <a:rPr lang="en-US" sz="1600" b="1" i="0" dirty="0">
                <a:solidFill>
                  <a:srgbClr val="69EAFF"/>
                </a:solidFill>
                <a:effectLst/>
                <a:latin typeface="Segoe UI" panose="020B0502040204020203" pitchFamily="34" charset="0"/>
              </a:rPr>
              <a:t>P</a:t>
            </a:r>
            <a:r>
              <a:rPr lang="en-US" sz="1600" b="1" i="0" dirty="0">
                <a:solidFill>
                  <a:srgbClr val="0A2342"/>
                </a:solidFill>
                <a:effectLst/>
                <a:latin typeface="Segoe UI" panose="020B0502040204020203" pitchFamily="34" charset="0"/>
              </a:rPr>
              <a:t>arallel </a:t>
            </a:r>
            <a:r>
              <a:rPr lang="en-US" sz="1600" b="1" i="0" dirty="0">
                <a:solidFill>
                  <a:srgbClr val="69EAFF"/>
                </a:solidFill>
                <a:effectLst/>
                <a:latin typeface="Segoe UI" panose="020B0502040204020203" pitchFamily="34" charset="0"/>
              </a:rPr>
              <a:t>T</a:t>
            </a:r>
            <a:r>
              <a:rPr lang="en-US" sz="1600" b="1" i="0" dirty="0">
                <a:solidFill>
                  <a:srgbClr val="0A2342"/>
                </a:solidFill>
                <a:effectLst/>
                <a:latin typeface="Segoe UI" panose="020B0502040204020203" pitchFamily="34" charset="0"/>
              </a:rPr>
              <a:t>ask </a:t>
            </a:r>
            <a:r>
              <a:rPr lang="en-US" sz="1600" b="1" i="0" dirty="0">
                <a:solidFill>
                  <a:srgbClr val="69EAFF"/>
                </a:solidFill>
                <a:effectLst/>
                <a:latin typeface="Segoe UI" panose="020B0502040204020203" pitchFamily="34" charset="0"/>
              </a:rPr>
              <a:t>O</a:t>
            </a:r>
            <a:r>
              <a:rPr lang="en-US" sz="1600" b="1" i="0" dirty="0">
                <a:solidFill>
                  <a:srgbClr val="0A2342"/>
                </a:solidFill>
                <a:effectLst/>
                <a:latin typeface="Segoe UI" panose="020B0502040204020203" pitchFamily="34" charset="0"/>
              </a:rPr>
              <a:t>ffloading &amp; </a:t>
            </a:r>
            <a:r>
              <a:rPr lang="en-US" sz="1600" b="1" i="0" dirty="0">
                <a:solidFill>
                  <a:srgbClr val="69EAFF"/>
                </a:solidFill>
                <a:effectLst/>
                <a:latin typeface="Segoe UI" panose="020B0502040204020203" pitchFamily="34" charset="0"/>
              </a:rPr>
              <a:t>R</a:t>
            </a:r>
            <a:r>
              <a:rPr lang="en-US" sz="1600" b="1" i="0" dirty="0">
                <a:solidFill>
                  <a:srgbClr val="0A2342"/>
                </a:solidFill>
                <a:effectLst/>
                <a:latin typeface="Segoe UI" panose="020B0502040204020203" pitchFamily="34" charset="0"/>
              </a:rPr>
              <a:t>esource </a:t>
            </a:r>
            <a:r>
              <a:rPr lang="en-US" sz="1600" b="1" i="0" dirty="0">
                <a:solidFill>
                  <a:srgbClr val="69EAFF"/>
                </a:solidFill>
                <a:effectLst/>
                <a:latin typeface="Segoe UI" panose="020B0502040204020203" pitchFamily="34" charset="0"/>
              </a:rPr>
              <a:t>A</a:t>
            </a:r>
            <a:r>
              <a:rPr lang="en-US" sz="1600" b="1" i="0" dirty="0">
                <a:solidFill>
                  <a:srgbClr val="0A2342"/>
                </a:solidFill>
                <a:effectLst/>
                <a:latin typeface="Segoe UI" panose="020B0502040204020203" pitchFamily="34" charset="0"/>
              </a:rPr>
              <a:t>llocation</a:t>
            </a:r>
            <a:endParaRPr lang="en-US" sz="1600" b="1" i="0" dirty="0">
              <a:solidFill>
                <a:srgbClr val="000000"/>
              </a:solidFill>
              <a:effectLst/>
              <a:latin typeface="Söhne"/>
            </a:endParaRPr>
          </a:p>
        </p:txBody>
      </p:sp>
      <p:sp>
        <p:nvSpPr>
          <p:cNvPr id="21" name="Rectangle: Rounded Corners 20">
            <a:extLst>
              <a:ext uri="{FF2B5EF4-FFF2-40B4-BE49-F238E27FC236}">
                <a16:creationId xmlns:a16="http://schemas.microsoft.com/office/drawing/2014/main" id="{A0800C0F-6419-1A49-3B89-111AC8AA9C40}"/>
              </a:ext>
            </a:extLst>
          </p:cNvPr>
          <p:cNvSpPr/>
          <p:nvPr/>
        </p:nvSpPr>
        <p:spPr>
          <a:xfrm>
            <a:off x="435004" y="4635470"/>
            <a:ext cx="5400000" cy="1581584"/>
          </a:xfrm>
          <a:prstGeom prst="roundRect">
            <a:avLst>
              <a:gd name="adj" fmla="val 5138"/>
            </a:avLst>
          </a:prstGeom>
          <a:noFill/>
          <a:ln w="19050">
            <a:solidFill>
              <a:srgbClr val="FF0000"/>
            </a:solidFill>
            <a:prstDash val="lgDashDot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675"/>
              </a:spcAft>
              <a:buNone/>
            </a:pPr>
            <a:r>
              <a:rPr lang="en-US" sz="1400" b="1" i="0" dirty="0">
                <a:solidFill>
                  <a:srgbClr val="0A2342"/>
                </a:solidFill>
                <a:effectLst/>
                <a:latin typeface="Segoe UI" panose="020B0502040204020203" pitchFamily="34" charset="0"/>
              </a:rPr>
              <a:t>Traditional Approach Problem</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Requires complete prior knowledge</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Must re-solve for every change</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NP-hard optimization problem</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Poor scalability</a:t>
            </a:r>
          </a:p>
        </p:txBody>
      </p:sp>
      <p:sp>
        <p:nvSpPr>
          <p:cNvPr id="22" name="Rectangle: Rounded Corners 21">
            <a:extLst>
              <a:ext uri="{FF2B5EF4-FFF2-40B4-BE49-F238E27FC236}">
                <a16:creationId xmlns:a16="http://schemas.microsoft.com/office/drawing/2014/main" id="{8763CDD6-C39E-76C5-857E-1E5EE0A33545}"/>
              </a:ext>
            </a:extLst>
          </p:cNvPr>
          <p:cNvSpPr/>
          <p:nvPr/>
        </p:nvSpPr>
        <p:spPr>
          <a:xfrm>
            <a:off x="6345154" y="4635470"/>
            <a:ext cx="5411841" cy="1580400"/>
          </a:xfrm>
          <a:prstGeom prst="roundRect">
            <a:avLst>
              <a:gd name="adj" fmla="val 5138"/>
            </a:avLst>
          </a:prstGeom>
          <a:noFill/>
          <a:ln w="19050">
            <a:solidFill>
              <a:schemeClr val="accent6"/>
            </a:solidFill>
            <a:prstDash val="lgDashDot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675"/>
              </a:spcAft>
              <a:buNone/>
            </a:pPr>
            <a:r>
              <a:rPr lang="en-US" sz="1400" b="1" i="0" dirty="0">
                <a:solidFill>
                  <a:srgbClr val="0A2342"/>
                </a:solidFill>
                <a:effectLst/>
                <a:latin typeface="Segoe UI" panose="020B0502040204020203" pitchFamily="34" charset="0"/>
              </a:rPr>
              <a:t>PTORA Solution</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Learns from experience (no prior knowledge)</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Adapts to dynamic changes automatically</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Two-stage decomposition</a:t>
            </a:r>
          </a:p>
          <a:p>
            <a:pPr marL="285750" indent="-285750" algn="l">
              <a:spcBef>
                <a:spcPts val="525"/>
              </a:spcBef>
              <a:buFont typeface="Arial" panose="020B0604020202020204" pitchFamily="34" charset="0"/>
              <a:buChar char="•"/>
            </a:pPr>
            <a:r>
              <a:rPr lang="en-US" sz="1400" b="0" i="0" dirty="0">
                <a:solidFill>
                  <a:srgbClr val="4A4A4A"/>
                </a:solidFill>
                <a:effectLst/>
                <a:latin typeface="Segoe UI" panose="020B0502040204020203" pitchFamily="34" charset="0"/>
              </a:rPr>
              <a:t>Long-term optimization</a:t>
            </a:r>
          </a:p>
        </p:txBody>
      </p:sp>
    </p:spTree>
    <p:extLst>
      <p:ext uri="{BB962C8B-B14F-4D97-AF65-F5344CB8AC3E}">
        <p14:creationId xmlns:p14="http://schemas.microsoft.com/office/powerpoint/2010/main" val="390194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fade">
                                      <p:cBhvr>
                                        <p:cTn id="26" dur="1000"/>
                                        <p:tgtEl>
                                          <p:spTgt spid="21"/>
                                        </p:tgtEl>
                                      </p:cBhvr>
                                    </p:animEffect>
                                    <p:anim calcmode="lin" valueType="num">
                                      <p:cBhvr>
                                        <p:cTn id="27" dur="1000" fill="hold"/>
                                        <p:tgtEl>
                                          <p:spTgt spid="21"/>
                                        </p:tgtEl>
                                        <p:attrNameLst>
                                          <p:attrName>ppt_x</p:attrName>
                                        </p:attrNameLst>
                                      </p:cBhvr>
                                      <p:tavLst>
                                        <p:tav tm="0">
                                          <p:val>
                                            <p:strVal val="#ppt_x"/>
                                          </p:val>
                                        </p:tav>
                                        <p:tav tm="100000">
                                          <p:val>
                                            <p:strVal val="#ppt_x"/>
                                          </p:val>
                                        </p:tav>
                                      </p:tavLst>
                                    </p:anim>
                                    <p:anim calcmode="lin" valueType="num">
                                      <p:cBhvr>
                                        <p:cTn id="28"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animEffect transition="in" filter="fade">
                                      <p:cBhvr>
                                        <p:cTn id="33" dur="1000"/>
                                        <p:tgtEl>
                                          <p:spTgt spid="22"/>
                                        </p:tgtEl>
                                      </p:cBhvr>
                                    </p:animEffect>
                                    <p:anim calcmode="lin" valueType="num">
                                      <p:cBhvr>
                                        <p:cTn id="34" dur="1000" fill="hold"/>
                                        <p:tgtEl>
                                          <p:spTgt spid="22"/>
                                        </p:tgtEl>
                                        <p:attrNameLst>
                                          <p:attrName>ppt_x</p:attrName>
                                        </p:attrNameLst>
                                      </p:cBhvr>
                                      <p:tavLst>
                                        <p:tav tm="0">
                                          <p:val>
                                            <p:strVal val="#ppt_x"/>
                                          </p:val>
                                        </p:tav>
                                        <p:tav tm="100000">
                                          <p:val>
                                            <p:strVal val="#ppt_x"/>
                                          </p:val>
                                        </p:tav>
                                      </p:tavLst>
                                    </p:anim>
                                    <p:anim calcmode="lin" valueType="num">
                                      <p:cBhvr>
                                        <p:cTn id="3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4" grpId="0"/>
      <p:bldP spid="16" grpId="0" animBg="1"/>
      <p:bldP spid="21"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4B169-F9EC-956A-28DE-1EDFCB7FCBA2}"/>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92B45B6-5746-3DC9-8499-16E58C78DF56}"/>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5A7315C7-1058-D685-3FB4-0C6EA6198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ED478B7A-635D-5664-9365-D23455FE1EAF}"/>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416CEEB-5622-3B86-A83D-16A9FDFA97BA}"/>
              </a:ext>
            </a:extLst>
          </p:cNvPr>
          <p:cNvSpPr txBox="1"/>
          <p:nvPr/>
        </p:nvSpPr>
        <p:spPr>
          <a:xfrm>
            <a:off x="550276" y="355574"/>
            <a:ext cx="4156010" cy="584775"/>
          </a:xfrm>
          <a:prstGeom prst="rect">
            <a:avLst/>
          </a:prstGeom>
          <a:noFill/>
        </p:spPr>
        <p:txBody>
          <a:bodyPr wrap="none" rtlCol="0">
            <a:spAutoFit/>
          </a:bodyPr>
          <a:lstStyle/>
          <a:p>
            <a:r>
              <a:rPr lang="en-US" sz="3200" b="1" dirty="0">
                <a:solidFill>
                  <a:srgbClr val="0070C0"/>
                </a:solidFill>
                <a:latin typeface="Söhne"/>
              </a:rPr>
              <a:t>Two-Stage Architecture</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4B2566D9-FAC9-B922-BE6E-13B42B3C8C85}"/>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EC518974-8DB3-2DA9-F8E3-D09AA61DF0A9}"/>
              </a:ext>
            </a:extLst>
          </p:cNvPr>
          <p:cNvSpPr/>
          <p:nvPr/>
        </p:nvSpPr>
        <p:spPr>
          <a:xfrm>
            <a:off x="435004" y="1030935"/>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How PTORA breaks down the problem</a:t>
            </a:r>
            <a:endParaRPr lang="en-GB" b="1" dirty="0">
              <a:latin typeface="Söhne"/>
            </a:endParaRPr>
          </a:p>
        </p:txBody>
      </p:sp>
      <p:sp>
        <p:nvSpPr>
          <p:cNvPr id="16" name="Rectangle: Rounded Corners 15">
            <a:extLst>
              <a:ext uri="{FF2B5EF4-FFF2-40B4-BE49-F238E27FC236}">
                <a16:creationId xmlns:a16="http://schemas.microsoft.com/office/drawing/2014/main" id="{0F0B271E-CCA4-51FF-C9ED-610D2B7C7228}"/>
              </a:ext>
            </a:extLst>
          </p:cNvPr>
          <p:cNvSpPr/>
          <p:nvPr/>
        </p:nvSpPr>
        <p:spPr>
          <a:xfrm>
            <a:off x="351993" y="5702098"/>
            <a:ext cx="11488013" cy="562148"/>
          </a:xfrm>
          <a:prstGeom prst="roundRect">
            <a:avLst>
              <a:gd name="adj" fmla="val 7285"/>
            </a:avLst>
          </a:prstGeom>
          <a:solidFill>
            <a:srgbClr val="85EE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600" b="1" i="0" dirty="0">
                <a:solidFill>
                  <a:srgbClr val="0A2342"/>
                </a:solidFill>
                <a:effectLst/>
                <a:latin typeface="Segoe UI" panose="020B0502040204020203" pitchFamily="34" charset="0"/>
              </a:rPr>
              <a:t> Coupling: </a:t>
            </a:r>
            <a:r>
              <a:rPr lang="en-US" sz="1600" i="0" dirty="0">
                <a:solidFill>
                  <a:srgbClr val="0A2342"/>
                </a:solidFill>
                <a:effectLst/>
                <a:latin typeface="Segoe UI" panose="020B0502040204020203" pitchFamily="34" charset="0"/>
              </a:rPr>
              <a:t>Stage 1 provides decisions → Stage 2 allocates resources → Cost generates reward → Stage 1 learns and improves</a:t>
            </a:r>
            <a:endParaRPr lang="en-US" sz="1600" i="0" dirty="0">
              <a:solidFill>
                <a:srgbClr val="000000"/>
              </a:solidFill>
              <a:effectLst/>
              <a:latin typeface="Söhne"/>
            </a:endParaRPr>
          </a:p>
        </p:txBody>
      </p:sp>
      <p:sp>
        <p:nvSpPr>
          <p:cNvPr id="21" name="Rectangle: Rounded Corners 20">
            <a:extLst>
              <a:ext uri="{FF2B5EF4-FFF2-40B4-BE49-F238E27FC236}">
                <a16:creationId xmlns:a16="http://schemas.microsoft.com/office/drawing/2014/main" id="{F4EB0E8A-F094-E8DA-13B8-845E18A1AA63}"/>
              </a:ext>
            </a:extLst>
          </p:cNvPr>
          <p:cNvSpPr/>
          <p:nvPr/>
        </p:nvSpPr>
        <p:spPr>
          <a:xfrm>
            <a:off x="351993" y="2871982"/>
            <a:ext cx="5604555" cy="2730321"/>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675"/>
              </a:spcAft>
              <a:buNone/>
            </a:pPr>
            <a:endParaRPr lang="en-US" sz="1400" b="0" i="0" dirty="0">
              <a:solidFill>
                <a:srgbClr val="4A4A4A"/>
              </a:solidFill>
              <a:effectLst/>
              <a:latin typeface="Segoe UI" panose="020B0502040204020203" pitchFamily="34" charset="0"/>
            </a:endParaRPr>
          </a:p>
        </p:txBody>
      </p:sp>
      <p:sp>
        <p:nvSpPr>
          <p:cNvPr id="4" name="Rectangle: Rounded Corners 3">
            <a:extLst>
              <a:ext uri="{FF2B5EF4-FFF2-40B4-BE49-F238E27FC236}">
                <a16:creationId xmlns:a16="http://schemas.microsoft.com/office/drawing/2014/main" id="{E35BE3B2-258B-3F89-8C3A-31A9EFC24698}"/>
              </a:ext>
            </a:extLst>
          </p:cNvPr>
          <p:cNvSpPr/>
          <p:nvPr/>
        </p:nvSpPr>
        <p:spPr>
          <a:xfrm>
            <a:off x="435003" y="3486368"/>
            <a:ext cx="5297859"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Method:</a:t>
            </a:r>
            <a:r>
              <a:rPr lang="en-US" sz="1400" b="0" i="0" dirty="0">
                <a:solidFill>
                  <a:srgbClr val="000000"/>
                </a:solidFill>
                <a:effectLst/>
                <a:latin typeface="Segoe UI" panose="020B0502040204020203" pitchFamily="34" charset="0"/>
              </a:rPr>
              <a:t> Double Deep Q Network (DDQN)</a:t>
            </a:r>
            <a:endParaRPr lang="en-US" sz="1400" dirty="0">
              <a:solidFill>
                <a:schemeClr val="tx1"/>
              </a:solidFill>
              <a:latin typeface="Söhne"/>
            </a:endParaRPr>
          </a:p>
        </p:txBody>
      </p:sp>
      <p:sp>
        <p:nvSpPr>
          <p:cNvPr id="5" name="Rectangle: Rounded Corners 4">
            <a:extLst>
              <a:ext uri="{FF2B5EF4-FFF2-40B4-BE49-F238E27FC236}">
                <a16:creationId xmlns:a16="http://schemas.microsoft.com/office/drawing/2014/main" id="{9EF9BB0A-D1C7-0E0F-98CD-633B30010CAB}"/>
              </a:ext>
            </a:extLst>
          </p:cNvPr>
          <p:cNvSpPr/>
          <p:nvPr/>
        </p:nvSpPr>
        <p:spPr>
          <a:xfrm>
            <a:off x="451062" y="3957306"/>
            <a:ext cx="5297860"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Decision:</a:t>
            </a:r>
            <a:r>
              <a:rPr lang="en-US" sz="1400" b="0" i="0" dirty="0">
                <a:solidFill>
                  <a:srgbClr val="000000"/>
                </a:solidFill>
                <a:effectLst/>
                <a:latin typeface="Segoe UI" panose="020B0502040204020203" pitchFamily="34" charset="0"/>
              </a:rPr>
              <a:t> Local execution (0) or Offload to ES (1)</a:t>
            </a:r>
            <a:endParaRPr lang="en-US" sz="1400" dirty="0">
              <a:solidFill>
                <a:schemeClr val="tx1"/>
              </a:solidFill>
              <a:latin typeface="Söhne"/>
            </a:endParaRPr>
          </a:p>
        </p:txBody>
      </p:sp>
      <p:sp>
        <p:nvSpPr>
          <p:cNvPr id="7" name="Rectangle: Rounded Corners 6">
            <a:extLst>
              <a:ext uri="{FF2B5EF4-FFF2-40B4-BE49-F238E27FC236}">
                <a16:creationId xmlns:a16="http://schemas.microsoft.com/office/drawing/2014/main" id="{C392D3AD-74F0-470D-8C02-1BBF3CB654C0}"/>
              </a:ext>
            </a:extLst>
          </p:cNvPr>
          <p:cNvSpPr/>
          <p:nvPr/>
        </p:nvSpPr>
        <p:spPr>
          <a:xfrm>
            <a:off x="451061" y="4490295"/>
            <a:ext cx="5297861"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Goal:</a:t>
            </a:r>
            <a:r>
              <a:rPr lang="en-US" sz="1400" b="0" i="0" dirty="0">
                <a:solidFill>
                  <a:srgbClr val="000000"/>
                </a:solidFill>
                <a:effectLst/>
                <a:latin typeface="Segoe UI" panose="020B0502040204020203" pitchFamily="34" charset="0"/>
              </a:rPr>
              <a:t> Maximize long-term cumulative reward</a:t>
            </a:r>
            <a:endParaRPr lang="en-US" sz="1400" dirty="0">
              <a:solidFill>
                <a:schemeClr val="tx1"/>
              </a:solidFill>
              <a:latin typeface="Söhne"/>
            </a:endParaRPr>
          </a:p>
        </p:txBody>
      </p:sp>
      <p:sp>
        <p:nvSpPr>
          <p:cNvPr id="9" name="Rectangle: Rounded Corners 8">
            <a:extLst>
              <a:ext uri="{FF2B5EF4-FFF2-40B4-BE49-F238E27FC236}">
                <a16:creationId xmlns:a16="http://schemas.microsoft.com/office/drawing/2014/main" id="{61645440-5350-C4C2-399F-7579A6617692}"/>
              </a:ext>
            </a:extLst>
          </p:cNvPr>
          <p:cNvSpPr/>
          <p:nvPr/>
        </p:nvSpPr>
        <p:spPr>
          <a:xfrm>
            <a:off x="451061" y="5015664"/>
            <a:ext cx="5297861"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Learns:</a:t>
            </a:r>
            <a:r>
              <a:rPr lang="en-US" sz="1400" b="0" i="0" dirty="0">
                <a:solidFill>
                  <a:srgbClr val="000000"/>
                </a:solidFill>
                <a:effectLst/>
                <a:latin typeface="Segoe UI" panose="020B0502040204020203" pitchFamily="34" charset="0"/>
              </a:rPr>
              <a:t> Optimal offloading policy from experience</a:t>
            </a:r>
            <a:endParaRPr lang="en-US" sz="1400" dirty="0">
              <a:solidFill>
                <a:schemeClr val="tx1"/>
              </a:solidFill>
              <a:latin typeface="Söhne"/>
            </a:endParaRPr>
          </a:p>
        </p:txBody>
      </p:sp>
      <p:sp>
        <p:nvSpPr>
          <p:cNvPr id="11" name="TextBox 10">
            <a:extLst>
              <a:ext uri="{FF2B5EF4-FFF2-40B4-BE49-F238E27FC236}">
                <a16:creationId xmlns:a16="http://schemas.microsoft.com/office/drawing/2014/main" id="{6CEC1BFC-EA59-C6C0-56E1-8A708FCDFFCD}"/>
              </a:ext>
            </a:extLst>
          </p:cNvPr>
          <p:cNvSpPr txBox="1"/>
          <p:nvPr/>
        </p:nvSpPr>
        <p:spPr>
          <a:xfrm>
            <a:off x="435003" y="2935864"/>
            <a:ext cx="5089748" cy="369332"/>
          </a:xfrm>
          <a:prstGeom prst="rect">
            <a:avLst/>
          </a:prstGeom>
          <a:noFill/>
        </p:spPr>
        <p:txBody>
          <a:bodyPr wrap="square">
            <a:spAutoFit/>
          </a:bodyPr>
          <a:lstStyle/>
          <a:p>
            <a:pPr algn="l">
              <a:spcAft>
                <a:spcPts val="900"/>
              </a:spcAft>
              <a:buNone/>
            </a:pPr>
            <a:r>
              <a:rPr lang="en-US" b="1" i="0" dirty="0">
                <a:solidFill>
                  <a:srgbClr val="00D9FF"/>
                </a:solidFill>
                <a:effectLst/>
                <a:latin typeface="Segoe UI" panose="020B0502040204020203" pitchFamily="34" charset="0"/>
              </a:rPr>
              <a:t>Stage 1: Learning</a:t>
            </a:r>
          </a:p>
        </p:txBody>
      </p:sp>
      <p:sp>
        <p:nvSpPr>
          <p:cNvPr id="12" name="Rectangle: Rounded Corners 11">
            <a:extLst>
              <a:ext uri="{FF2B5EF4-FFF2-40B4-BE49-F238E27FC236}">
                <a16:creationId xmlns:a16="http://schemas.microsoft.com/office/drawing/2014/main" id="{179BD6D0-5DA8-5567-9D32-DF99CB269072}"/>
              </a:ext>
            </a:extLst>
          </p:cNvPr>
          <p:cNvSpPr/>
          <p:nvPr/>
        </p:nvSpPr>
        <p:spPr>
          <a:xfrm>
            <a:off x="6198184" y="2871982"/>
            <a:ext cx="5641822" cy="2730321"/>
          </a:xfrm>
          <a:prstGeom prst="roundRect">
            <a:avLst>
              <a:gd name="adj" fmla="val 5138"/>
            </a:avLst>
          </a:prstGeom>
          <a:solidFill>
            <a:srgbClr val="F6F4F5"/>
          </a:solidFill>
          <a:ln w="19050">
            <a:solidFill>
              <a:schemeClr val="accent2">
                <a:lumMod val="60000"/>
                <a:lumOff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675"/>
              </a:spcAft>
              <a:buNone/>
            </a:pPr>
            <a:endParaRPr lang="en-US" sz="1400" b="0" i="0" dirty="0">
              <a:solidFill>
                <a:srgbClr val="4A4A4A"/>
              </a:solidFill>
              <a:effectLst/>
              <a:latin typeface="Segoe UI" panose="020B0502040204020203" pitchFamily="34" charset="0"/>
            </a:endParaRPr>
          </a:p>
        </p:txBody>
      </p:sp>
      <p:sp>
        <p:nvSpPr>
          <p:cNvPr id="13" name="Rectangle: Rounded Corners 12">
            <a:extLst>
              <a:ext uri="{FF2B5EF4-FFF2-40B4-BE49-F238E27FC236}">
                <a16:creationId xmlns:a16="http://schemas.microsoft.com/office/drawing/2014/main" id="{18821F9E-013A-85C5-47FE-DB4AC2C63557}"/>
              </a:ext>
            </a:extLst>
          </p:cNvPr>
          <p:cNvSpPr/>
          <p:nvPr/>
        </p:nvSpPr>
        <p:spPr>
          <a:xfrm>
            <a:off x="6321051" y="3465349"/>
            <a:ext cx="5297860"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Method:</a:t>
            </a:r>
            <a:r>
              <a:rPr lang="en-US" sz="1400" b="0" i="0" dirty="0">
                <a:solidFill>
                  <a:srgbClr val="000000"/>
                </a:solidFill>
                <a:effectLst/>
                <a:latin typeface="Segoe UI" panose="020B0502040204020203" pitchFamily="34" charset="0"/>
              </a:rPr>
              <a:t> Joint Subchannel Allocation &amp; Transmit Power Control</a:t>
            </a:r>
            <a:endParaRPr lang="en-US" sz="1400" dirty="0">
              <a:solidFill>
                <a:schemeClr val="tx1"/>
              </a:solidFill>
              <a:latin typeface="Söhne"/>
            </a:endParaRPr>
          </a:p>
        </p:txBody>
      </p:sp>
      <p:sp>
        <p:nvSpPr>
          <p:cNvPr id="15" name="Rectangle: Rounded Corners 14">
            <a:extLst>
              <a:ext uri="{FF2B5EF4-FFF2-40B4-BE49-F238E27FC236}">
                <a16:creationId xmlns:a16="http://schemas.microsoft.com/office/drawing/2014/main" id="{8D6732CB-8B0D-F27E-2B3A-484BC311A0FE}"/>
              </a:ext>
            </a:extLst>
          </p:cNvPr>
          <p:cNvSpPr/>
          <p:nvPr/>
        </p:nvSpPr>
        <p:spPr>
          <a:xfrm>
            <a:off x="6337109" y="3936287"/>
            <a:ext cx="5297860"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Input:</a:t>
            </a:r>
            <a:r>
              <a:rPr lang="en-US" sz="1400" b="0" i="0" dirty="0">
                <a:solidFill>
                  <a:srgbClr val="000000"/>
                </a:solidFill>
                <a:effectLst/>
                <a:latin typeface="Segoe UI" panose="020B0502040204020203" pitchFamily="34" charset="0"/>
              </a:rPr>
              <a:t> Offloading decisions from Stage 1</a:t>
            </a:r>
            <a:endParaRPr lang="en-US" sz="1400" dirty="0">
              <a:solidFill>
                <a:schemeClr val="tx1"/>
              </a:solidFill>
              <a:latin typeface="Söhne"/>
            </a:endParaRPr>
          </a:p>
        </p:txBody>
      </p:sp>
      <p:sp>
        <p:nvSpPr>
          <p:cNvPr id="17" name="Rectangle: Rounded Corners 16">
            <a:extLst>
              <a:ext uri="{FF2B5EF4-FFF2-40B4-BE49-F238E27FC236}">
                <a16:creationId xmlns:a16="http://schemas.microsoft.com/office/drawing/2014/main" id="{512C173B-7A11-F739-AF5B-A5A32C6A0DDA}"/>
              </a:ext>
            </a:extLst>
          </p:cNvPr>
          <p:cNvSpPr/>
          <p:nvPr/>
        </p:nvSpPr>
        <p:spPr>
          <a:xfrm>
            <a:off x="6337108" y="4469276"/>
            <a:ext cx="5297861"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Solves:</a:t>
            </a:r>
            <a:r>
              <a:rPr lang="en-US" sz="1400" b="0" i="0" dirty="0">
                <a:solidFill>
                  <a:srgbClr val="000000"/>
                </a:solidFill>
                <a:effectLst/>
                <a:latin typeface="Segoe UI" panose="020B0502040204020203" pitchFamily="34" charset="0"/>
              </a:rPr>
              <a:t> Power control (dichotomy) + Channel allocation (KM)</a:t>
            </a:r>
            <a:endParaRPr lang="en-US" sz="1400" dirty="0">
              <a:solidFill>
                <a:schemeClr val="tx1"/>
              </a:solidFill>
              <a:latin typeface="Söhne"/>
            </a:endParaRPr>
          </a:p>
        </p:txBody>
      </p:sp>
      <p:sp>
        <p:nvSpPr>
          <p:cNvPr id="18" name="Rectangle: Rounded Corners 17">
            <a:extLst>
              <a:ext uri="{FF2B5EF4-FFF2-40B4-BE49-F238E27FC236}">
                <a16:creationId xmlns:a16="http://schemas.microsoft.com/office/drawing/2014/main" id="{0359D61C-C528-B771-09FB-B798725F61BF}"/>
              </a:ext>
            </a:extLst>
          </p:cNvPr>
          <p:cNvSpPr/>
          <p:nvPr/>
        </p:nvSpPr>
        <p:spPr>
          <a:xfrm>
            <a:off x="6337108" y="4994645"/>
            <a:ext cx="5297861"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Output:</a:t>
            </a:r>
            <a:r>
              <a:rPr lang="en-US" sz="1400" b="0" i="0" dirty="0">
                <a:solidFill>
                  <a:srgbClr val="000000"/>
                </a:solidFill>
                <a:effectLst/>
                <a:latin typeface="Segoe UI" panose="020B0502040204020203" pitchFamily="34" charset="0"/>
              </a:rPr>
              <a:t> Actual cost for feedback to Stage 1</a:t>
            </a:r>
            <a:endParaRPr lang="en-US" sz="1400" dirty="0">
              <a:solidFill>
                <a:schemeClr val="tx1"/>
              </a:solidFill>
              <a:latin typeface="Söhne"/>
            </a:endParaRPr>
          </a:p>
        </p:txBody>
      </p:sp>
      <p:sp>
        <p:nvSpPr>
          <p:cNvPr id="19" name="TextBox 18">
            <a:extLst>
              <a:ext uri="{FF2B5EF4-FFF2-40B4-BE49-F238E27FC236}">
                <a16:creationId xmlns:a16="http://schemas.microsoft.com/office/drawing/2014/main" id="{9C46F2D1-2A1B-9458-A3F1-87317296DD29}"/>
              </a:ext>
            </a:extLst>
          </p:cNvPr>
          <p:cNvSpPr txBox="1"/>
          <p:nvPr/>
        </p:nvSpPr>
        <p:spPr>
          <a:xfrm>
            <a:off x="6412523" y="2923544"/>
            <a:ext cx="5089748" cy="369332"/>
          </a:xfrm>
          <a:prstGeom prst="rect">
            <a:avLst/>
          </a:prstGeom>
          <a:noFill/>
        </p:spPr>
        <p:txBody>
          <a:bodyPr wrap="square">
            <a:spAutoFit/>
          </a:bodyPr>
          <a:lstStyle/>
          <a:p>
            <a:pPr algn="l">
              <a:spcAft>
                <a:spcPts val="900"/>
              </a:spcAft>
              <a:buNone/>
            </a:pPr>
            <a:r>
              <a:rPr lang="en-US" b="1" i="0" dirty="0">
                <a:solidFill>
                  <a:schemeClr val="accent2"/>
                </a:solidFill>
                <a:effectLst/>
                <a:latin typeface="Segoe UI" panose="020B0502040204020203" pitchFamily="34" charset="0"/>
              </a:rPr>
              <a:t>Stage 2: Optimization</a:t>
            </a:r>
          </a:p>
        </p:txBody>
      </p:sp>
      <p:sp>
        <p:nvSpPr>
          <p:cNvPr id="31" name="Rectangle: Rounded Corners 30">
            <a:extLst>
              <a:ext uri="{FF2B5EF4-FFF2-40B4-BE49-F238E27FC236}">
                <a16:creationId xmlns:a16="http://schemas.microsoft.com/office/drawing/2014/main" id="{295C456E-2CC0-FD5C-53C3-EFC8B8096632}"/>
              </a:ext>
            </a:extLst>
          </p:cNvPr>
          <p:cNvSpPr/>
          <p:nvPr/>
        </p:nvSpPr>
        <p:spPr>
          <a:xfrm>
            <a:off x="351992" y="1473004"/>
            <a:ext cx="11488013" cy="1171304"/>
          </a:xfrm>
          <a:prstGeom prst="roundRect">
            <a:avLst>
              <a:gd name="adj" fmla="val 5138"/>
            </a:avLst>
          </a:prstGeom>
          <a:no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Aft>
                <a:spcPts val="1500"/>
              </a:spcAft>
              <a:buNone/>
            </a:pPr>
            <a:r>
              <a:rPr lang="en-US" sz="1400" b="1" i="0" dirty="0">
                <a:solidFill>
                  <a:srgbClr val="0A2342"/>
                </a:solidFill>
                <a:effectLst/>
                <a:latin typeface="Segoe UI" panose="020B0502040204020203" pitchFamily="34" charset="0"/>
              </a:rPr>
              <a:t>Algorithm Overview</a:t>
            </a:r>
            <a:endParaRPr lang="en-US" sz="1400" b="1" i="0" dirty="0">
              <a:solidFill>
                <a:srgbClr val="1A1A1A"/>
              </a:solidFill>
              <a:effectLst/>
              <a:latin typeface="Segoe UI" panose="020B0502040204020203" pitchFamily="34" charset="0"/>
            </a:endParaRPr>
          </a:p>
          <a:p>
            <a:pPr algn="just">
              <a:spcAft>
                <a:spcPts val="675"/>
              </a:spcAft>
              <a:buNone/>
            </a:pPr>
            <a:r>
              <a:rPr lang="en-US" sz="1400" b="1" i="0" dirty="0">
                <a:solidFill>
                  <a:srgbClr val="1A1A1A"/>
                </a:solidFill>
                <a:effectLst/>
                <a:latin typeface="Segoe UI" panose="020B0502040204020203" pitchFamily="34" charset="0"/>
              </a:rPr>
              <a:t>PTORA</a:t>
            </a:r>
            <a:r>
              <a:rPr lang="en-US" sz="1400" b="0" i="0" dirty="0">
                <a:solidFill>
                  <a:srgbClr val="1A1A1A"/>
                </a:solidFill>
                <a:effectLst/>
                <a:latin typeface="Segoe UI" panose="020B0502040204020203" pitchFamily="34" charset="0"/>
              </a:rPr>
              <a:t> is a coupled two-stage optimization algorithm that combines </a:t>
            </a:r>
            <a:r>
              <a:rPr lang="en-US" sz="1400" b="1" i="0" dirty="0">
                <a:solidFill>
                  <a:srgbClr val="1A1A1A"/>
                </a:solidFill>
                <a:effectLst/>
                <a:latin typeface="Segoe UI" panose="020B0502040204020203" pitchFamily="34" charset="0"/>
              </a:rPr>
              <a:t>Deep Reinforcement Learning</a:t>
            </a:r>
            <a:r>
              <a:rPr lang="en-US" sz="1400" b="0" i="0" dirty="0">
                <a:solidFill>
                  <a:srgbClr val="1A1A1A"/>
                </a:solidFill>
                <a:effectLst/>
                <a:latin typeface="Segoe UI" panose="020B0502040204020203" pitchFamily="34" charset="0"/>
              </a:rPr>
              <a:t> for intelligent task offloading decisions with </a:t>
            </a:r>
            <a:r>
              <a:rPr lang="en-US" sz="1400" b="1" i="0" dirty="0">
                <a:solidFill>
                  <a:srgbClr val="1A1A1A"/>
                </a:solidFill>
                <a:effectLst/>
                <a:latin typeface="Segoe UI" panose="020B0502040204020203" pitchFamily="34" charset="0"/>
              </a:rPr>
              <a:t>classical optimization</a:t>
            </a:r>
            <a:r>
              <a:rPr lang="en-US" sz="1400" b="0" i="0" dirty="0">
                <a:solidFill>
                  <a:srgbClr val="1A1A1A"/>
                </a:solidFill>
                <a:effectLst/>
                <a:latin typeface="Segoe UI" panose="020B0502040204020203" pitchFamily="34" charset="0"/>
              </a:rPr>
              <a:t> for efficient resource allocation. The algorithm operates on </a:t>
            </a:r>
            <a:r>
              <a:rPr lang="en-US" sz="1400" b="1" i="0" dirty="0">
                <a:solidFill>
                  <a:srgbClr val="1A1A1A"/>
                </a:solidFill>
                <a:effectLst/>
                <a:latin typeface="Segoe UI" panose="020B0502040204020203" pitchFamily="34" charset="0"/>
              </a:rPr>
              <a:t>execution windows</a:t>
            </a:r>
            <a:r>
              <a:rPr lang="en-US" sz="1400" b="0" i="0" dirty="0">
                <a:solidFill>
                  <a:srgbClr val="1A1A1A"/>
                </a:solidFill>
                <a:effectLst/>
                <a:latin typeface="Segoe UI" panose="020B0502040204020203" pitchFamily="34" charset="0"/>
              </a:rPr>
              <a:t> partitioned from the DAG structure, enabling parallel processing while preserving inter-user task dependencies.</a:t>
            </a:r>
            <a:endParaRPr lang="en-US" sz="1400" b="0" i="0" dirty="0">
              <a:solidFill>
                <a:srgbClr val="4A4A4A"/>
              </a:solidFill>
              <a:effectLst/>
              <a:latin typeface="Segoe UI" panose="020B0502040204020203" pitchFamily="34" charset="0"/>
            </a:endParaRPr>
          </a:p>
        </p:txBody>
      </p:sp>
      <p:sp>
        <p:nvSpPr>
          <p:cNvPr id="10" name="Decagon 9">
            <a:extLst>
              <a:ext uri="{FF2B5EF4-FFF2-40B4-BE49-F238E27FC236}">
                <a16:creationId xmlns:a16="http://schemas.microsoft.com/office/drawing/2014/main" id="{23FB18D7-B402-22C3-7338-1B5B79D07703}"/>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10</a:t>
            </a:r>
            <a:endParaRPr lang="en-US" b="1" dirty="0">
              <a:latin typeface="Söhne"/>
              <a:cs typeface="Times New Roman" panose="02020603050405020304" pitchFamily="18" charset="0"/>
            </a:endParaRPr>
          </a:p>
        </p:txBody>
      </p:sp>
    </p:spTree>
    <p:extLst>
      <p:ext uri="{BB962C8B-B14F-4D97-AF65-F5344CB8AC3E}">
        <p14:creationId xmlns:p14="http://schemas.microsoft.com/office/powerpoint/2010/main" val="409488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1000"/>
                                        <p:tgtEl>
                                          <p:spTgt spid="5"/>
                                        </p:tgtEl>
                                      </p:cBhvr>
                                    </p:animEffect>
                                    <p:anim calcmode="lin" valueType="num">
                                      <p:cBhvr>
                                        <p:cTn id="30" dur="1000" fill="hold"/>
                                        <p:tgtEl>
                                          <p:spTgt spid="5"/>
                                        </p:tgtEl>
                                        <p:attrNameLst>
                                          <p:attrName>ppt_x</p:attrName>
                                        </p:attrNameLst>
                                      </p:cBhvr>
                                      <p:tavLst>
                                        <p:tav tm="0">
                                          <p:val>
                                            <p:strVal val="#ppt_x"/>
                                          </p:val>
                                        </p:tav>
                                        <p:tav tm="100000">
                                          <p:val>
                                            <p:strVal val="#ppt_x"/>
                                          </p:val>
                                        </p:tav>
                                      </p:tavLst>
                                    </p:anim>
                                    <p:anim calcmode="lin" valueType="num">
                                      <p:cBhvr>
                                        <p:cTn id="31" dur="1000" fill="hold"/>
                                        <p:tgtEl>
                                          <p:spTgt spid="5"/>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1000"/>
                                        <p:tgtEl>
                                          <p:spTgt spid="9"/>
                                        </p:tgtEl>
                                      </p:cBhvr>
                                    </p:animEffect>
                                    <p:anim calcmode="lin" valueType="num">
                                      <p:cBhvr>
                                        <p:cTn id="40" dur="1000" fill="hold"/>
                                        <p:tgtEl>
                                          <p:spTgt spid="9"/>
                                        </p:tgtEl>
                                        <p:attrNameLst>
                                          <p:attrName>ppt_x</p:attrName>
                                        </p:attrNameLst>
                                      </p:cBhvr>
                                      <p:tavLst>
                                        <p:tav tm="0">
                                          <p:val>
                                            <p:strVal val="#ppt_x"/>
                                          </p:val>
                                        </p:tav>
                                        <p:tav tm="100000">
                                          <p:val>
                                            <p:strVal val="#ppt_x"/>
                                          </p:val>
                                        </p:tav>
                                      </p:tavLst>
                                    </p:anim>
                                    <p:anim calcmode="lin" valueType="num">
                                      <p:cBhvr>
                                        <p:cTn id="4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anim calcmode="lin" valueType="num">
                                      <p:cBhvr>
                                        <p:cTn id="47" dur="1000" fill="hold"/>
                                        <p:tgtEl>
                                          <p:spTgt spid="12"/>
                                        </p:tgtEl>
                                        <p:attrNameLst>
                                          <p:attrName>ppt_x</p:attrName>
                                        </p:attrNameLst>
                                      </p:cBhvr>
                                      <p:tavLst>
                                        <p:tav tm="0">
                                          <p:val>
                                            <p:strVal val="#ppt_x"/>
                                          </p:val>
                                        </p:tav>
                                        <p:tav tm="100000">
                                          <p:val>
                                            <p:strVal val="#ppt_x"/>
                                          </p:val>
                                        </p:tav>
                                      </p:tavLst>
                                    </p:anim>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1000"/>
                                        <p:tgtEl>
                                          <p:spTgt spid="19"/>
                                        </p:tgtEl>
                                      </p:cBhvr>
                                    </p:animEffect>
                                    <p:anim calcmode="lin" valueType="num">
                                      <p:cBhvr>
                                        <p:cTn id="52" dur="1000" fill="hold"/>
                                        <p:tgtEl>
                                          <p:spTgt spid="19"/>
                                        </p:tgtEl>
                                        <p:attrNameLst>
                                          <p:attrName>ppt_x</p:attrName>
                                        </p:attrNameLst>
                                      </p:cBhvr>
                                      <p:tavLst>
                                        <p:tav tm="0">
                                          <p:val>
                                            <p:strVal val="#ppt_x"/>
                                          </p:val>
                                        </p:tav>
                                        <p:tav tm="100000">
                                          <p:val>
                                            <p:strVal val="#ppt_x"/>
                                          </p:val>
                                        </p:tav>
                                      </p:tavLst>
                                    </p:anim>
                                    <p:anim calcmode="lin" valueType="num">
                                      <p:cBhvr>
                                        <p:cTn id="53" dur="1000" fill="hold"/>
                                        <p:tgtEl>
                                          <p:spTgt spid="19"/>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1000"/>
                                        <p:tgtEl>
                                          <p:spTgt spid="13"/>
                                        </p:tgtEl>
                                      </p:cBhvr>
                                    </p:animEffect>
                                    <p:anim calcmode="lin" valueType="num">
                                      <p:cBhvr>
                                        <p:cTn id="57" dur="1000" fill="hold"/>
                                        <p:tgtEl>
                                          <p:spTgt spid="13"/>
                                        </p:tgtEl>
                                        <p:attrNameLst>
                                          <p:attrName>ppt_x</p:attrName>
                                        </p:attrNameLst>
                                      </p:cBhvr>
                                      <p:tavLst>
                                        <p:tav tm="0">
                                          <p:val>
                                            <p:strVal val="#ppt_x"/>
                                          </p:val>
                                        </p:tav>
                                        <p:tav tm="100000">
                                          <p:val>
                                            <p:strVal val="#ppt_x"/>
                                          </p:val>
                                        </p:tav>
                                      </p:tavLst>
                                    </p:anim>
                                    <p:anim calcmode="lin" valueType="num">
                                      <p:cBhvr>
                                        <p:cTn id="58" dur="1000" fill="hold"/>
                                        <p:tgtEl>
                                          <p:spTgt spid="13"/>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1000"/>
                                        <p:tgtEl>
                                          <p:spTgt spid="15"/>
                                        </p:tgtEl>
                                      </p:cBhvr>
                                    </p:animEffect>
                                    <p:anim calcmode="lin" valueType="num">
                                      <p:cBhvr>
                                        <p:cTn id="62" dur="1000" fill="hold"/>
                                        <p:tgtEl>
                                          <p:spTgt spid="15"/>
                                        </p:tgtEl>
                                        <p:attrNameLst>
                                          <p:attrName>ppt_x</p:attrName>
                                        </p:attrNameLst>
                                      </p:cBhvr>
                                      <p:tavLst>
                                        <p:tav tm="0">
                                          <p:val>
                                            <p:strVal val="#ppt_x"/>
                                          </p:val>
                                        </p:tav>
                                        <p:tav tm="100000">
                                          <p:val>
                                            <p:strVal val="#ppt_x"/>
                                          </p:val>
                                        </p:tav>
                                      </p:tavLst>
                                    </p:anim>
                                    <p:anim calcmode="lin" valueType="num">
                                      <p:cBhvr>
                                        <p:cTn id="63" dur="1000" fill="hold"/>
                                        <p:tgtEl>
                                          <p:spTgt spid="15"/>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1000"/>
                                        <p:tgtEl>
                                          <p:spTgt spid="17"/>
                                        </p:tgtEl>
                                      </p:cBhvr>
                                    </p:animEffect>
                                    <p:anim calcmode="lin" valueType="num">
                                      <p:cBhvr>
                                        <p:cTn id="67" dur="1000" fill="hold"/>
                                        <p:tgtEl>
                                          <p:spTgt spid="17"/>
                                        </p:tgtEl>
                                        <p:attrNameLst>
                                          <p:attrName>ppt_x</p:attrName>
                                        </p:attrNameLst>
                                      </p:cBhvr>
                                      <p:tavLst>
                                        <p:tav tm="0">
                                          <p:val>
                                            <p:strVal val="#ppt_x"/>
                                          </p:val>
                                        </p:tav>
                                        <p:tav tm="100000">
                                          <p:val>
                                            <p:strVal val="#ppt_x"/>
                                          </p:val>
                                        </p:tav>
                                      </p:tavLst>
                                    </p:anim>
                                    <p:anim calcmode="lin" valueType="num">
                                      <p:cBhvr>
                                        <p:cTn id="68" dur="100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1000"/>
                                        <p:tgtEl>
                                          <p:spTgt spid="18"/>
                                        </p:tgtEl>
                                      </p:cBhvr>
                                    </p:animEffect>
                                    <p:anim calcmode="lin" valueType="num">
                                      <p:cBhvr>
                                        <p:cTn id="72" dur="1000" fill="hold"/>
                                        <p:tgtEl>
                                          <p:spTgt spid="18"/>
                                        </p:tgtEl>
                                        <p:attrNameLst>
                                          <p:attrName>ppt_x</p:attrName>
                                        </p:attrNameLst>
                                      </p:cBhvr>
                                      <p:tavLst>
                                        <p:tav tm="0">
                                          <p:val>
                                            <p:strVal val="#ppt_x"/>
                                          </p:val>
                                        </p:tav>
                                        <p:tav tm="100000">
                                          <p:val>
                                            <p:strVal val="#ppt_x"/>
                                          </p:val>
                                        </p:tav>
                                      </p:tavLst>
                                    </p:anim>
                                    <p:anim calcmode="lin" valueType="num">
                                      <p:cBhvr>
                                        <p:cTn id="7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1000"/>
                                        <p:tgtEl>
                                          <p:spTgt spid="16"/>
                                        </p:tgtEl>
                                      </p:cBhvr>
                                    </p:animEffect>
                                    <p:anim calcmode="lin" valueType="num">
                                      <p:cBhvr>
                                        <p:cTn id="79" dur="1000" fill="hold"/>
                                        <p:tgtEl>
                                          <p:spTgt spid="16"/>
                                        </p:tgtEl>
                                        <p:attrNameLst>
                                          <p:attrName>ppt_x</p:attrName>
                                        </p:attrNameLst>
                                      </p:cBhvr>
                                      <p:tavLst>
                                        <p:tav tm="0">
                                          <p:val>
                                            <p:strVal val="#ppt_x"/>
                                          </p:val>
                                        </p:tav>
                                        <p:tav tm="100000">
                                          <p:val>
                                            <p:strVal val="#ppt_x"/>
                                          </p:val>
                                        </p:tav>
                                      </p:tavLst>
                                    </p:anim>
                                    <p:anim calcmode="lin" valueType="num">
                                      <p:cBhvr>
                                        <p:cTn id="8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1" grpId="0" animBg="1"/>
      <p:bldP spid="4" grpId="0" animBg="1"/>
      <p:bldP spid="5" grpId="0" animBg="1"/>
      <p:bldP spid="7" grpId="0" animBg="1"/>
      <p:bldP spid="9" grpId="0" animBg="1"/>
      <p:bldP spid="11" grpId="0"/>
      <p:bldP spid="12" grpId="0" animBg="1"/>
      <p:bldP spid="13" grpId="0" animBg="1"/>
      <p:bldP spid="15" grpId="0" animBg="1"/>
      <p:bldP spid="17" grpId="0" animBg="1"/>
      <p:bldP spid="18" grpId="0" animBg="1"/>
      <p:bldP spid="19" grpId="0"/>
      <p:bldP spid="3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23C9D-9DBC-A64D-92E8-9F4B1A5409E4}"/>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A456CF1-2FDA-3491-BEE8-CDDF192D9AC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4A6F76FC-BD50-511F-84EA-F7D30EAAD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40721C88-FBCA-9C64-FB18-89284CABE5A9}"/>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0CAF5C1-14B1-0173-4B80-D65506409731}"/>
              </a:ext>
            </a:extLst>
          </p:cNvPr>
          <p:cNvSpPr txBox="1"/>
          <p:nvPr/>
        </p:nvSpPr>
        <p:spPr>
          <a:xfrm>
            <a:off x="550276" y="338293"/>
            <a:ext cx="2893869" cy="584775"/>
          </a:xfrm>
          <a:prstGeom prst="rect">
            <a:avLst/>
          </a:prstGeom>
          <a:noFill/>
        </p:spPr>
        <p:txBody>
          <a:bodyPr wrap="none" rtlCol="0">
            <a:spAutoFit/>
          </a:bodyPr>
          <a:lstStyle/>
          <a:p>
            <a:r>
              <a:rPr lang="en-US" sz="3200" b="1" dirty="0">
                <a:solidFill>
                  <a:srgbClr val="0070C0"/>
                </a:solidFill>
                <a:latin typeface="Söhne"/>
              </a:rPr>
              <a:t>PTORA - Stage 1</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67561FD8-C292-B674-3978-496D040DD238}"/>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265D8F41-2405-0AE7-64B4-FB9925D1D46A}"/>
              </a:ext>
            </a:extLst>
          </p:cNvPr>
          <p:cNvSpPr/>
          <p:nvPr/>
        </p:nvSpPr>
        <p:spPr>
          <a:xfrm>
            <a:off x="435004" y="1030935"/>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Task Offloading Decision (DDQN-based)</a:t>
            </a:r>
            <a:endParaRPr lang="en-GB" b="1" dirty="0">
              <a:latin typeface="Söhne"/>
            </a:endParaRPr>
          </a:p>
        </p:txBody>
      </p:sp>
      <p:sp>
        <p:nvSpPr>
          <p:cNvPr id="31" name="Rectangle: Rounded Corners 30">
            <a:extLst>
              <a:ext uri="{FF2B5EF4-FFF2-40B4-BE49-F238E27FC236}">
                <a16:creationId xmlns:a16="http://schemas.microsoft.com/office/drawing/2014/main" id="{17FD7F37-49C2-566A-9C41-1725CD1E1CC0}"/>
              </a:ext>
            </a:extLst>
          </p:cNvPr>
          <p:cNvSpPr/>
          <p:nvPr/>
        </p:nvSpPr>
        <p:spPr>
          <a:xfrm>
            <a:off x="351993" y="1473004"/>
            <a:ext cx="5604556" cy="2071474"/>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900"/>
              </a:spcAft>
            </a:pPr>
            <a:r>
              <a:rPr lang="en-US" sz="1400" b="1" dirty="0">
                <a:solidFill>
                  <a:srgbClr val="0A2342"/>
                </a:solidFill>
                <a:latin typeface="Segoe UI" panose="020B0502040204020203" pitchFamily="34" charset="0"/>
              </a:rPr>
              <a:t>         Double </a:t>
            </a:r>
            <a:r>
              <a:rPr lang="en-US" sz="1400" b="1" i="0" dirty="0">
                <a:solidFill>
                  <a:srgbClr val="0A2342"/>
                </a:solidFill>
                <a:effectLst/>
                <a:latin typeface="Segoe UI" panose="020B0502040204020203" pitchFamily="34" charset="0"/>
              </a:rPr>
              <a:t>Deep Q Network (DDQN)</a:t>
            </a:r>
          </a:p>
          <a:p>
            <a:pPr algn="l">
              <a:spcBef>
                <a:spcPts val="750"/>
              </a:spcBef>
            </a:pPr>
            <a:r>
              <a:rPr lang="en-US" sz="1400" b="0" i="0" dirty="0">
                <a:solidFill>
                  <a:srgbClr val="4A4A4A"/>
                </a:solidFill>
                <a:effectLst/>
                <a:latin typeface="Segoe UI" panose="020B0502040204020203" pitchFamily="34" charset="0"/>
              </a:rPr>
              <a:t>Uses two separate neural networks to make offloading decisions:</a:t>
            </a:r>
          </a:p>
          <a:p>
            <a:pPr algn="l">
              <a:spcBef>
                <a:spcPts val="750"/>
              </a:spcBef>
            </a:pPr>
            <a:r>
              <a:rPr lang="en-US" sz="1400" b="1" i="0" dirty="0" err="1">
                <a:solidFill>
                  <a:srgbClr val="0A2342"/>
                </a:solidFill>
                <a:effectLst/>
                <a:latin typeface="Segoe UI" panose="020B0502040204020203" pitchFamily="34" charset="0"/>
              </a:rPr>
              <a:t>MainNet</a:t>
            </a:r>
            <a:r>
              <a:rPr lang="en-US" sz="1400" b="0" i="0" dirty="0">
                <a:solidFill>
                  <a:srgbClr val="4A4A4A"/>
                </a:solidFill>
                <a:effectLst/>
                <a:latin typeface="Segoe UI" panose="020B0502040204020203" pitchFamily="34" charset="0"/>
              </a:rPr>
              <a:t>: Selects actions using </a:t>
            </a:r>
            <a:r>
              <a:rPr lang="el-GR" sz="1400" b="0" i="0" dirty="0">
                <a:solidFill>
                  <a:srgbClr val="4A4A4A"/>
                </a:solidFill>
                <a:effectLst/>
                <a:latin typeface="Segoe UI" panose="020B0502040204020203" pitchFamily="34" charset="0"/>
              </a:rPr>
              <a:t>ε-</a:t>
            </a:r>
            <a:r>
              <a:rPr lang="en-US" sz="1400" b="0" i="0" dirty="0">
                <a:solidFill>
                  <a:srgbClr val="4A4A4A"/>
                </a:solidFill>
                <a:effectLst/>
                <a:latin typeface="Segoe UI" panose="020B0502040204020203" pitchFamily="34" charset="0"/>
              </a:rPr>
              <a:t>greedy policy</a:t>
            </a:r>
          </a:p>
          <a:p>
            <a:pPr algn="l">
              <a:spcBef>
                <a:spcPts val="750"/>
              </a:spcBef>
            </a:pPr>
            <a:r>
              <a:rPr lang="en-US" sz="1400" b="1" i="0" dirty="0" err="1">
                <a:solidFill>
                  <a:srgbClr val="0A2342"/>
                </a:solidFill>
                <a:effectLst/>
                <a:latin typeface="Segoe UI" panose="020B0502040204020203" pitchFamily="34" charset="0"/>
              </a:rPr>
              <a:t>TargetNet</a:t>
            </a:r>
            <a:r>
              <a:rPr lang="en-US" sz="1400" b="0" i="0" dirty="0">
                <a:solidFill>
                  <a:srgbClr val="4A4A4A"/>
                </a:solidFill>
                <a:effectLst/>
                <a:latin typeface="Segoe UI" panose="020B0502040204020203" pitchFamily="34" charset="0"/>
              </a:rPr>
              <a:t>: Evaluates Q-values for stability</a:t>
            </a:r>
          </a:p>
          <a:p>
            <a:pPr algn="l">
              <a:spcBef>
                <a:spcPts val="750"/>
              </a:spcBef>
              <a:buNone/>
            </a:pPr>
            <a:r>
              <a:rPr lang="en-US" sz="1400" b="0" i="1" dirty="0">
                <a:solidFill>
                  <a:srgbClr val="6B7280"/>
                </a:solidFill>
                <a:effectLst/>
                <a:latin typeface="Segoe UI" panose="020B0502040204020203" pitchFamily="34" charset="0"/>
              </a:rPr>
              <a:t>Decoupling reduces overestimation bias in traditional DQN</a:t>
            </a:r>
          </a:p>
        </p:txBody>
      </p:sp>
      <p:sp>
        <p:nvSpPr>
          <p:cNvPr id="3" name="Rectangle: Rounded Corners 2">
            <a:extLst>
              <a:ext uri="{FF2B5EF4-FFF2-40B4-BE49-F238E27FC236}">
                <a16:creationId xmlns:a16="http://schemas.microsoft.com/office/drawing/2014/main" id="{3121C47D-30BE-DFB8-1048-05623D80071B}"/>
              </a:ext>
            </a:extLst>
          </p:cNvPr>
          <p:cNvSpPr/>
          <p:nvPr/>
        </p:nvSpPr>
        <p:spPr>
          <a:xfrm>
            <a:off x="351993" y="3655066"/>
            <a:ext cx="5604556" cy="2510064"/>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400" b="1" dirty="0">
                <a:solidFill>
                  <a:srgbClr val="0A2342"/>
                </a:solidFill>
                <a:latin typeface="Segoe UI" panose="020B0502040204020203" pitchFamily="34" charset="0"/>
              </a:rPr>
              <a:t>         </a:t>
            </a:r>
            <a:r>
              <a:rPr lang="en-US" sz="1400" b="1" i="0" dirty="0">
                <a:solidFill>
                  <a:srgbClr val="0A2342"/>
                </a:solidFill>
                <a:effectLst/>
                <a:latin typeface="Segoe UI" panose="020B0502040204020203" pitchFamily="34" charset="0"/>
              </a:rPr>
              <a:t>State Space (s</a:t>
            </a:r>
            <a:r>
              <a:rPr lang="en-US" sz="1400" b="1" i="0" baseline="-25000" dirty="0">
                <a:solidFill>
                  <a:srgbClr val="0A2342"/>
                </a:solidFill>
                <a:effectLst/>
                <a:latin typeface="Segoe UI" panose="020B0502040204020203" pitchFamily="34" charset="0"/>
              </a:rPr>
              <a:t>i</a:t>
            </a:r>
            <a:r>
              <a:rPr lang="en-US" sz="1400" b="1" i="0" baseline="30000" dirty="0">
                <a:solidFill>
                  <a:srgbClr val="0A2342"/>
                </a:solidFill>
                <a:effectLst/>
                <a:latin typeface="Segoe UI" panose="020B0502040204020203" pitchFamily="34" charset="0"/>
              </a:rPr>
              <a:t>m</a:t>
            </a:r>
            <a:r>
              <a:rPr lang="en-US" sz="1400" b="1" i="0" dirty="0">
                <a:solidFill>
                  <a:srgbClr val="0A2342"/>
                </a:solidFill>
                <a:effectLst/>
                <a:latin typeface="Segoe UI" panose="020B0502040204020203" pitchFamily="34" charset="0"/>
              </a:rPr>
              <a:t>)</a:t>
            </a:r>
          </a:p>
          <a:p>
            <a:pPr algn="l">
              <a:spcBef>
                <a:spcPts val="750"/>
              </a:spcBef>
            </a:pPr>
            <a:r>
              <a:rPr lang="en-US" sz="1400" b="0" i="0" dirty="0">
                <a:solidFill>
                  <a:srgbClr val="4A4A4A"/>
                </a:solidFill>
                <a:effectLst/>
                <a:latin typeface="Segoe UI" panose="020B0502040204020203" pitchFamily="34" charset="0"/>
              </a:rPr>
              <a:t>For each subtask v</a:t>
            </a:r>
            <a:r>
              <a:rPr lang="en-US" sz="1400" b="0" i="0" baseline="-25000" dirty="0">
                <a:solidFill>
                  <a:srgbClr val="4A4A4A"/>
                </a:solidFill>
                <a:effectLst/>
                <a:latin typeface="Segoe UI" panose="020B0502040204020203" pitchFamily="34" charset="0"/>
              </a:rPr>
              <a:t>i</a:t>
            </a:r>
            <a:r>
              <a:rPr lang="en-US" sz="1400" b="0" i="0" baseline="30000" dirty="0">
                <a:solidFill>
                  <a:srgbClr val="4A4A4A"/>
                </a:solidFill>
                <a:effectLst/>
                <a:latin typeface="Segoe UI" panose="020B0502040204020203" pitchFamily="34" charset="0"/>
              </a:rPr>
              <a:t>m</a:t>
            </a:r>
            <a:r>
              <a:rPr lang="en-US" sz="1400" b="0" i="0" dirty="0">
                <a:solidFill>
                  <a:srgbClr val="4A4A4A"/>
                </a:solidFill>
                <a:effectLst/>
                <a:latin typeface="Segoe UI" panose="020B0502040204020203" pitchFamily="34" charset="0"/>
              </a:rPr>
              <a:t> in execution window W</a:t>
            </a:r>
            <a:r>
              <a:rPr lang="en-US" sz="1400" b="0" i="0" baseline="-25000" dirty="0">
                <a:solidFill>
                  <a:srgbClr val="4A4A4A"/>
                </a:solidFill>
                <a:effectLst/>
                <a:latin typeface="Segoe UI" panose="020B0502040204020203" pitchFamily="34" charset="0"/>
              </a:rPr>
              <a:t>i</a:t>
            </a:r>
            <a:r>
              <a:rPr lang="en-US" sz="1400" b="0" i="0" dirty="0">
                <a:solidFill>
                  <a:srgbClr val="4A4A4A"/>
                </a:solidFill>
                <a:effectLst/>
                <a:latin typeface="Segoe UI" panose="020B0502040204020203" pitchFamily="34" charset="0"/>
              </a:rPr>
              <a:t>:</a:t>
            </a:r>
          </a:p>
          <a:p>
            <a:pPr algn="l">
              <a:spcBef>
                <a:spcPts val="750"/>
              </a:spcBef>
            </a:pPr>
            <a:r>
              <a:rPr lang="en-US" sz="1400" b="1" i="0" dirty="0">
                <a:solidFill>
                  <a:srgbClr val="0A2342"/>
                </a:solidFill>
                <a:effectLst/>
                <a:latin typeface="Segoe UI" panose="020B0502040204020203" pitchFamily="34" charset="0"/>
              </a:rPr>
              <a:t>① Subtask attributes</a:t>
            </a:r>
            <a:r>
              <a:rPr lang="en-US" sz="1400" b="0" i="0" dirty="0">
                <a:solidFill>
                  <a:srgbClr val="4A4A4A"/>
                </a:solidFill>
                <a:effectLst/>
                <a:latin typeface="Segoe UI" panose="020B0502040204020203" pitchFamily="34" charset="0"/>
              </a:rPr>
              <a:t>: v</a:t>
            </a:r>
            <a:r>
              <a:rPr lang="en-US" sz="1400" b="0" i="0" baseline="-25000" dirty="0">
                <a:solidFill>
                  <a:srgbClr val="4A4A4A"/>
                </a:solidFill>
                <a:effectLst/>
                <a:latin typeface="Segoe UI" panose="020B0502040204020203" pitchFamily="34" charset="0"/>
              </a:rPr>
              <a:t>i</a:t>
            </a:r>
            <a:r>
              <a:rPr lang="en-US" sz="1400" b="0" i="0" baseline="30000" dirty="0">
                <a:solidFill>
                  <a:srgbClr val="4A4A4A"/>
                </a:solidFill>
                <a:effectLst/>
                <a:latin typeface="Segoe UI" panose="020B0502040204020203" pitchFamily="34" charset="0"/>
              </a:rPr>
              <a:t>m</a:t>
            </a:r>
            <a:r>
              <a:rPr lang="en-US" sz="1400" b="0" i="0" dirty="0">
                <a:solidFill>
                  <a:srgbClr val="4A4A4A"/>
                </a:solidFill>
                <a:effectLst/>
                <a:latin typeface="Segoe UI" panose="020B0502040204020203" pitchFamily="34" charset="0"/>
              </a:rPr>
              <a:t> = ⟨b</a:t>
            </a:r>
            <a:r>
              <a:rPr lang="en-US" sz="1400" b="0" i="0" baseline="30000" dirty="0">
                <a:solidFill>
                  <a:srgbClr val="4A4A4A"/>
                </a:solidFill>
                <a:effectLst/>
                <a:latin typeface="Segoe UI" panose="020B0502040204020203" pitchFamily="34" charset="0"/>
              </a:rPr>
              <a:t>s</a:t>
            </a:r>
            <a:r>
              <a:rPr lang="en-US" sz="1400" b="0" i="0" dirty="0">
                <a:solidFill>
                  <a:srgbClr val="4A4A4A"/>
                </a:solidFill>
                <a:effectLst/>
                <a:latin typeface="Segoe UI" panose="020B0502040204020203" pitchFamily="34" charset="0"/>
              </a:rPr>
              <a:t>, c</a:t>
            </a:r>
            <a:r>
              <a:rPr lang="en-US" sz="1400" b="0" i="0" baseline="30000" dirty="0">
                <a:solidFill>
                  <a:srgbClr val="4A4A4A"/>
                </a:solidFill>
                <a:effectLst/>
                <a:latin typeface="Segoe UI" panose="020B0502040204020203" pitchFamily="34" charset="0"/>
              </a:rPr>
              <a:t>s</a:t>
            </a:r>
            <a:r>
              <a:rPr lang="en-US" sz="1400" b="0" i="0" dirty="0">
                <a:solidFill>
                  <a:srgbClr val="4A4A4A"/>
                </a:solidFill>
                <a:effectLst/>
                <a:latin typeface="Segoe UI" panose="020B0502040204020203" pitchFamily="34" charset="0"/>
              </a:rPr>
              <a:t>, </a:t>
            </a:r>
            <a:r>
              <a:rPr lang="el-GR" sz="1400" b="0" i="0" dirty="0">
                <a:solidFill>
                  <a:srgbClr val="4A4A4A"/>
                </a:solidFill>
                <a:effectLst/>
                <a:latin typeface="Segoe UI" panose="020B0502040204020203" pitchFamily="34" charset="0"/>
              </a:rPr>
              <a:t>χ</a:t>
            </a:r>
            <a:r>
              <a:rPr lang="en-US" sz="1400" b="0" i="0" baseline="30000" dirty="0">
                <a:solidFill>
                  <a:srgbClr val="4A4A4A"/>
                </a:solidFill>
                <a:effectLst/>
                <a:latin typeface="Segoe UI" panose="020B0502040204020203" pitchFamily="34" charset="0"/>
              </a:rPr>
              <a:t>s</a:t>
            </a:r>
            <a:r>
              <a:rPr lang="en-US" sz="1400" b="0" i="0" dirty="0">
                <a:solidFill>
                  <a:srgbClr val="4A4A4A"/>
                </a:solidFill>
                <a:effectLst/>
                <a:latin typeface="Segoe UI" panose="020B0502040204020203" pitchFamily="34" charset="0"/>
              </a:rPr>
              <a:t>⟩</a:t>
            </a:r>
          </a:p>
          <a:p>
            <a:pPr algn="l">
              <a:spcBef>
                <a:spcPts val="750"/>
              </a:spcBef>
            </a:pPr>
            <a:r>
              <a:rPr lang="en-US" sz="1400" b="1" i="0" dirty="0">
                <a:solidFill>
                  <a:srgbClr val="0A2342"/>
                </a:solidFill>
                <a:effectLst/>
                <a:latin typeface="Segoe UI" panose="020B0502040204020203" pitchFamily="34" charset="0"/>
              </a:rPr>
              <a:t>② Dependency info</a:t>
            </a:r>
            <a:r>
              <a:rPr lang="en-US" sz="1400" b="0" i="0" dirty="0">
                <a:solidFill>
                  <a:srgbClr val="4A4A4A"/>
                </a:solidFill>
                <a:effectLst/>
                <a:latin typeface="Segoe UI" panose="020B0502040204020203" pitchFamily="34" charset="0"/>
              </a:rPr>
              <a:t>: </a:t>
            </a:r>
            <a:r>
              <a:rPr lang="en-US" sz="1400" b="0" i="0" dirty="0" err="1">
                <a:solidFill>
                  <a:srgbClr val="4A4A4A"/>
                </a:solidFill>
                <a:effectLst/>
                <a:latin typeface="Segoe UI" panose="020B0502040204020203" pitchFamily="34" charset="0"/>
              </a:rPr>
              <a:t>q</a:t>
            </a:r>
            <a:r>
              <a:rPr lang="en-US" sz="1400" b="0" i="0" baseline="-25000" dirty="0" err="1">
                <a:solidFill>
                  <a:srgbClr val="4A4A4A"/>
                </a:solidFill>
                <a:effectLst/>
                <a:latin typeface="Segoe UI" panose="020B0502040204020203" pitchFamily="34" charset="0"/>
              </a:rPr>
              <a:t>i</a:t>
            </a:r>
            <a:r>
              <a:rPr lang="en-US" sz="1400" b="0" i="0" baseline="30000" dirty="0" err="1">
                <a:solidFill>
                  <a:srgbClr val="4A4A4A"/>
                </a:solidFill>
                <a:effectLst/>
                <a:latin typeface="Segoe UI" panose="020B0502040204020203" pitchFamily="34" charset="0"/>
              </a:rPr>
              <a:t>m</a:t>
            </a:r>
            <a:r>
              <a:rPr lang="en-US" sz="1400" b="0" i="0" dirty="0">
                <a:solidFill>
                  <a:srgbClr val="4A4A4A"/>
                </a:solidFill>
                <a:effectLst/>
                <a:latin typeface="Segoe UI" panose="020B0502040204020203" pitchFamily="34" charset="0"/>
              </a:rPr>
              <a:t> (Q groups for predecessors)</a:t>
            </a:r>
          </a:p>
          <a:p>
            <a:pPr algn="l">
              <a:spcBef>
                <a:spcPts val="750"/>
              </a:spcBef>
            </a:pPr>
            <a:r>
              <a:rPr lang="en-US" sz="1400" b="1" i="0" dirty="0">
                <a:solidFill>
                  <a:srgbClr val="0A2342"/>
                </a:solidFill>
                <a:effectLst/>
                <a:latin typeface="Segoe UI" panose="020B0502040204020203" pitchFamily="34" charset="0"/>
              </a:rPr>
              <a:t>③ Parallel context</a:t>
            </a:r>
            <a:r>
              <a:rPr lang="en-US" sz="1400" b="0" i="0" dirty="0">
                <a:solidFill>
                  <a:srgbClr val="4A4A4A"/>
                </a:solidFill>
                <a:effectLst/>
                <a:latin typeface="Segoe UI" panose="020B0502040204020203" pitchFamily="34" charset="0"/>
              </a:rPr>
              <a:t>: </a:t>
            </a:r>
            <a:r>
              <a:rPr lang="en-US" sz="1400" b="0" i="0" dirty="0" err="1">
                <a:solidFill>
                  <a:srgbClr val="4A4A4A"/>
                </a:solidFill>
                <a:effectLst/>
                <a:latin typeface="Segoe UI" panose="020B0502040204020203" pitchFamily="34" charset="0"/>
              </a:rPr>
              <a:t>u</a:t>
            </a:r>
            <a:r>
              <a:rPr lang="en-US" sz="1400" b="0" i="0" baseline="-25000" dirty="0" err="1">
                <a:solidFill>
                  <a:srgbClr val="4A4A4A"/>
                </a:solidFill>
                <a:effectLst/>
                <a:latin typeface="Segoe UI" panose="020B0502040204020203" pitchFamily="34" charset="0"/>
              </a:rPr>
              <a:t>i</a:t>
            </a:r>
            <a:r>
              <a:rPr lang="en-US" sz="1400" b="0" i="0" baseline="30000" dirty="0" err="1">
                <a:solidFill>
                  <a:srgbClr val="4A4A4A"/>
                </a:solidFill>
                <a:effectLst/>
                <a:latin typeface="Segoe UI" panose="020B0502040204020203" pitchFamily="34" charset="0"/>
              </a:rPr>
              <a:t>m</a:t>
            </a:r>
            <a:r>
              <a:rPr lang="en-US" sz="1400" b="0" i="0" dirty="0">
                <a:solidFill>
                  <a:srgbClr val="4A4A4A"/>
                </a:solidFill>
                <a:effectLst/>
                <a:latin typeface="Segoe UI" panose="020B0502040204020203" pitchFamily="34" charset="0"/>
              </a:rPr>
              <a:t> (embedded info with Softmax attention)</a:t>
            </a:r>
          </a:p>
          <a:p>
            <a:pPr algn="l">
              <a:spcBef>
                <a:spcPts val="750"/>
              </a:spcBef>
            </a:pPr>
            <a:endParaRPr lang="en-US" sz="1400" b="0" i="0" dirty="0">
              <a:solidFill>
                <a:srgbClr val="4A4A4A"/>
              </a:solidFill>
              <a:effectLst/>
              <a:latin typeface="Segoe UI" panose="020B0502040204020203" pitchFamily="34" charset="0"/>
            </a:endParaRPr>
          </a:p>
          <a:p>
            <a:pPr algn="l">
              <a:spcBef>
                <a:spcPts val="750"/>
              </a:spcBef>
            </a:pPr>
            <a:endParaRPr lang="en-US" sz="1400" b="0" i="0" dirty="0">
              <a:solidFill>
                <a:srgbClr val="4A4A4A"/>
              </a:solidFill>
              <a:effectLst/>
              <a:latin typeface="Segoe UI" panose="020B0502040204020203" pitchFamily="34" charset="0"/>
            </a:endParaRPr>
          </a:p>
        </p:txBody>
      </p:sp>
      <p:sp>
        <p:nvSpPr>
          <p:cNvPr id="10" name="Rectangle: Rounded Corners 9">
            <a:extLst>
              <a:ext uri="{FF2B5EF4-FFF2-40B4-BE49-F238E27FC236}">
                <a16:creationId xmlns:a16="http://schemas.microsoft.com/office/drawing/2014/main" id="{28204729-34AC-FAF1-841D-38AC6751A79E}"/>
              </a:ext>
            </a:extLst>
          </p:cNvPr>
          <p:cNvSpPr/>
          <p:nvPr/>
        </p:nvSpPr>
        <p:spPr>
          <a:xfrm>
            <a:off x="708015" y="5603306"/>
            <a:ext cx="4892511" cy="397444"/>
          </a:xfrm>
          <a:prstGeom prst="roundRect">
            <a:avLst/>
          </a:prstGeom>
          <a:solidFill>
            <a:srgbClr val="1431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a:solidFill>
                  <a:srgbClr val="FFFFFF"/>
                </a:solidFill>
                <a:effectLst/>
                <a:latin typeface="Courier New" panose="02070309020205020404" pitchFamily="49" charset="0"/>
              </a:rPr>
              <a:t>s</a:t>
            </a:r>
            <a:r>
              <a:rPr lang="en-US" b="0" i="0" baseline="-25000">
                <a:solidFill>
                  <a:srgbClr val="FFFFFF"/>
                </a:solidFill>
                <a:effectLst/>
                <a:latin typeface="Courier New" panose="02070309020205020404" pitchFamily="49" charset="0"/>
              </a:rPr>
              <a:t>i</a:t>
            </a:r>
            <a:r>
              <a:rPr lang="en-US" b="0" i="0" baseline="30000">
                <a:solidFill>
                  <a:srgbClr val="FFFFFF"/>
                </a:solidFill>
                <a:effectLst/>
                <a:latin typeface="Courier New" panose="02070309020205020404" pitchFamily="49" charset="0"/>
              </a:rPr>
              <a:t>m</a:t>
            </a:r>
            <a:r>
              <a:rPr lang="en-US" b="0" i="0">
                <a:solidFill>
                  <a:srgbClr val="FFFFFF"/>
                </a:solidFill>
                <a:effectLst/>
                <a:latin typeface="Courier New" panose="02070309020205020404" pitchFamily="49" charset="0"/>
              </a:rPr>
              <a:t> = v</a:t>
            </a:r>
            <a:r>
              <a:rPr lang="en-US" b="0" i="0" baseline="-25000">
                <a:solidFill>
                  <a:srgbClr val="FFFFFF"/>
                </a:solidFill>
                <a:effectLst/>
                <a:latin typeface="Courier New" panose="02070309020205020404" pitchFamily="49" charset="0"/>
              </a:rPr>
              <a:t>i</a:t>
            </a:r>
            <a:r>
              <a:rPr lang="en-US" b="0" i="0" baseline="30000">
                <a:solidFill>
                  <a:srgbClr val="FFFFFF"/>
                </a:solidFill>
                <a:effectLst/>
                <a:latin typeface="Courier New" panose="02070309020205020404" pitchFamily="49" charset="0"/>
              </a:rPr>
              <a:t>m</a:t>
            </a:r>
            <a:r>
              <a:rPr lang="en-US" b="0" i="0">
                <a:solidFill>
                  <a:srgbClr val="FFFFFF"/>
                </a:solidFill>
                <a:effectLst/>
                <a:latin typeface="Courier New" panose="02070309020205020404" pitchFamily="49" charset="0"/>
              </a:rPr>
              <a:t> ∪ q</a:t>
            </a:r>
            <a:r>
              <a:rPr lang="en-US" b="0" i="0" baseline="-25000">
                <a:solidFill>
                  <a:srgbClr val="FFFFFF"/>
                </a:solidFill>
                <a:effectLst/>
                <a:latin typeface="Courier New" panose="02070309020205020404" pitchFamily="49" charset="0"/>
              </a:rPr>
              <a:t>i</a:t>
            </a:r>
            <a:r>
              <a:rPr lang="en-US" b="0" i="0" baseline="30000">
                <a:solidFill>
                  <a:srgbClr val="FFFFFF"/>
                </a:solidFill>
                <a:effectLst/>
                <a:latin typeface="Courier New" panose="02070309020205020404" pitchFamily="49" charset="0"/>
              </a:rPr>
              <a:t>m</a:t>
            </a:r>
            <a:r>
              <a:rPr lang="en-US" b="0" i="0">
                <a:solidFill>
                  <a:srgbClr val="FFFFFF"/>
                </a:solidFill>
                <a:effectLst/>
                <a:latin typeface="Courier New" panose="02070309020205020404" pitchFamily="49" charset="0"/>
              </a:rPr>
              <a:t> ∪ u</a:t>
            </a:r>
            <a:r>
              <a:rPr lang="en-US" b="0" i="0" baseline="-25000">
                <a:solidFill>
                  <a:srgbClr val="FFFFFF"/>
                </a:solidFill>
                <a:effectLst/>
                <a:latin typeface="Courier New" panose="02070309020205020404" pitchFamily="49" charset="0"/>
              </a:rPr>
              <a:t>i</a:t>
            </a:r>
            <a:r>
              <a:rPr lang="en-US" b="0" i="0" baseline="30000">
                <a:solidFill>
                  <a:srgbClr val="FFFFFF"/>
                </a:solidFill>
                <a:effectLst/>
                <a:latin typeface="Courier New" panose="02070309020205020404" pitchFamily="49" charset="0"/>
              </a:rPr>
              <a:t>m</a:t>
            </a:r>
            <a:endParaRPr lang="en-US"/>
          </a:p>
        </p:txBody>
      </p:sp>
      <p:sp>
        <p:nvSpPr>
          <p:cNvPr id="14" name="Rectangle: Rounded Corners 13">
            <a:extLst>
              <a:ext uri="{FF2B5EF4-FFF2-40B4-BE49-F238E27FC236}">
                <a16:creationId xmlns:a16="http://schemas.microsoft.com/office/drawing/2014/main" id="{5F2E6DFE-A3C6-0591-D108-C87626301792}"/>
              </a:ext>
            </a:extLst>
          </p:cNvPr>
          <p:cNvSpPr/>
          <p:nvPr/>
        </p:nvSpPr>
        <p:spPr>
          <a:xfrm>
            <a:off x="6162365" y="1473004"/>
            <a:ext cx="5604556" cy="1795080"/>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400" b="1" i="0" dirty="0">
                <a:solidFill>
                  <a:srgbClr val="0A2342"/>
                </a:solidFill>
                <a:effectLst/>
                <a:latin typeface="Segoe UI" panose="020B0502040204020203" pitchFamily="34" charset="0"/>
              </a:rPr>
              <a:t>          Action Space (a</a:t>
            </a:r>
            <a:r>
              <a:rPr lang="en-US" sz="1400" b="1" i="0" baseline="-25000" dirty="0">
                <a:solidFill>
                  <a:srgbClr val="0A2342"/>
                </a:solidFill>
                <a:effectLst/>
                <a:latin typeface="Segoe UI" panose="020B0502040204020203" pitchFamily="34" charset="0"/>
              </a:rPr>
              <a:t>i</a:t>
            </a:r>
            <a:r>
              <a:rPr lang="en-US" sz="1400" b="1" i="0" baseline="30000" dirty="0">
                <a:solidFill>
                  <a:srgbClr val="0A2342"/>
                </a:solidFill>
                <a:effectLst/>
                <a:latin typeface="Segoe UI" panose="020B0502040204020203" pitchFamily="34" charset="0"/>
              </a:rPr>
              <a:t>m</a:t>
            </a:r>
            <a:r>
              <a:rPr lang="en-US" sz="1400" b="1" i="0" dirty="0">
                <a:solidFill>
                  <a:srgbClr val="0A2342"/>
                </a:solidFill>
                <a:effectLst/>
                <a:latin typeface="Segoe UI" panose="020B0502040204020203" pitchFamily="34" charset="0"/>
              </a:rPr>
              <a:t>)</a:t>
            </a:r>
          </a:p>
          <a:p>
            <a:pPr algn="l">
              <a:buNone/>
            </a:pPr>
            <a:r>
              <a:rPr lang="en-US" sz="1400" b="0" i="0" dirty="0">
                <a:solidFill>
                  <a:srgbClr val="4A4A4A"/>
                </a:solidFill>
                <a:effectLst/>
                <a:latin typeface="Segoe UI" panose="020B0502040204020203" pitchFamily="34" charset="0"/>
              </a:rPr>
              <a:t>Binary decision for each subtask:</a:t>
            </a:r>
          </a:p>
          <a:p>
            <a:pPr algn="l">
              <a:buNone/>
            </a:pPr>
            <a:endParaRPr lang="en-US" sz="1400" dirty="0">
              <a:solidFill>
                <a:srgbClr val="4A4A4A"/>
              </a:solidFill>
              <a:latin typeface="Segoe UI" panose="020B0502040204020203" pitchFamily="34" charset="0"/>
            </a:endParaRPr>
          </a:p>
          <a:p>
            <a:pPr algn="l">
              <a:buNone/>
            </a:pPr>
            <a:endParaRPr lang="en-US" sz="1400" b="0" i="0" dirty="0">
              <a:solidFill>
                <a:srgbClr val="4A4A4A"/>
              </a:solidFill>
              <a:effectLst/>
              <a:latin typeface="Segoe UI" panose="020B0502040204020203" pitchFamily="34" charset="0"/>
            </a:endParaRPr>
          </a:p>
          <a:p>
            <a:pPr algn="l">
              <a:buNone/>
            </a:pPr>
            <a:endParaRPr lang="en-US" sz="1400" dirty="0">
              <a:solidFill>
                <a:srgbClr val="4A4A4A"/>
              </a:solidFill>
              <a:latin typeface="Segoe UI" panose="020B0502040204020203" pitchFamily="34" charset="0"/>
            </a:endParaRPr>
          </a:p>
          <a:p>
            <a:pPr algn="l">
              <a:buNone/>
            </a:pPr>
            <a:endParaRPr lang="en-US" sz="1400" b="0" i="0" dirty="0">
              <a:solidFill>
                <a:srgbClr val="4A4A4A"/>
              </a:solidFill>
              <a:effectLst/>
              <a:latin typeface="Segoe UI" panose="020B0502040204020203" pitchFamily="34" charset="0"/>
            </a:endParaRPr>
          </a:p>
          <a:p>
            <a:pPr algn="l">
              <a:buNone/>
            </a:pPr>
            <a:endParaRPr lang="en-US" sz="1400" b="0" i="0" dirty="0">
              <a:solidFill>
                <a:srgbClr val="4A4A4A"/>
              </a:solidFill>
              <a:effectLst/>
              <a:latin typeface="Segoe UI" panose="020B0502040204020203" pitchFamily="34" charset="0"/>
            </a:endParaRPr>
          </a:p>
        </p:txBody>
      </p:sp>
      <p:sp>
        <p:nvSpPr>
          <p:cNvPr id="20" name="Rectangle: Rounded Corners 19">
            <a:extLst>
              <a:ext uri="{FF2B5EF4-FFF2-40B4-BE49-F238E27FC236}">
                <a16:creationId xmlns:a16="http://schemas.microsoft.com/office/drawing/2014/main" id="{4DD541A2-5CAC-1E6D-67F7-7281512264B2}"/>
              </a:ext>
            </a:extLst>
          </p:cNvPr>
          <p:cNvSpPr/>
          <p:nvPr/>
        </p:nvSpPr>
        <p:spPr>
          <a:xfrm>
            <a:off x="6318240" y="2246547"/>
            <a:ext cx="4892511" cy="344253"/>
          </a:xfrm>
          <a:prstGeom prst="roundRect">
            <a:avLst/>
          </a:prstGeom>
          <a:solidFill>
            <a:srgbClr val="1431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dirty="0">
                <a:solidFill>
                  <a:srgbClr val="FFFFFF"/>
                </a:solidFill>
                <a:effectLst/>
                <a:latin typeface="Courier New" panose="02070309020205020404" pitchFamily="49" charset="0"/>
              </a:rPr>
              <a:t>a</a:t>
            </a:r>
            <a:r>
              <a:rPr lang="en-US" b="0" i="0" baseline="-25000" dirty="0">
                <a:solidFill>
                  <a:srgbClr val="FFFFFF"/>
                </a:solidFill>
                <a:effectLst/>
                <a:latin typeface="Courier New" panose="02070309020205020404" pitchFamily="49" charset="0"/>
              </a:rPr>
              <a:t>i</a:t>
            </a:r>
            <a:r>
              <a:rPr lang="en-US" b="0" i="0" baseline="30000" dirty="0">
                <a:solidFill>
                  <a:srgbClr val="FFFFFF"/>
                </a:solidFill>
                <a:effectLst/>
                <a:latin typeface="Courier New" panose="02070309020205020404" pitchFamily="49" charset="0"/>
              </a:rPr>
              <a:t>m</a:t>
            </a:r>
            <a:r>
              <a:rPr lang="en-US" b="0" i="0" dirty="0">
                <a:solidFill>
                  <a:srgbClr val="FFFFFF"/>
                </a:solidFill>
                <a:effectLst/>
                <a:latin typeface="Courier New" panose="02070309020205020404" pitchFamily="49" charset="0"/>
              </a:rPr>
              <a:t> ∈ {0, 1}</a:t>
            </a:r>
            <a:endParaRPr lang="en-US" dirty="0"/>
          </a:p>
        </p:txBody>
      </p:sp>
      <p:sp>
        <p:nvSpPr>
          <p:cNvPr id="24" name="TextBox 23">
            <a:extLst>
              <a:ext uri="{FF2B5EF4-FFF2-40B4-BE49-F238E27FC236}">
                <a16:creationId xmlns:a16="http://schemas.microsoft.com/office/drawing/2014/main" id="{3A082155-5C8C-BA4E-EC6A-77922578543F}"/>
              </a:ext>
            </a:extLst>
          </p:cNvPr>
          <p:cNvSpPr txBox="1"/>
          <p:nvPr/>
        </p:nvSpPr>
        <p:spPr>
          <a:xfrm>
            <a:off x="6194856" y="2628795"/>
            <a:ext cx="5358969" cy="625812"/>
          </a:xfrm>
          <a:prstGeom prst="rect">
            <a:avLst/>
          </a:prstGeom>
          <a:noFill/>
        </p:spPr>
        <p:txBody>
          <a:bodyPr wrap="square">
            <a:spAutoFit/>
          </a:bodyPr>
          <a:lstStyle/>
          <a:p>
            <a:pPr algn="l">
              <a:spcBef>
                <a:spcPts val="750"/>
              </a:spcBef>
            </a:pPr>
            <a:r>
              <a:rPr lang="en-US" sz="1400" b="1" i="0" dirty="0">
                <a:solidFill>
                  <a:srgbClr val="0A2342"/>
                </a:solidFill>
                <a:effectLst/>
                <a:latin typeface="Segoe UI" panose="020B0502040204020203" pitchFamily="34" charset="0"/>
              </a:rPr>
              <a:t>0</a:t>
            </a:r>
            <a:r>
              <a:rPr lang="en-US" sz="1400" b="0" i="0" dirty="0">
                <a:solidFill>
                  <a:srgbClr val="4A4A4A"/>
                </a:solidFill>
                <a:effectLst/>
                <a:latin typeface="Segoe UI" panose="020B0502040204020203" pitchFamily="34" charset="0"/>
              </a:rPr>
              <a:t>: Execute locally on mobile terminal</a:t>
            </a:r>
          </a:p>
          <a:p>
            <a:pPr algn="l">
              <a:spcBef>
                <a:spcPts val="750"/>
              </a:spcBef>
            </a:pPr>
            <a:r>
              <a:rPr lang="en-US" sz="1400" b="1" i="0" dirty="0">
                <a:solidFill>
                  <a:srgbClr val="0A2342"/>
                </a:solidFill>
                <a:effectLst/>
                <a:latin typeface="Segoe UI" panose="020B0502040204020203" pitchFamily="34" charset="0"/>
              </a:rPr>
              <a:t>1</a:t>
            </a:r>
            <a:r>
              <a:rPr lang="en-US" sz="1400" b="0" i="0" dirty="0">
                <a:solidFill>
                  <a:srgbClr val="4A4A4A"/>
                </a:solidFill>
                <a:effectLst/>
                <a:latin typeface="Segoe UI" panose="020B0502040204020203" pitchFamily="34" charset="0"/>
              </a:rPr>
              <a:t>: Offload to edge server</a:t>
            </a:r>
          </a:p>
        </p:txBody>
      </p:sp>
      <p:sp>
        <p:nvSpPr>
          <p:cNvPr id="25" name="Rectangle: Rounded Corners 24">
            <a:extLst>
              <a:ext uri="{FF2B5EF4-FFF2-40B4-BE49-F238E27FC236}">
                <a16:creationId xmlns:a16="http://schemas.microsoft.com/office/drawing/2014/main" id="{07FE620B-2E3A-61A9-CFAA-91A138E7EF7D}"/>
              </a:ext>
            </a:extLst>
          </p:cNvPr>
          <p:cNvSpPr/>
          <p:nvPr/>
        </p:nvSpPr>
        <p:spPr>
          <a:xfrm>
            <a:off x="6162365" y="3418983"/>
            <a:ext cx="5604556" cy="1795080"/>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400" b="1" i="0" dirty="0">
                <a:solidFill>
                  <a:srgbClr val="0A2342"/>
                </a:solidFill>
                <a:effectLst/>
                <a:latin typeface="Segoe UI" panose="020B0502040204020203" pitchFamily="34" charset="0"/>
              </a:rPr>
              <a:t>          Reward Signal (</a:t>
            </a:r>
            <a:r>
              <a:rPr lang="en-US" sz="1400" b="1" i="0" dirty="0" err="1">
                <a:solidFill>
                  <a:srgbClr val="0A2342"/>
                </a:solidFill>
                <a:effectLst/>
                <a:latin typeface="Segoe UI" panose="020B0502040204020203" pitchFamily="34" charset="0"/>
              </a:rPr>
              <a:t>r</a:t>
            </a:r>
            <a:r>
              <a:rPr lang="en-US" sz="1400" b="1" i="0" baseline="-25000" dirty="0" err="1">
                <a:solidFill>
                  <a:srgbClr val="0A2342"/>
                </a:solidFill>
                <a:effectLst/>
                <a:latin typeface="Segoe UI" panose="020B0502040204020203" pitchFamily="34" charset="0"/>
              </a:rPr>
              <a:t>i</a:t>
            </a:r>
            <a:r>
              <a:rPr lang="en-US" sz="1400" b="1" i="0" dirty="0">
                <a:solidFill>
                  <a:srgbClr val="0A2342"/>
                </a:solidFill>
                <a:effectLst/>
                <a:latin typeface="Segoe UI" panose="020B0502040204020203" pitchFamily="34" charset="0"/>
              </a:rPr>
              <a:t>)</a:t>
            </a:r>
          </a:p>
          <a:p>
            <a:pPr algn="l">
              <a:buNone/>
            </a:pPr>
            <a:r>
              <a:rPr lang="en-US" sz="1400" b="0" i="0" dirty="0">
                <a:solidFill>
                  <a:srgbClr val="4A4A4A"/>
                </a:solidFill>
                <a:effectLst/>
                <a:latin typeface="Segoe UI" panose="020B0502040204020203" pitchFamily="34" charset="0"/>
              </a:rPr>
              <a:t>Designed to minimize the weighted delay-energy cost:</a:t>
            </a:r>
          </a:p>
          <a:p>
            <a:pPr algn="l">
              <a:buNone/>
            </a:pPr>
            <a:endParaRPr lang="en-US" sz="1400" dirty="0">
              <a:solidFill>
                <a:srgbClr val="4A4A4A"/>
              </a:solidFill>
              <a:latin typeface="Segoe UI" panose="020B0502040204020203" pitchFamily="34" charset="0"/>
            </a:endParaRPr>
          </a:p>
          <a:p>
            <a:pPr algn="l">
              <a:buNone/>
            </a:pPr>
            <a:endParaRPr lang="en-US" sz="1400" b="0" i="0" dirty="0">
              <a:solidFill>
                <a:srgbClr val="4A4A4A"/>
              </a:solidFill>
              <a:effectLst/>
              <a:latin typeface="Segoe UI" panose="020B0502040204020203" pitchFamily="34" charset="0"/>
            </a:endParaRPr>
          </a:p>
          <a:p>
            <a:pPr algn="l">
              <a:buNone/>
            </a:pPr>
            <a:endParaRPr lang="en-US" sz="1400" dirty="0">
              <a:solidFill>
                <a:srgbClr val="4A4A4A"/>
              </a:solidFill>
              <a:latin typeface="Segoe UI" panose="020B0502040204020203" pitchFamily="34" charset="0"/>
            </a:endParaRPr>
          </a:p>
          <a:p>
            <a:pPr algn="l">
              <a:buNone/>
            </a:pPr>
            <a:endParaRPr lang="en-US" sz="1400" b="0" i="0" dirty="0">
              <a:solidFill>
                <a:srgbClr val="4A4A4A"/>
              </a:solidFill>
              <a:effectLst/>
              <a:latin typeface="Segoe UI" panose="020B0502040204020203" pitchFamily="34" charset="0"/>
            </a:endParaRPr>
          </a:p>
          <a:p>
            <a:pPr algn="l">
              <a:buNone/>
            </a:pPr>
            <a:endParaRPr lang="en-US" sz="1400" dirty="0">
              <a:solidFill>
                <a:srgbClr val="4A4A4A"/>
              </a:solidFill>
              <a:latin typeface="Segoe UI" panose="020B0502040204020203" pitchFamily="34" charset="0"/>
            </a:endParaRPr>
          </a:p>
        </p:txBody>
      </p:sp>
      <p:sp>
        <p:nvSpPr>
          <p:cNvPr id="26" name="Rectangle: Rounded Corners 25">
            <a:extLst>
              <a:ext uri="{FF2B5EF4-FFF2-40B4-BE49-F238E27FC236}">
                <a16:creationId xmlns:a16="http://schemas.microsoft.com/office/drawing/2014/main" id="{FC318958-AD22-E22C-006A-A885D4352FBD}"/>
              </a:ext>
            </a:extLst>
          </p:cNvPr>
          <p:cNvSpPr/>
          <p:nvPr/>
        </p:nvSpPr>
        <p:spPr>
          <a:xfrm>
            <a:off x="6285749" y="4208948"/>
            <a:ext cx="4892511" cy="344253"/>
          </a:xfrm>
          <a:prstGeom prst="roundRect">
            <a:avLst/>
          </a:prstGeom>
          <a:solidFill>
            <a:srgbClr val="1431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i="0" dirty="0" err="1">
                <a:solidFill>
                  <a:srgbClr val="FFFFFF"/>
                </a:solidFill>
                <a:effectLst/>
                <a:latin typeface="Courier New" panose="02070309020205020404" pitchFamily="49" charset="0"/>
              </a:rPr>
              <a:t>r</a:t>
            </a:r>
            <a:r>
              <a:rPr lang="en-US" b="0" i="0" baseline="-25000" dirty="0" err="1">
                <a:solidFill>
                  <a:srgbClr val="FFFFFF"/>
                </a:solidFill>
                <a:effectLst/>
                <a:latin typeface="Courier New" panose="02070309020205020404" pitchFamily="49" charset="0"/>
              </a:rPr>
              <a:t>i</a:t>
            </a:r>
            <a:r>
              <a:rPr lang="en-US" b="0" i="0" dirty="0">
                <a:solidFill>
                  <a:srgbClr val="FFFFFF"/>
                </a:solidFill>
                <a:effectLst/>
                <a:latin typeface="Courier New" panose="02070309020205020404" pitchFamily="49" charset="0"/>
              </a:rPr>
              <a:t> = -log</a:t>
            </a:r>
            <a:r>
              <a:rPr lang="en-US" b="0" i="0" baseline="-25000" dirty="0">
                <a:solidFill>
                  <a:srgbClr val="FFFFFF"/>
                </a:solidFill>
                <a:effectLst/>
                <a:latin typeface="Courier New" panose="02070309020205020404" pitchFamily="49" charset="0"/>
              </a:rPr>
              <a:t>10</a:t>
            </a:r>
            <a:r>
              <a:rPr lang="en-US" b="0" i="0" dirty="0">
                <a:solidFill>
                  <a:srgbClr val="FFFFFF"/>
                </a:solidFill>
                <a:effectLst/>
                <a:latin typeface="Courier New" panose="02070309020205020404" pitchFamily="49" charset="0"/>
              </a:rPr>
              <a:t>(</a:t>
            </a:r>
            <a:r>
              <a:rPr lang="en-US" b="0" i="0" dirty="0" err="1">
                <a:solidFill>
                  <a:srgbClr val="FFFFFF"/>
                </a:solidFill>
                <a:effectLst/>
                <a:latin typeface="Courier New" panose="02070309020205020404" pitchFamily="49" charset="0"/>
              </a:rPr>
              <a:t>cost</a:t>
            </a:r>
            <a:r>
              <a:rPr lang="en-US" b="0" i="0" baseline="-25000" dirty="0" err="1">
                <a:solidFill>
                  <a:srgbClr val="FFFFFF"/>
                </a:solidFill>
                <a:effectLst/>
                <a:latin typeface="Courier New" panose="02070309020205020404" pitchFamily="49" charset="0"/>
              </a:rPr>
              <a:t>i</a:t>
            </a:r>
            <a:r>
              <a:rPr lang="en-US" b="0" i="0" dirty="0">
                <a:solidFill>
                  <a:srgbClr val="FFFFFF"/>
                </a:solidFill>
                <a:effectLst/>
                <a:latin typeface="Courier New" panose="02070309020205020404" pitchFamily="49" charset="0"/>
              </a:rPr>
              <a:t>)</a:t>
            </a:r>
            <a:endParaRPr lang="en-US" dirty="0"/>
          </a:p>
        </p:txBody>
      </p:sp>
      <p:sp>
        <p:nvSpPr>
          <p:cNvPr id="32" name="TextBox 31">
            <a:extLst>
              <a:ext uri="{FF2B5EF4-FFF2-40B4-BE49-F238E27FC236}">
                <a16:creationId xmlns:a16="http://schemas.microsoft.com/office/drawing/2014/main" id="{EED546DA-E10D-4F2C-262F-6BE3D30876C2}"/>
              </a:ext>
            </a:extLst>
          </p:cNvPr>
          <p:cNvSpPr txBox="1"/>
          <p:nvPr/>
        </p:nvSpPr>
        <p:spPr>
          <a:xfrm>
            <a:off x="6285749" y="4624861"/>
            <a:ext cx="5130810" cy="523220"/>
          </a:xfrm>
          <a:prstGeom prst="rect">
            <a:avLst/>
          </a:prstGeom>
          <a:noFill/>
        </p:spPr>
        <p:txBody>
          <a:bodyPr wrap="square">
            <a:spAutoFit/>
          </a:bodyPr>
          <a:lstStyle/>
          <a:p>
            <a:pPr algn="just"/>
            <a:r>
              <a:rPr lang="en-US" sz="1400" b="0" i="0" dirty="0">
                <a:solidFill>
                  <a:srgbClr val="4A4A4A"/>
                </a:solidFill>
                <a:effectLst/>
                <a:latin typeface="Segoe UI" panose="020B0502040204020203" pitchFamily="34" charset="0"/>
              </a:rPr>
              <a:t>All subtasks in the same execution window receive the same reward, encouraging coordinated decisions.</a:t>
            </a:r>
            <a:endParaRPr lang="en-US" sz="1400" dirty="0"/>
          </a:p>
        </p:txBody>
      </p:sp>
      <p:sp>
        <p:nvSpPr>
          <p:cNvPr id="35" name="Rectangle: Rounded Corners 34">
            <a:extLst>
              <a:ext uri="{FF2B5EF4-FFF2-40B4-BE49-F238E27FC236}">
                <a16:creationId xmlns:a16="http://schemas.microsoft.com/office/drawing/2014/main" id="{73253198-7964-10FB-D3A3-9285416384A9}"/>
              </a:ext>
            </a:extLst>
          </p:cNvPr>
          <p:cNvSpPr/>
          <p:nvPr/>
        </p:nvSpPr>
        <p:spPr>
          <a:xfrm>
            <a:off x="6194856" y="5340339"/>
            <a:ext cx="5604556" cy="824791"/>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r>
              <a:rPr lang="en-US" sz="1400" b="1" i="0" dirty="0">
                <a:solidFill>
                  <a:srgbClr val="0A2342"/>
                </a:solidFill>
                <a:effectLst/>
                <a:latin typeface="Segoe UI" panose="020B0502040204020203" pitchFamily="34" charset="0"/>
              </a:rPr>
              <a:t>          Network Update</a:t>
            </a:r>
          </a:p>
          <a:p>
            <a:pPr algn="l">
              <a:buNone/>
            </a:pPr>
            <a:r>
              <a:rPr lang="en-US" sz="1400" i="0" dirty="0">
                <a:solidFill>
                  <a:srgbClr val="0A2342"/>
                </a:solidFill>
                <a:effectLst/>
                <a:latin typeface="Segoe UI" panose="020B0502040204020203" pitchFamily="34" charset="0"/>
              </a:rPr>
              <a:t>Parameter Update</a:t>
            </a:r>
            <a:r>
              <a:rPr lang="en-US" sz="1400" dirty="0">
                <a:solidFill>
                  <a:srgbClr val="4A4A4A"/>
                </a:solidFill>
                <a:latin typeface="Segoe UI" panose="020B0502040204020203" pitchFamily="34" charset="0"/>
              </a:rPr>
              <a:t> and </a:t>
            </a:r>
            <a:r>
              <a:rPr lang="en-US" sz="1400" dirty="0">
                <a:solidFill>
                  <a:srgbClr val="0A2342"/>
                </a:solidFill>
                <a:latin typeface="Segoe UI" panose="020B0502040204020203" pitchFamily="34" charset="0"/>
              </a:rPr>
              <a:t>Target Calculation</a:t>
            </a:r>
          </a:p>
        </p:txBody>
      </p:sp>
      <p:sp>
        <p:nvSpPr>
          <p:cNvPr id="38" name="Oval 37">
            <a:extLst>
              <a:ext uri="{FF2B5EF4-FFF2-40B4-BE49-F238E27FC236}">
                <a16:creationId xmlns:a16="http://schemas.microsoft.com/office/drawing/2014/main" id="{4B2FE218-1417-7BD5-9AB7-016DE7E6E7F8}"/>
              </a:ext>
            </a:extLst>
          </p:cNvPr>
          <p:cNvSpPr/>
          <p:nvPr/>
        </p:nvSpPr>
        <p:spPr>
          <a:xfrm>
            <a:off x="435004" y="1653054"/>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1</a:t>
            </a:r>
          </a:p>
        </p:txBody>
      </p:sp>
      <p:sp>
        <p:nvSpPr>
          <p:cNvPr id="39" name="Oval 38">
            <a:extLst>
              <a:ext uri="{FF2B5EF4-FFF2-40B4-BE49-F238E27FC236}">
                <a16:creationId xmlns:a16="http://schemas.microsoft.com/office/drawing/2014/main" id="{970E19F1-6677-DCA1-C2EC-D2E5FD868543}"/>
              </a:ext>
            </a:extLst>
          </p:cNvPr>
          <p:cNvSpPr/>
          <p:nvPr/>
        </p:nvSpPr>
        <p:spPr>
          <a:xfrm>
            <a:off x="435003" y="3769508"/>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2</a:t>
            </a:r>
          </a:p>
        </p:txBody>
      </p:sp>
      <p:sp>
        <p:nvSpPr>
          <p:cNvPr id="40" name="Oval 39">
            <a:extLst>
              <a:ext uri="{FF2B5EF4-FFF2-40B4-BE49-F238E27FC236}">
                <a16:creationId xmlns:a16="http://schemas.microsoft.com/office/drawing/2014/main" id="{D178D408-5C05-B7A5-E160-899CD298B9FC}"/>
              </a:ext>
            </a:extLst>
          </p:cNvPr>
          <p:cNvSpPr/>
          <p:nvPr/>
        </p:nvSpPr>
        <p:spPr>
          <a:xfrm>
            <a:off x="6318240" y="1520384"/>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3</a:t>
            </a:r>
          </a:p>
        </p:txBody>
      </p:sp>
      <p:sp>
        <p:nvSpPr>
          <p:cNvPr id="41" name="Oval 40">
            <a:extLst>
              <a:ext uri="{FF2B5EF4-FFF2-40B4-BE49-F238E27FC236}">
                <a16:creationId xmlns:a16="http://schemas.microsoft.com/office/drawing/2014/main" id="{489455DA-415A-3D16-EC98-5634B83E267B}"/>
              </a:ext>
            </a:extLst>
          </p:cNvPr>
          <p:cNvSpPr/>
          <p:nvPr/>
        </p:nvSpPr>
        <p:spPr>
          <a:xfrm>
            <a:off x="6318239" y="3489289"/>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4</a:t>
            </a:r>
          </a:p>
        </p:txBody>
      </p:sp>
      <p:sp>
        <p:nvSpPr>
          <p:cNvPr id="42" name="Oval 41">
            <a:extLst>
              <a:ext uri="{FF2B5EF4-FFF2-40B4-BE49-F238E27FC236}">
                <a16:creationId xmlns:a16="http://schemas.microsoft.com/office/drawing/2014/main" id="{3273970D-BC05-BB02-E3D5-4A90FF47EC5F}"/>
              </a:ext>
            </a:extLst>
          </p:cNvPr>
          <p:cNvSpPr/>
          <p:nvPr/>
        </p:nvSpPr>
        <p:spPr>
          <a:xfrm>
            <a:off x="6318238" y="5445345"/>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5</a:t>
            </a:r>
          </a:p>
        </p:txBody>
      </p:sp>
      <p:sp>
        <p:nvSpPr>
          <p:cNvPr id="4" name="Decagon 3">
            <a:extLst>
              <a:ext uri="{FF2B5EF4-FFF2-40B4-BE49-F238E27FC236}">
                <a16:creationId xmlns:a16="http://schemas.microsoft.com/office/drawing/2014/main" id="{437F45E5-0556-46CE-E4EF-389BE79BB9F7}"/>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11</a:t>
            </a:r>
            <a:endParaRPr lang="en-US" b="1" dirty="0">
              <a:latin typeface="Söhne"/>
              <a:cs typeface="Times New Roman" panose="02020603050405020304" pitchFamily="18" charset="0"/>
            </a:endParaRPr>
          </a:p>
        </p:txBody>
      </p:sp>
    </p:spTree>
    <p:extLst>
      <p:ext uri="{BB962C8B-B14F-4D97-AF65-F5344CB8AC3E}">
        <p14:creationId xmlns:p14="http://schemas.microsoft.com/office/powerpoint/2010/main" val="2330069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animEffect transition="in" filter="fade">
                                      <p:cBhvr>
                                        <p:cTn id="19" dur="1000"/>
                                        <p:tgtEl>
                                          <p:spTgt spid="39"/>
                                        </p:tgtEl>
                                      </p:cBhvr>
                                    </p:animEffect>
                                    <p:anim calcmode="lin" valueType="num">
                                      <p:cBhvr>
                                        <p:cTn id="20" dur="1000" fill="hold"/>
                                        <p:tgtEl>
                                          <p:spTgt spid="39"/>
                                        </p:tgtEl>
                                        <p:attrNameLst>
                                          <p:attrName>ppt_x</p:attrName>
                                        </p:attrNameLst>
                                      </p:cBhvr>
                                      <p:tavLst>
                                        <p:tav tm="0">
                                          <p:val>
                                            <p:strVal val="#ppt_x"/>
                                          </p:val>
                                        </p:tav>
                                        <p:tav tm="100000">
                                          <p:val>
                                            <p:strVal val="#ppt_x"/>
                                          </p:val>
                                        </p:tav>
                                      </p:tavLst>
                                    </p:anim>
                                    <p:anim calcmode="lin" valueType="num">
                                      <p:cBhvr>
                                        <p:cTn id="21" dur="1000" fill="hold"/>
                                        <p:tgtEl>
                                          <p:spTgt spid="3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1000"/>
                                        <p:tgtEl>
                                          <p:spTgt spid="3"/>
                                        </p:tgtEl>
                                      </p:cBhvr>
                                    </p:animEffect>
                                    <p:anim calcmode="lin" valueType="num">
                                      <p:cBhvr>
                                        <p:cTn id="25" dur="1000" fill="hold"/>
                                        <p:tgtEl>
                                          <p:spTgt spid="3"/>
                                        </p:tgtEl>
                                        <p:attrNameLst>
                                          <p:attrName>ppt_x</p:attrName>
                                        </p:attrNameLst>
                                      </p:cBhvr>
                                      <p:tavLst>
                                        <p:tav tm="0">
                                          <p:val>
                                            <p:strVal val="#ppt_x"/>
                                          </p:val>
                                        </p:tav>
                                        <p:tav tm="100000">
                                          <p:val>
                                            <p:strVal val="#ppt_x"/>
                                          </p:val>
                                        </p:tav>
                                      </p:tavLst>
                                    </p:anim>
                                    <p:anim calcmode="lin" valueType="num">
                                      <p:cBhvr>
                                        <p:cTn id="26" dur="1000" fill="hold"/>
                                        <p:tgtEl>
                                          <p:spTgt spid="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animEffect transition="in" filter="fade">
                                      <p:cBhvr>
                                        <p:cTn id="41" dur="1000"/>
                                        <p:tgtEl>
                                          <p:spTgt spid="40"/>
                                        </p:tgtEl>
                                      </p:cBhvr>
                                    </p:animEffect>
                                    <p:anim calcmode="lin" valueType="num">
                                      <p:cBhvr>
                                        <p:cTn id="42" dur="1000" fill="hold"/>
                                        <p:tgtEl>
                                          <p:spTgt spid="40"/>
                                        </p:tgtEl>
                                        <p:attrNameLst>
                                          <p:attrName>ppt_x</p:attrName>
                                        </p:attrNameLst>
                                      </p:cBhvr>
                                      <p:tavLst>
                                        <p:tav tm="0">
                                          <p:val>
                                            <p:strVal val="#ppt_x"/>
                                          </p:val>
                                        </p:tav>
                                        <p:tav tm="100000">
                                          <p:val>
                                            <p:strVal val="#ppt_x"/>
                                          </p:val>
                                        </p:tav>
                                      </p:tavLst>
                                    </p:anim>
                                    <p:anim calcmode="lin" valueType="num">
                                      <p:cBhvr>
                                        <p:cTn id="43" dur="1000" fill="hold"/>
                                        <p:tgtEl>
                                          <p:spTgt spid="40"/>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1000"/>
                                        <p:tgtEl>
                                          <p:spTgt spid="20"/>
                                        </p:tgtEl>
                                      </p:cBhvr>
                                    </p:animEffect>
                                    <p:anim calcmode="lin" valueType="num">
                                      <p:cBhvr>
                                        <p:cTn id="47" dur="1000" fill="hold"/>
                                        <p:tgtEl>
                                          <p:spTgt spid="20"/>
                                        </p:tgtEl>
                                        <p:attrNameLst>
                                          <p:attrName>ppt_x</p:attrName>
                                        </p:attrNameLst>
                                      </p:cBhvr>
                                      <p:tavLst>
                                        <p:tav tm="0">
                                          <p:val>
                                            <p:strVal val="#ppt_x"/>
                                          </p:val>
                                        </p:tav>
                                        <p:tav tm="100000">
                                          <p:val>
                                            <p:strVal val="#ppt_x"/>
                                          </p:val>
                                        </p:tav>
                                      </p:tavLst>
                                    </p:anim>
                                    <p:anim calcmode="lin" valueType="num">
                                      <p:cBhvr>
                                        <p:cTn id="48" dur="1000" fill="hold"/>
                                        <p:tgtEl>
                                          <p:spTgt spid="20"/>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1000"/>
                                        <p:tgtEl>
                                          <p:spTgt spid="24"/>
                                        </p:tgtEl>
                                      </p:cBhvr>
                                    </p:animEffect>
                                    <p:anim calcmode="lin" valueType="num">
                                      <p:cBhvr>
                                        <p:cTn id="52" dur="1000" fill="hold"/>
                                        <p:tgtEl>
                                          <p:spTgt spid="24"/>
                                        </p:tgtEl>
                                        <p:attrNameLst>
                                          <p:attrName>ppt_x</p:attrName>
                                        </p:attrNameLst>
                                      </p:cBhvr>
                                      <p:tavLst>
                                        <p:tav tm="0">
                                          <p:val>
                                            <p:strVal val="#ppt_x"/>
                                          </p:val>
                                        </p:tav>
                                        <p:tav tm="100000">
                                          <p:val>
                                            <p:strVal val="#ppt_x"/>
                                          </p:val>
                                        </p:tav>
                                      </p:tavLst>
                                    </p:anim>
                                    <p:anim calcmode="lin" valueType="num">
                                      <p:cBhvr>
                                        <p:cTn id="5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1000"/>
                                        <p:tgtEl>
                                          <p:spTgt spid="25"/>
                                        </p:tgtEl>
                                      </p:cBhvr>
                                    </p:animEffect>
                                    <p:anim calcmode="lin" valueType="num">
                                      <p:cBhvr>
                                        <p:cTn id="59" dur="1000" fill="hold"/>
                                        <p:tgtEl>
                                          <p:spTgt spid="25"/>
                                        </p:tgtEl>
                                        <p:attrNameLst>
                                          <p:attrName>ppt_x</p:attrName>
                                        </p:attrNameLst>
                                      </p:cBhvr>
                                      <p:tavLst>
                                        <p:tav tm="0">
                                          <p:val>
                                            <p:strVal val="#ppt_x"/>
                                          </p:val>
                                        </p:tav>
                                        <p:tav tm="100000">
                                          <p:val>
                                            <p:strVal val="#ppt_x"/>
                                          </p:val>
                                        </p:tav>
                                      </p:tavLst>
                                    </p:anim>
                                    <p:anim calcmode="lin" valueType="num">
                                      <p:cBhvr>
                                        <p:cTn id="60" dur="1000" fill="hold"/>
                                        <p:tgtEl>
                                          <p:spTgt spid="25"/>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1000"/>
                                        <p:tgtEl>
                                          <p:spTgt spid="41"/>
                                        </p:tgtEl>
                                      </p:cBhvr>
                                    </p:animEffect>
                                    <p:anim calcmode="lin" valueType="num">
                                      <p:cBhvr>
                                        <p:cTn id="64" dur="1000" fill="hold"/>
                                        <p:tgtEl>
                                          <p:spTgt spid="41"/>
                                        </p:tgtEl>
                                        <p:attrNameLst>
                                          <p:attrName>ppt_x</p:attrName>
                                        </p:attrNameLst>
                                      </p:cBhvr>
                                      <p:tavLst>
                                        <p:tav tm="0">
                                          <p:val>
                                            <p:strVal val="#ppt_x"/>
                                          </p:val>
                                        </p:tav>
                                        <p:tav tm="100000">
                                          <p:val>
                                            <p:strVal val="#ppt_x"/>
                                          </p:val>
                                        </p:tav>
                                      </p:tavLst>
                                    </p:anim>
                                    <p:anim calcmode="lin" valueType="num">
                                      <p:cBhvr>
                                        <p:cTn id="65" dur="1000" fill="hold"/>
                                        <p:tgtEl>
                                          <p:spTgt spid="41"/>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1000"/>
                                        <p:tgtEl>
                                          <p:spTgt spid="26"/>
                                        </p:tgtEl>
                                      </p:cBhvr>
                                    </p:animEffect>
                                    <p:anim calcmode="lin" valueType="num">
                                      <p:cBhvr>
                                        <p:cTn id="69" dur="1000" fill="hold"/>
                                        <p:tgtEl>
                                          <p:spTgt spid="26"/>
                                        </p:tgtEl>
                                        <p:attrNameLst>
                                          <p:attrName>ppt_x</p:attrName>
                                        </p:attrNameLst>
                                      </p:cBhvr>
                                      <p:tavLst>
                                        <p:tav tm="0">
                                          <p:val>
                                            <p:strVal val="#ppt_x"/>
                                          </p:val>
                                        </p:tav>
                                        <p:tav tm="100000">
                                          <p:val>
                                            <p:strVal val="#ppt_x"/>
                                          </p:val>
                                        </p:tav>
                                      </p:tavLst>
                                    </p:anim>
                                    <p:anim calcmode="lin" valueType="num">
                                      <p:cBhvr>
                                        <p:cTn id="70" dur="1000" fill="hold"/>
                                        <p:tgtEl>
                                          <p:spTgt spid="26"/>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32"/>
                                        </p:tgtEl>
                                        <p:attrNameLst>
                                          <p:attrName>style.visibility</p:attrName>
                                        </p:attrNameLst>
                                      </p:cBhvr>
                                      <p:to>
                                        <p:strVal val="visible"/>
                                      </p:to>
                                    </p:set>
                                    <p:animEffect transition="in" filter="fade">
                                      <p:cBhvr>
                                        <p:cTn id="73" dur="1000"/>
                                        <p:tgtEl>
                                          <p:spTgt spid="32"/>
                                        </p:tgtEl>
                                      </p:cBhvr>
                                    </p:animEffect>
                                    <p:anim calcmode="lin" valueType="num">
                                      <p:cBhvr>
                                        <p:cTn id="74" dur="1000" fill="hold"/>
                                        <p:tgtEl>
                                          <p:spTgt spid="32"/>
                                        </p:tgtEl>
                                        <p:attrNameLst>
                                          <p:attrName>ppt_x</p:attrName>
                                        </p:attrNameLst>
                                      </p:cBhvr>
                                      <p:tavLst>
                                        <p:tav tm="0">
                                          <p:val>
                                            <p:strVal val="#ppt_x"/>
                                          </p:val>
                                        </p:tav>
                                        <p:tav tm="100000">
                                          <p:val>
                                            <p:strVal val="#ppt_x"/>
                                          </p:val>
                                        </p:tav>
                                      </p:tavLst>
                                    </p:anim>
                                    <p:anim calcmode="lin" valueType="num">
                                      <p:cBhvr>
                                        <p:cTn id="7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42"/>
                                        </p:tgtEl>
                                        <p:attrNameLst>
                                          <p:attrName>style.visibility</p:attrName>
                                        </p:attrNameLst>
                                      </p:cBhvr>
                                      <p:to>
                                        <p:strVal val="visible"/>
                                      </p:to>
                                    </p:set>
                                    <p:animEffect transition="in" filter="fade">
                                      <p:cBhvr>
                                        <p:cTn id="80" dur="1000"/>
                                        <p:tgtEl>
                                          <p:spTgt spid="42"/>
                                        </p:tgtEl>
                                      </p:cBhvr>
                                    </p:animEffect>
                                    <p:anim calcmode="lin" valueType="num">
                                      <p:cBhvr>
                                        <p:cTn id="81" dur="1000" fill="hold"/>
                                        <p:tgtEl>
                                          <p:spTgt spid="42"/>
                                        </p:tgtEl>
                                        <p:attrNameLst>
                                          <p:attrName>ppt_x</p:attrName>
                                        </p:attrNameLst>
                                      </p:cBhvr>
                                      <p:tavLst>
                                        <p:tav tm="0">
                                          <p:val>
                                            <p:strVal val="#ppt_x"/>
                                          </p:val>
                                        </p:tav>
                                        <p:tav tm="100000">
                                          <p:val>
                                            <p:strVal val="#ppt_x"/>
                                          </p:val>
                                        </p:tav>
                                      </p:tavLst>
                                    </p:anim>
                                    <p:anim calcmode="lin" valueType="num">
                                      <p:cBhvr>
                                        <p:cTn id="82" dur="1000" fill="hold"/>
                                        <p:tgtEl>
                                          <p:spTgt spid="42"/>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1000"/>
                                        <p:tgtEl>
                                          <p:spTgt spid="35"/>
                                        </p:tgtEl>
                                      </p:cBhvr>
                                    </p:animEffect>
                                    <p:anim calcmode="lin" valueType="num">
                                      <p:cBhvr>
                                        <p:cTn id="86" dur="1000" fill="hold"/>
                                        <p:tgtEl>
                                          <p:spTgt spid="35"/>
                                        </p:tgtEl>
                                        <p:attrNameLst>
                                          <p:attrName>ppt_x</p:attrName>
                                        </p:attrNameLst>
                                      </p:cBhvr>
                                      <p:tavLst>
                                        <p:tav tm="0">
                                          <p:val>
                                            <p:strVal val="#ppt_x"/>
                                          </p:val>
                                        </p:tav>
                                        <p:tav tm="100000">
                                          <p:val>
                                            <p:strVal val="#ppt_x"/>
                                          </p:val>
                                        </p:tav>
                                      </p:tavLst>
                                    </p:anim>
                                    <p:anim calcmode="lin" valueType="num">
                                      <p:cBhvr>
                                        <p:cTn id="87"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 grpId="0" animBg="1"/>
      <p:bldP spid="10" grpId="0" animBg="1"/>
      <p:bldP spid="14" grpId="0" animBg="1"/>
      <p:bldP spid="20" grpId="0" animBg="1"/>
      <p:bldP spid="24" grpId="0"/>
      <p:bldP spid="25" grpId="0" animBg="1"/>
      <p:bldP spid="26" grpId="0" animBg="1"/>
      <p:bldP spid="32" grpId="0"/>
      <p:bldP spid="35" grpId="0" animBg="1"/>
      <p:bldP spid="38" grpId="0" animBg="1"/>
      <p:bldP spid="39" grpId="0" animBg="1"/>
      <p:bldP spid="40" grpId="0" animBg="1"/>
      <p:bldP spid="41" grpId="0" animBg="1"/>
      <p:bldP spid="4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7461F-3DD3-7D9D-B213-F8AF44273258}"/>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1B169FD-F5A9-2100-9991-AA80AAAB25CE}"/>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BCA5BE8F-7BC5-3271-A448-D7FFD26640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D9883C05-78C1-ACD4-5509-7E5E8BE56D5F}"/>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E166155D-3ACA-90FF-2787-FA5D645F22E7}"/>
              </a:ext>
            </a:extLst>
          </p:cNvPr>
          <p:cNvSpPr txBox="1"/>
          <p:nvPr/>
        </p:nvSpPr>
        <p:spPr>
          <a:xfrm>
            <a:off x="550276" y="338293"/>
            <a:ext cx="2893869" cy="584775"/>
          </a:xfrm>
          <a:prstGeom prst="rect">
            <a:avLst/>
          </a:prstGeom>
          <a:noFill/>
        </p:spPr>
        <p:txBody>
          <a:bodyPr wrap="none" rtlCol="0">
            <a:spAutoFit/>
          </a:bodyPr>
          <a:lstStyle/>
          <a:p>
            <a:r>
              <a:rPr lang="en-US" sz="3200" b="1" dirty="0">
                <a:solidFill>
                  <a:srgbClr val="0070C0"/>
                </a:solidFill>
                <a:latin typeface="Söhne"/>
              </a:rPr>
              <a:t>PTORA - Stage 2</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B826F07E-63B1-469F-C04F-C3B4CAC39588}"/>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51" name="Rectangle: Rounded Corners 50">
            <a:extLst>
              <a:ext uri="{FF2B5EF4-FFF2-40B4-BE49-F238E27FC236}">
                <a16:creationId xmlns:a16="http://schemas.microsoft.com/office/drawing/2014/main" id="{57EDC26D-C683-3D0A-D1F4-1B8ED2A12F66}"/>
              </a:ext>
            </a:extLst>
          </p:cNvPr>
          <p:cNvSpPr/>
          <p:nvPr/>
        </p:nvSpPr>
        <p:spPr>
          <a:xfrm>
            <a:off x="435004" y="1030935"/>
            <a:ext cx="6813451"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Resource Allocation (JSATC Algorithm)</a:t>
            </a:r>
            <a:endParaRPr lang="en-GB" b="1" dirty="0">
              <a:latin typeface="Söhne"/>
            </a:endParaRPr>
          </a:p>
        </p:txBody>
      </p:sp>
      <p:sp>
        <p:nvSpPr>
          <p:cNvPr id="31" name="Rectangle: Rounded Corners 30">
            <a:extLst>
              <a:ext uri="{FF2B5EF4-FFF2-40B4-BE49-F238E27FC236}">
                <a16:creationId xmlns:a16="http://schemas.microsoft.com/office/drawing/2014/main" id="{69043AEC-2AB9-0212-9E3F-B109D79E37D8}"/>
              </a:ext>
            </a:extLst>
          </p:cNvPr>
          <p:cNvSpPr/>
          <p:nvPr/>
        </p:nvSpPr>
        <p:spPr>
          <a:xfrm>
            <a:off x="351993" y="1473004"/>
            <a:ext cx="5604556" cy="1723857"/>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Aft>
                <a:spcPts val="900"/>
              </a:spcAft>
              <a:buNone/>
            </a:pPr>
            <a:r>
              <a:rPr lang="en-US" sz="1400" b="1" i="0" dirty="0">
                <a:solidFill>
                  <a:srgbClr val="0A2342"/>
                </a:solidFill>
                <a:effectLst/>
                <a:latin typeface="Söhne"/>
              </a:rPr>
              <a:t>          Joint Subchannel Allocation and Transmit Power Control</a:t>
            </a:r>
          </a:p>
          <a:p>
            <a:pPr algn="just">
              <a:buNone/>
            </a:pPr>
            <a:r>
              <a:rPr lang="en-US" sz="1400" b="0" i="0" dirty="0">
                <a:solidFill>
                  <a:srgbClr val="4A4A4A"/>
                </a:solidFill>
                <a:effectLst/>
                <a:latin typeface="Söhne"/>
              </a:rPr>
              <a:t>Given offloading decisions from Stage 1, optimize communication resources for offloaded subtasks (</a:t>
            </a:r>
            <a:r>
              <a:rPr lang="en-US" sz="1400" b="0" i="0" dirty="0" err="1">
                <a:solidFill>
                  <a:srgbClr val="4A4A4A"/>
                </a:solidFill>
                <a:effectLst/>
                <a:latin typeface="Söhne"/>
              </a:rPr>
              <a:t>W</a:t>
            </a:r>
            <a:r>
              <a:rPr lang="en-US" sz="1400" b="0" i="0" baseline="-25000" dirty="0" err="1">
                <a:solidFill>
                  <a:srgbClr val="4A4A4A"/>
                </a:solidFill>
                <a:effectLst/>
                <a:latin typeface="Söhne"/>
              </a:rPr>
              <a:t>i</a:t>
            </a:r>
            <a:r>
              <a:rPr lang="en-US" sz="1400" b="0" i="0" baseline="30000" dirty="0" err="1">
                <a:solidFill>
                  <a:srgbClr val="4A4A4A"/>
                </a:solidFill>
                <a:effectLst/>
                <a:latin typeface="Söhne"/>
              </a:rPr>
              <a:t>ES</a:t>
            </a:r>
            <a:r>
              <a:rPr lang="en-US" sz="1400" b="0" i="0" dirty="0">
                <a:solidFill>
                  <a:srgbClr val="4A4A4A"/>
                </a:solidFill>
                <a:effectLst/>
                <a:latin typeface="Söhne"/>
              </a:rPr>
              <a:t> ⊂ W</a:t>
            </a:r>
            <a:r>
              <a:rPr lang="en-US" sz="1400" b="0" i="0" baseline="-25000" dirty="0">
                <a:solidFill>
                  <a:srgbClr val="4A4A4A"/>
                </a:solidFill>
                <a:effectLst/>
                <a:latin typeface="Söhne"/>
              </a:rPr>
              <a:t>i</a:t>
            </a:r>
            <a:r>
              <a:rPr lang="en-US" sz="1400" b="0" i="0" dirty="0">
                <a:solidFill>
                  <a:srgbClr val="4A4A4A"/>
                </a:solidFill>
                <a:effectLst/>
                <a:latin typeface="Söhne"/>
              </a:rPr>
              <a:t>).</a:t>
            </a:r>
            <a:endParaRPr lang="en-US" sz="1400" dirty="0">
              <a:solidFill>
                <a:srgbClr val="4A4A4A"/>
              </a:solidFill>
              <a:latin typeface="Söhne"/>
            </a:endParaRPr>
          </a:p>
          <a:p>
            <a:pPr algn="just">
              <a:buNone/>
            </a:pPr>
            <a:endParaRPr lang="en-US" sz="1400" b="0" i="0" dirty="0">
              <a:solidFill>
                <a:srgbClr val="4A4A4A"/>
              </a:solidFill>
              <a:effectLst/>
              <a:latin typeface="Söhne"/>
            </a:endParaRPr>
          </a:p>
          <a:p>
            <a:pPr algn="just">
              <a:buNone/>
            </a:pPr>
            <a:endParaRPr lang="en-US" sz="1400" dirty="0">
              <a:solidFill>
                <a:srgbClr val="4A4A4A"/>
              </a:solidFill>
              <a:latin typeface="Söhne"/>
            </a:endParaRPr>
          </a:p>
        </p:txBody>
      </p:sp>
      <p:sp>
        <p:nvSpPr>
          <p:cNvPr id="3" name="Rectangle: Rounded Corners 2">
            <a:extLst>
              <a:ext uri="{FF2B5EF4-FFF2-40B4-BE49-F238E27FC236}">
                <a16:creationId xmlns:a16="http://schemas.microsoft.com/office/drawing/2014/main" id="{200E5300-E210-8C59-8C72-E72E18028E81}"/>
              </a:ext>
            </a:extLst>
          </p:cNvPr>
          <p:cNvSpPr/>
          <p:nvPr/>
        </p:nvSpPr>
        <p:spPr>
          <a:xfrm>
            <a:off x="351992" y="3670516"/>
            <a:ext cx="5604556" cy="2324851"/>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Aft>
                <a:spcPts val="900"/>
              </a:spcAft>
              <a:buNone/>
            </a:pPr>
            <a:r>
              <a:rPr lang="en-US" sz="1400" b="1" i="0" dirty="0">
                <a:solidFill>
                  <a:srgbClr val="0A2342"/>
                </a:solidFill>
                <a:effectLst/>
                <a:latin typeface="Söhne"/>
              </a:rPr>
              <a:t>         Transmit Power Control</a:t>
            </a:r>
          </a:p>
          <a:p>
            <a:pPr algn="just">
              <a:buNone/>
            </a:pPr>
            <a:r>
              <a:rPr lang="en-US" sz="1400" b="1" i="0" dirty="0">
                <a:solidFill>
                  <a:srgbClr val="0A2342"/>
                </a:solidFill>
                <a:effectLst/>
                <a:latin typeface="Söhne"/>
              </a:rPr>
              <a:t>Method:</a:t>
            </a:r>
            <a:r>
              <a:rPr lang="en-US" sz="1400" b="0" i="0" dirty="0">
                <a:solidFill>
                  <a:srgbClr val="4A4A4A"/>
                </a:solidFill>
                <a:effectLst/>
                <a:latin typeface="Söhne"/>
              </a:rPr>
              <a:t> Dichotomy (Binary Search)</a:t>
            </a:r>
          </a:p>
          <a:p>
            <a:pPr algn="just">
              <a:spcBef>
                <a:spcPts val="750"/>
              </a:spcBef>
              <a:buNone/>
            </a:pPr>
            <a:r>
              <a:rPr lang="en-US" sz="1400" b="0" i="0" dirty="0">
                <a:solidFill>
                  <a:srgbClr val="4A4A4A"/>
                </a:solidFill>
                <a:effectLst/>
                <a:latin typeface="Söhne"/>
              </a:rPr>
              <a:t>For each offloaded subtask and given subchannel allocation β, solve the quasi-convex optimization:</a:t>
            </a:r>
          </a:p>
          <a:p>
            <a:pPr algn="just">
              <a:spcBef>
                <a:spcPts val="750"/>
              </a:spcBef>
              <a:buNone/>
            </a:pPr>
            <a:endParaRPr lang="en-US" sz="1400" b="0" i="0" dirty="0">
              <a:solidFill>
                <a:srgbClr val="4A4A4A"/>
              </a:solidFill>
              <a:effectLst/>
              <a:latin typeface="Söhne"/>
            </a:endParaRPr>
          </a:p>
          <a:p>
            <a:pPr algn="just">
              <a:spcBef>
                <a:spcPts val="750"/>
              </a:spcBef>
              <a:buNone/>
            </a:pPr>
            <a:endParaRPr lang="en-US" sz="1400" dirty="0">
              <a:solidFill>
                <a:srgbClr val="4A4A4A"/>
              </a:solidFill>
              <a:latin typeface="Söhne"/>
            </a:endParaRPr>
          </a:p>
          <a:p>
            <a:pPr algn="just">
              <a:spcBef>
                <a:spcPts val="750"/>
              </a:spcBef>
              <a:buNone/>
            </a:pPr>
            <a:endParaRPr lang="en-US" sz="1400" dirty="0">
              <a:solidFill>
                <a:srgbClr val="4A4A4A"/>
              </a:solidFill>
              <a:latin typeface="Söhne"/>
            </a:endParaRPr>
          </a:p>
        </p:txBody>
      </p:sp>
      <p:sp>
        <p:nvSpPr>
          <p:cNvPr id="10" name="Rectangle: Rounded Corners 9">
            <a:extLst>
              <a:ext uri="{FF2B5EF4-FFF2-40B4-BE49-F238E27FC236}">
                <a16:creationId xmlns:a16="http://schemas.microsoft.com/office/drawing/2014/main" id="{2925F84B-E7E8-97EB-CCEF-8102E187A62A}"/>
              </a:ext>
            </a:extLst>
          </p:cNvPr>
          <p:cNvSpPr/>
          <p:nvPr/>
        </p:nvSpPr>
        <p:spPr>
          <a:xfrm>
            <a:off x="613334" y="4960889"/>
            <a:ext cx="5124526" cy="397444"/>
          </a:xfrm>
          <a:prstGeom prst="roundRect">
            <a:avLst/>
          </a:prstGeom>
          <a:solidFill>
            <a:srgbClr val="14315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i="0" dirty="0">
                <a:solidFill>
                  <a:srgbClr val="FFFFFF"/>
                </a:solidFill>
                <a:effectLst/>
                <a:latin typeface="Courier New" panose="02070309020205020404" pitchFamily="49" charset="0"/>
                <a:cs typeface="Courier New" panose="02070309020205020404" pitchFamily="49" charset="0"/>
              </a:rPr>
              <a:t>g(p) = b</a:t>
            </a:r>
            <a:r>
              <a:rPr lang="en-US" sz="1400" b="0" i="0" baseline="30000" dirty="0">
                <a:solidFill>
                  <a:srgbClr val="FFFFFF"/>
                </a:solidFill>
                <a:effectLst/>
                <a:latin typeface="Courier New" panose="02070309020205020404" pitchFamily="49" charset="0"/>
                <a:cs typeface="Courier New" panose="02070309020205020404" pitchFamily="49" charset="0"/>
              </a:rPr>
              <a:t>s</a:t>
            </a:r>
            <a:r>
              <a:rPr lang="en-US" sz="1400" b="0" i="0" dirty="0">
                <a:solidFill>
                  <a:srgbClr val="FFFFFF"/>
                </a:solidFill>
                <a:effectLst/>
                <a:latin typeface="Courier New" panose="02070309020205020404" pitchFamily="49" charset="0"/>
                <a:cs typeface="Courier New" panose="02070309020205020404" pitchFamily="49" charset="0"/>
              </a:rPr>
              <a:t>(</a:t>
            </a:r>
            <a:r>
              <a:rPr lang="el-GR" sz="1400" b="0" i="0" dirty="0">
                <a:solidFill>
                  <a:srgbClr val="FFFFFF"/>
                </a:solidFill>
                <a:effectLst/>
                <a:latin typeface="Courier New" panose="02070309020205020404" pitchFamily="49" charset="0"/>
                <a:cs typeface="Courier New" panose="02070309020205020404" pitchFamily="49" charset="0"/>
              </a:rPr>
              <a:t>α</a:t>
            </a:r>
            <a:r>
              <a:rPr lang="en-US" sz="1400" b="0" i="0" baseline="30000" dirty="0">
                <a:solidFill>
                  <a:srgbClr val="FFFFFF"/>
                </a:solidFill>
                <a:effectLst/>
                <a:latin typeface="Courier New" panose="02070309020205020404" pitchFamily="49" charset="0"/>
                <a:cs typeface="Courier New" panose="02070309020205020404" pitchFamily="49" charset="0"/>
              </a:rPr>
              <a:t>D</a:t>
            </a:r>
            <a:r>
              <a:rPr lang="en-US" sz="1400" b="0" i="0" dirty="0">
                <a:solidFill>
                  <a:srgbClr val="FFFFFF"/>
                </a:solidFill>
                <a:effectLst/>
                <a:latin typeface="Courier New" panose="02070309020205020404" pitchFamily="49" charset="0"/>
                <a:cs typeface="Courier New" panose="02070309020205020404" pitchFamily="49" charset="0"/>
              </a:rPr>
              <a:t> + </a:t>
            </a:r>
            <a:r>
              <a:rPr lang="el-GR" sz="1400" b="0" i="0" dirty="0">
                <a:solidFill>
                  <a:srgbClr val="FFFFFF"/>
                </a:solidFill>
                <a:effectLst/>
                <a:latin typeface="Courier New" panose="02070309020205020404" pitchFamily="49" charset="0"/>
                <a:cs typeface="Courier New" panose="02070309020205020404" pitchFamily="49" charset="0"/>
              </a:rPr>
              <a:t>α</a:t>
            </a:r>
            <a:r>
              <a:rPr lang="en-US" sz="1400" b="0" i="0" baseline="30000" dirty="0">
                <a:solidFill>
                  <a:srgbClr val="FFFFFF"/>
                </a:solidFill>
                <a:effectLst/>
                <a:latin typeface="Courier New" panose="02070309020205020404" pitchFamily="49" charset="0"/>
                <a:cs typeface="Courier New" panose="02070309020205020404" pitchFamily="49" charset="0"/>
              </a:rPr>
              <a:t>E</a:t>
            </a:r>
            <a:r>
              <a:rPr lang="en-US" sz="1400" b="0" i="0" dirty="0">
                <a:solidFill>
                  <a:srgbClr val="FFFFFF"/>
                </a:solidFill>
                <a:effectLst/>
                <a:latin typeface="Courier New" panose="02070309020205020404" pitchFamily="49" charset="0"/>
                <a:cs typeface="Courier New" panose="02070309020205020404" pitchFamily="49" charset="0"/>
              </a:rPr>
              <a:t>p) / [B</a:t>
            </a:r>
            <a:r>
              <a:rPr lang="en-US" sz="1400" b="0" i="0" baseline="-25000" dirty="0">
                <a:solidFill>
                  <a:srgbClr val="FFFFFF"/>
                </a:solidFill>
                <a:effectLst/>
                <a:latin typeface="Courier New" panose="02070309020205020404" pitchFamily="49" charset="0"/>
                <a:cs typeface="Courier New" panose="02070309020205020404" pitchFamily="49" charset="0"/>
              </a:rPr>
              <a:t>0</a:t>
            </a:r>
            <a:r>
              <a:rPr lang="en-US" sz="1400" b="0" i="0" dirty="0">
                <a:solidFill>
                  <a:srgbClr val="FFFFFF"/>
                </a:solidFill>
                <a:effectLst/>
                <a:latin typeface="Courier New" panose="02070309020205020404" pitchFamily="49" charset="0"/>
                <a:cs typeface="Courier New" panose="02070309020205020404" pitchFamily="49" charset="0"/>
              </a:rPr>
              <a:t> log</a:t>
            </a:r>
            <a:r>
              <a:rPr lang="en-US" sz="1400" b="0" i="0" baseline="-25000" dirty="0">
                <a:solidFill>
                  <a:srgbClr val="FFFFFF"/>
                </a:solidFill>
                <a:effectLst/>
                <a:latin typeface="Courier New" panose="02070309020205020404" pitchFamily="49" charset="0"/>
                <a:cs typeface="Courier New" panose="02070309020205020404" pitchFamily="49" charset="0"/>
              </a:rPr>
              <a:t>2</a:t>
            </a:r>
            <a:r>
              <a:rPr lang="en-US" sz="1400" b="0" i="0" dirty="0">
                <a:solidFill>
                  <a:srgbClr val="FFFFFF"/>
                </a:solidFill>
                <a:effectLst/>
                <a:latin typeface="Courier New" panose="02070309020205020404" pitchFamily="49" charset="0"/>
                <a:cs typeface="Courier New" panose="02070309020205020404" pitchFamily="49" charset="0"/>
              </a:rPr>
              <a:t>(</a:t>
            </a:r>
            <a:r>
              <a:rPr lang="en-US" sz="1400" b="0" i="0" dirty="0" err="1">
                <a:solidFill>
                  <a:srgbClr val="FFFFFF"/>
                </a:solidFill>
                <a:effectLst/>
                <a:latin typeface="Courier New" panose="02070309020205020404" pitchFamily="49" charset="0"/>
                <a:cs typeface="Courier New" panose="02070309020205020404" pitchFamily="49" charset="0"/>
              </a:rPr>
              <a:t>ph</a:t>
            </a:r>
            <a:r>
              <a:rPr lang="en-US" sz="1400" b="0" i="0" baseline="-25000" dirty="0" err="1">
                <a:solidFill>
                  <a:srgbClr val="FFFFFF"/>
                </a:solidFill>
                <a:effectLst/>
                <a:latin typeface="Courier New" panose="02070309020205020404" pitchFamily="49" charset="0"/>
                <a:cs typeface="Courier New" panose="02070309020205020404" pitchFamily="49" charset="0"/>
              </a:rPr>
              <a:t>i,k</a:t>
            </a:r>
            <a:r>
              <a:rPr lang="en-US" sz="1400" b="0" i="0" baseline="30000" dirty="0" err="1">
                <a:solidFill>
                  <a:srgbClr val="FFFFFF"/>
                </a:solidFill>
                <a:effectLst/>
                <a:latin typeface="Courier New" panose="02070309020205020404" pitchFamily="49" charset="0"/>
                <a:cs typeface="Courier New" panose="02070309020205020404" pitchFamily="49" charset="0"/>
              </a:rPr>
              <a:t>n</a:t>
            </a:r>
            <a:r>
              <a:rPr lang="en-US" sz="1400" b="0" i="0" dirty="0">
                <a:solidFill>
                  <a:srgbClr val="FFFFFF"/>
                </a:solidFill>
                <a:effectLst/>
                <a:latin typeface="Courier New" panose="02070309020205020404" pitchFamily="49" charset="0"/>
                <a:cs typeface="Courier New" panose="02070309020205020404" pitchFamily="49" charset="0"/>
              </a:rPr>
              <a:t>/</a:t>
            </a:r>
            <a:r>
              <a:rPr lang="el-GR" sz="1400" b="0" i="0" dirty="0">
                <a:solidFill>
                  <a:srgbClr val="FFFFFF"/>
                </a:solidFill>
                <a:effectLst/>
                <a:latin typeface="Courier New" panose="02070309020205020404" pitchFamily="49" charset="0"/>
                <a:cs typeface="Courier New" panose="02070309020205020404" pitchFamily="49" charset="0"/>
              </a:rPr>
              <a:t>σ</a:t>
            </a:r>
            <a:r>
              <a:rPr lang="el-GR" sz="1400" b="0" i="0" baseline="30000" dirty="0">
                <a:solidFill>
                  <a:srgbClr val="FFFFFF"/>
                </a:solidFill>
                <a:effectLst/>
                <a:latin typeface="Courier New" panose="02070309020205020404" pitchFamily="49" charset="0"/>
                <a:cs typeface="Courier New" panose="02070309020205020404" pitchFamily="49" charset="0"/>
              </a:rPr>
              <a:t>2</a:t>
            </a:r>
            <a:r>
              <a:rPr lang="el-GR" sz="1400" b="0" i="0" dirty="0">
                <a:solidFill>
                  <a:srgbClr val="FFFFFF"/>
                </a:solidFill>
                <a:effectLst/>
                <a:latin typeface="Courier New" panose="02070309020205020404" pitchFamily="49" charset="0"/>
                <a:cs typeface="Courier New" panose="02070309020205020404" pitchFamily="49" charset="0"/>
              </a:rPr>
              <a:t>)]</a:t>
            </a:r>
            <a:endParaRPr lang="en-US" sz="1400" dirty="0">
              <a:latin typeface="Courier New" panose="02070309020205020404" pitchFamily="49" charset="0"/>
              <a:cs typeface="Courier New" panose="02070309020205020404" pitchFamily="49" charset="0"/>
            </a:endParaRPr>
          </a:p>
        </p:txBody>
      </p:sp>
      <p:sp>
        <p:nvSpPr>
          <p:cNvPr id="14" name="Rectangle: Rounded Corners 13">
            <a:extLst>
              <a:ext uri="{FF2B5EF4-FFF2-40B4-BE49-F238E27FC236}">
                <a16:creationId xmlns:a16="http://schemas.microsoft.com/office/drawing/2014/main" id="{DDF98986-179E-D7F7-873C-7C162E4FC777}"/>
              </a:ext>
            </a:extLst>
          </p:cNvPr>
          <p:cNvSpPr/>
          <p:nvPr/>
        </p:nvSpPr>
        <p:spPr>
          <a:xfrm>
            <a:off x="6162365" y="1473004"/>
            <a:ext cx="5604556" cy="2708586"/>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Aft>
                <a:spcPts val="900"/>
              </a:spcAft>
              <a:buNone/>
            </a:pPr>
            <a:r>
              <a:rPr lang="en-US" sz="1400" b="1" i="0" dirty="0">
                <a:solidFill>
                  <a:srgbClr val="0A2342"/>
                </a:solidFill>
                <a:effectLst/>
                <a:latin typeface="Söhne"/>
              </a:rPr>
              <a:t>            Subchannel Allocation</a:t>
            </a:r>
          </a:p>
          <a:p>
            <a:pPr algn="just">
              <a:buNone/>
            </a:pPr>
            <a:r>
              <a:rPr lang="en-US" sz="1400" b="1" i="0" dirty="0">
                <a:solidFill>
                  <a:srgbClr val="0A2342"/>
                </a:solidFill>
                <a:effectLst/>
                <a:latin typeface="Söhne"/>
              </a:rPr>
              <a:t>Method:</a:t>
            </a:r>
            <a:r>
              <a:rPr lang="en-US" sz="1400" b="0" i="0" dirty="0">
                <a:solidFill>
                  <a:srgbClr val="4A4A4A"/>
                </a:solidFill>
                <a:effectLst/>
                <a:latin typeface="Söhne"/>
              </a:rPr>
              <a:t> Kuhn-Munkres (KM) Algorithm</a:t>
            </a:r>
          </a:p>
          <a:p>
            <a:pPr marL="285750" indent="-285750" algn="just">
              <a:spcBef>
                <a:spcPts val="750"/>
              </a:spcBef>
              <a:buFont typeface="Arial" panose="020B0604020202020204" pitchFamily="34" charset="0"/>
              <a:buChar char="•"/>
            </a:pPr>
            <a:r>
              <a:rPr lang="en-US" sz="1400" b="0" i="0" dirty="0">
                <a:solidFill>
                  <a:srgbClr val="4A4A4A"/>
                </a:solidFill>
                <a:effectLst/>
                <a:latin typeface="Söhne"/>
              </a:rPr>
              <a:t>With optimal power p* from Step 1, formulate as a weighted bipartite graph matching problem:</a:t>
            </a:r>
          </a:p>
          <a:p>
            <a:pPr algn="just">
              <a:spcBef>
                <a:spcPts val="750"/>
              </a:spcBef>
            </a:pPr>
            <a:r>
              <a:rPr lang="en-US" sz="1400" b="1" i="0" dirty="0">
                <a:solidFill>
                  <a:srgbClr val="0A2342"/>
                </a:solidFill>
                <a:effectLst/>
                <a:latin typeface="Söhne"/>
              </a:rPr>
              <a:t>Nodes:</a:t>
            </a:r>
            <a:r>
              <a:rPr lang="en-US" sz="1400" b="0" i="0" dirty="0">
                <a:solidFill>
                  <a:srgbClr val="4A4A4A"/>
                </a:solidFill>
                <a:effectLst/>
                <a:latin typeface="Söhne"/>
              </a:rPr>
              <a:t> Offloaded subtasks ↔ Available subchannels</a:t>
            </a:r>
          </a:p>
          <a:p>
            <a:pPr algn="just">
              <a:spcBef>
                <a:spcPts val="750"/>
              </a:spcBef>
            </a:pPr>
            <a:r>
              <a:rPr lang="en-US" sz="1400" b="1" i="0" dirty="0">
                <a:solidFill>
                  <a:srgbClr val="0A2342"/>
                </a:solidFill>
                <a:effectLst/>
                <a:latin typeface="Söhne"/>
              </a:rPr>
              <a:t>Weights:</a:t>
            </a:r>
            <a:r>
              <a:rPr lang="en-US" sz="1400" b="0" i="0" dirty="0">
                <a:solidFill>
                  <a:srgbClr val="4A4A4A"/>
                </a:solidFill>
                <a:effectLst/>
                <a:latin typeface="Söhne"/>
              </a:rPr>
              <a:t> Communication cost for each (subtask, channel) pair</a:t>
            </a:r>
          </a:p>
          <a:p>
            <a:pPr algn="just">
              <a:spcBef>
                <a:spcPts val="750"/>
              </a:spcBef>
            </a:pPr>
            <a:r>
              <a:rPr lang="en-US" sz="1400" b="1" i="0" dirty="0">
                <a:solidFill>
                  <a:srgbClr val="0A2342"/>
                </a:solidFill>
                <a:effectLst/>
                <a:latin typeface="Söhne"/>
              </a:rPr>
              <a:t>Constraint:</a:t>
            </a:r>
            <a:r>
              <a:rPr lang="en-US" sz="1400" b="0" i="0" dirty="0">
                <a:solidFill>
                  <a:srgbClr val="4A4A4A"/>
                </a:solidFill>
                <a:effectLst/>
                <a:latin typeface="Söhne"/>
              </a:rPr>
              <a:t> One-to-one matching (orthogonal channels)</a:t>
            </a:r>
          </a:p>
          <a:p>
            <a:pPr algn="just">
              <a:spcBef>
                <a:spcPts val="750"/>
              </a:spcBef>
              <a:buNone/>
            </a:pPr>
            <a:r>
              <a:rPr lang="en-US" sz="1400" b="0" i="0" dirty="0">
                <a:solidFill>
                  <a:srgbClr val="4A4A4A"/>
                </a:solidFill>
                <a:effectLst/>
                <a:latin typeface="Söhne"/>
              </a:rPr>
              <a:t>KM algorithm finds the optimal assignment </a:t>
            </a:r>
            <a:r>
              <a:rPr lang="el-GR" sz="1400" b="0" i="0" dirty="0">
                <a:solidFill>
                  <a:srgbClr val="4A4A4A"/>
                </a:solidFill>
                <a:effectLst/>
                <a:latin typeface="Söhne"/>
              </a:rPr>
              <a:t>β* </a:t>
            </a:r>
            <a:r>
              <a:rPr lang="en-US" sz="1400" b="0" i="0" dirty="0">
                <a:solidFill>
                  <a:srgbClr val="4A4A4A"/>
                </a:solidFill>
                <a:effectLst/>
                <a:latin typeface="Söhne"/>
              </a:rPr>
              <a:t>that minimizes total cost.</a:t>
            </a:r>
          </a:p>
        </p:txBody>
      </p:sp>
      <p:sp>
        <p:nvSpPr>
          <p:cNvPr id="25" name="Rectangle: Rounded Corners 24">
            <a:extLst>
              <a:ext uri="{FF2B5EF4-FFF2-40B4-BE49-F238E27FC236}">
                <a16:creationId xmlns:a16="http://schemas.microsoft.com/office/drawing/2014/main" id="{BA6E68EC-C500-6E3F-328E-C8F2482C0A4B}"/>
              </a:ext>
            </a:extLst>
          </p:cNvPr>
          <p:cNvSpPr/>
          <p:nvPr/>
        </p:nvSpPr>
        <p:spPr>
          <a:xfrm>
            <a:off x="6217890" y="4292178"/>
            <a:ext cx="5544778" cy="1943787"/>
          </a:xfrm>
          <a:prstGeom prst="roundRect">
            <a:avLst>
              <a:gd name="adj" fmla="val 5138"/>
            </a:avLst>
          </a:prstGeom>
          <a:solidFill>
            <a:srgbClr val="F6F4F5"/>
          </a:solidFill>
          <a:ln w="19050">
            <a:solidFill>
              <a:srgbClr val="00D6FB"/>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spcAft>
                <a:spcPts val="900"/>
              </a:spcAft>
              <a:buNone/>
            </a:pPr>
            <a:r>
              <a:rPr lang="en-US" sz="1400" b="1" i="0" dirty="0">
                <a:solidFill>
                  <a:srgbClr val="0A2342"/>
                </a:solidFill>
                <a:effectLst/>
                <a:latin typeface="Söhne"/>
              </a:rPr>
              <a:t>           Feedback Loop</a:t>
            </a:r>
          </a:p>
          <a:p>
            <a:pPr algn="just">
              <a:spcAft>
                <a:spcPts val="900"/>
              </a:spcAft>
              <a:buNone/>
            </a:pPr>
            <a:r>
              <a:rPr lang="en-US" sz="1400" b="0" i="0" dirty="0">
                <a:solidFill>
                  <a:srgbClr val="4A4A4A"/>
                </a:solidFill>
                <a:effectLst/>
                <a:latin typeface="Söhne"/>
              </a:rPr>
              <a:t>After resource allocation: (</a:t>
            </a:r>
            <a:r>
              <a:rPr lang="en-US" sz="1400" b="0" i="0" dirty="0" err="1">
                <a:solidFill>
                  <a:srgbClr val="4A4A4A"/>
                </a:solidFill>
                <a:effectLst/>
                <a:latin typeface="Söhne"/>
              </a:rPr>
              <a:t>i</a:t>
            </a:r>
            <a:r>
              <a:rPr lang="en-US" sz="1400" b="0" i="0" dirty="0">
                <a:solidFill>
                  <a:srgbClr val="4A4A4A"/>
                </a:solidFill>
                <a:effectLst/>
                <a:latin typeface="Söhne"/>
              </a:rPr>
              <a:t>) Calculate actual </a:t>
            </a:r>
            <a:r>
              <a:rPr lang="en-US" sz="1400" b="1" i="0" dirty="0" err="1">
                <a:solidFill>
                  <a:srgbClr val="0A2342"/>
                </a:solidFill>
                <a:effectLst/>
                <a:latin typeface="Söhne"/>
              </a:rPr>
              <a:t>cost</a:t>
            </a:r>
            <a:r>
              <a:rPr lang="en-US" sz="1400" b="1" i="0" baseline="-25000" dirty="0" err="1">
                <a:solidFill>
                  <a:srgbClr val="0A2342"/>
                </a:solidFill>
                <a:effectLst/>
                <a:latin typeface="Söhne"/>
              </a:rPr>
              <a:t>i</a:t>
            </a:r>
            <a:r>
              <a:rPr lang="en-US" sz="1400" b="0" i="0" dirty="0">
                <a:solidFill>
                  <a:srgbClr val="4A4A4A"/>
                </a:solidFill>
                <a:effectLst/>
                <a:latin typeface="Söhne"/>
              </a:rPr>
              <a:t> based on allocated resources (ii) Generate </a:t>
            </a:r>
            <a:r>
              <a:rPr lang="en-US" sz="1400" b="1" i="0" dirty="0">
                <a:solidFill>
                  <a:srgbClr val="0A2342"/>
                </a:solidFill>
                <a:effectLst/>
                <a:latin typeface="Söhne"/>
              </a:rPr>
              <a:t>reward signal </a:t>
            </a:r>
            <a:r>
              <a:rPr lang="en-US" sz="1400" b="1" i="0" dirty="0" err="1">
                <a:solidFill>
                  <a:srgbClr val="0A2342"/>
                </a:solidFill>
                <a:effectLst/>
                <a:latin typeface="Söhne"/>
              </a:rPr>
              <a:t>r</a:t>
            </a:r>
            <a:r>
              <a:rPr lang="en-US" sz="1400" b="1" i="0" baseline="-25000" dirty="0" err="1">
                <a:solidFill>
                  <a:srgbClr val="0A2342"/>
                </a:solidFill>
                <a:effectLst/>
                <a:latin typeface="Söhne"/>
              </a:rPr>
              <a:t>i</a:t>
            </a:r>
            <a:r>
              <a:rPr lang="en-US" sz="1400" b="0" i="0" dirty="0">
                <a:solidFill>
                  <a:srgbClr val="4A4A4A"/>
                </a:solidFill>
                <a:effectLst/>
                <a:latin typeface="Söhne"/>
              </a:rPr>
              <a:t> for the DDQN agent (iii) Update agent's experience and network parameters</a:t>
            </a:r>
          </a:p>
          <a:p>
            <a:pPr algn="just">
              <a:spcAft>
                <a:spcPts val="900"/>
              </a:spcAft>
              <a:buNone/>
            </a:pPr>
            <a:endParaRPr lang="en-US" sz="1400" dirty="0">
              <a:solidFill>
                <a:srgbClr val="4A4A4A"/>
              </a:solidFill>
              <a:latin typeface="Söhne"/>
            </a:endParaRPr>
          </a:p>
          <a:p>
            <a:pPr algn="just">
              <a:spcBef>
                <a:spcPts val="750"/>
              </a:spcBef>
            </a:pPr>
            <a:endParaRPr lang="en-US" sz="1400" b="0" i="0" dirty="0">
              <a:solidFill>
                <a:srgbClr val="4A4A4A"/>
              </a:solidFill>
              <a:effectLst/>
              <a:latin typeface="Söhne"/>
            </a:endParaRPr>
          </a:p>
        </p:txBody>
      </p:sp>
      <p:sp>
        <p:nvSpPr>
          <p:cNvPr id="38" name="Oval 37">
            <a:extLst>
              <a:ext uri="{FF2B5EF4-FFF2-40B4-BE49-F238E27FC236}">
                <a16:creationId xmlns:a16="http://schemas.microsoft.com/office/drawing/2014/main" id="{15B6848D-1E10-87DD-B4A1-5F044E05C79E}"/>
              </a:ext>
            </a:extLst>
          </p:cNvPr>
          <p:cNvSpPr/>
          <p:nvPr/>
        </p:nvSpPr>
        <p:spPr>
          <a:xfrm>
            <a:off x="435004" y="1672104"/>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1</a:t>
            </a:r>
          </a:p>
        </p:txBody>
      </p:sp>
      <p:sp>
        <p:nvSpPr>
          <p:cNvPr id="39" name="Oval 38">
            <a:extLst>
              <a:ext uri="{FF2B5EF4-FFF2-40B4-BE49-F238E27FC236}">
                <a16:creationId xmlns:a16="http://schemas.microsoft.com/office/drawing/2014/main" id="{435D43EE-CCAC-75EF-0C0A-A084C7574FA1}"/>
              </a:ext>
            </a:extLst>
          </p:cNvPr>
          <p:cNvSpPr/>
          <p:nvPr/>
        </p:nvSpPr>
        <p:spPr>
          <a:xfrm>
            <a:off x="435004" y="3792085"/>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2</a:t>
            </a:r>
          </a:p>
        </p:txBody>
      </p:sp>
      <p:sp>
        <p:nvSpPr>
          <p:cNvPr id="40" name="Oval 39">
            <a:extLst>
              <a:ext uri="{FF2B5EF4-FFF2-40B4-BE49-F238E27FC236}">
                <a16:creationId xmlns:a16="http://schemas.microsoft.com/office/drawing/2014/main" id="{F93A2C04-5DDB-DF80-F471-E3DF495AD782}"/>
              </a:ext>
            </a:extLst>
          </p:cNvPr>
          <p:cNvSpPr/>
          <p:nvPr/>
        </p:nvSpPr>
        <p:spPr>
          <a:xfrm>
            <a:off x="6258080" y="1606405"/>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3</a:t>
            </a:r>
          </a:p>
        </p:txBody>
      </p:sp>
      <p:sp>
        <p:nvSpPr>
          <p:cNvPr id="41" name="Oval 40">
            <a:extLst>
              <a:ext uri="{FF2B5EF4-FFF2-40B4-BE49-F238E27FC236}">
                <a16:creationId xmlns:a16="http://schemas.microsoft.com/office/drawing/2014/main" id="{1278EF2C-FEBB-8B04-8A6F-A71BC1D1F722}"/>
              </a:ext>
            </a:extLst>
          </p:cNvPr>
          <p:cNvSpPr/>
          <p:nvPr/>
        </p:nvSpPr>
        <p:spPr>
          <a:xfrm>
            <a:off x="6318240" y="4371771"/>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4</a:t>
            </a:r>
          </a:p>
        </p:txBody>
      </p:sp>
      <p:sp>
        <p:nvSpPr>
          <p:cNvPr id="4" name="Rectangle: Rounded Corners 3">
            <a:extLst>
              <a:ext uri="{FF2B5EF4-FFF2-40B4-BE49-F238E27FC236}">
                <a16:creationId xmlns:a16="http://schemas.microsoft.com/office/drawing/2014/main" id="{FA220E1F-B722-7833-4CBD-7C2F1BEC4AC0}"/>
              </a:ext>
            </a:extLst>
          </p:cNvPr>
          <p:cNvSpPr/>
          <p:nvPr/>
        </p:nvSpPr>
        <p:spPr>
          <a:xfrm>
            <a:off x="708015" y="2669140"/>
            <a:ext cx="4892511" cy="397444"/>
          </a:xfrm>
          <a:prstGeom prst="roundRect">
            <a:avLst/>
          </a:prstGeom>
          <a:solidFill>
            <a:srgbClr val="69EA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b="0" i="0" dirty="0">
                <a:solidFill>
                  <a:srgbClr val="0A2342"/>
                </a:solidFill>
                <a:effectLst/>
                <a:latin typeface="Courier New" panose="02070309020205020404" pitchFamily="49" charset="0"/>
                <a:cs typeface="Courier New" panose="02070309020205020404" pitchFamily="49" charset="0"/>
              </a:rPr>
              <a:t>minimize Σ (α</a:t>
            </a:r>
            <a:r>
              <a:rPr lang="it-IT" b="0" i="0" baseline="30000" dirty="0">
                <a:solidFill>
                  <a:srgbClr val="0A2342"/>
                </a:solidFill>
                <a:effectLst/>
                <a:latin typeface="Courier New" panose="02070309020205020404" pitchFamily="49" charset="0"/>
                <a:cs typeface="Courier New" panose="02070309020205020404" pitchFamily="49" charset="0"/>
              </a:rPr>
              <a:t>D</a:t>
            </a:r>
            <a:r>
              <a:rPr lang="it-IT" b="0" i="0" dirty="0">
                <a:solidFill>
                  <a:srgbClr val="0A2342"/>
                </a:solidFill>
                <a:effectLst/>
                <a:latin typeface="Courier New" panose="02070309020205020404" pitchFamily="49" charset="0"/>
                <a:cs typeface="Courier New" panose="02070309020205020404" pitchFamily="49" charset="0"/>
              </a:rPr>
              <a:t>d</a:t>
            </a:r>
            <a:r>
              <a:rPr lang="it-IT" b="0" i="0" baseline="-25000" dirty="0">
                <a:solidFill>
                  <a:srgbClr val="0A2342"/>
                </a:solidFill>
                <a:effectLst/>
                <a:latin typeface="Courier New" panose="02070309020205020404" pitchFamily="49" charset="0"/>
                <a:cs typeface="Courier New" panose="02070309020205020404" pitchFamily="49" charset="0"/>
              </a:rPr>
              <a:t>i</a:t>
            </a:r>
            <a:r>
              <a:rPr lang="it-IT" b="0" i="0" baseline="30000" dirty="0">
                <a:solidFill>
                  <a:srgbClr val="0A2342"/>
                </a:solidFill>
                <a:effectLst/>
                <a:latin typeface="Courier New" panose="02070309020205020404" pitchFamily="49" charset="0"/>
                <a:cs typeface="Courier New" panose="02070309020205020404" pitchFamily="49" charset="0"/>
              </a:rPr>
              <a:t>s,cm</a:t>
            </a:r>
            <a:r>
              <a:rPr lang="it-IT" b="0" i="0" dirty="0">
                <a:solidFill>
                  <a:srgbClr val="0A2342"/>
                </a:solidFill>
                <a:effectLst/>
                <a:latin typeface="Courier New" panose="02070309020205020404" pitchFamily="49" charset="0"/>
                <a:cs typeface="Courier New" panose="02070309020205020404" pitchFamily="49" charset="0"/>
              </a:rPr>
              <a:t> + α</a:t>
            </a:r>
            <a:r>
              <a:rPr lang="it-IT" b="0" i="0" baseline="30000" dirty="0">
                <a:solidFill>
                  <a:srgbClr val="0A2342"/>
                </a:solidFill>
                <a:effectLst/>
                <a:latin typeface="Courier New" panose="02070309020205020404" pitchFamily="49" charset="0"/>
                <a:cs typeface="Courier New" panose="02070309020205020404" pitchFamily="49" charset="0"/>
              </a:rPr>
              <a:t>E</a:t>
            </a:r>
            <a:r>
              <a:rPr lang="it-IT" b="0" i="0" dirty="0">
                <a:solidFill>
                  <a:srgbClr val="0A2342"/>
                </a:solidFill>
                <a:effectLst/>
                <a:latin typeface="Courier New" panose="02070309020205020404" pitchFamily="49" charset="0"/>
                <a:cs typeface="Courier New" panose="02070309020205020404" pitchFamily="49" charset="0"/>
              </a:rPr>
              <a:t>e</a:t>
            </a:r>
            <a:r>
              <a:rPr lang="it-IT" b="0" i="0" baseline="-25000" dirty="0">
                <a:solidFill>
                  <a:srgbClr val="0A2342"/>
                </a:solidFill>
                <a:effectLst/>
                <a:latin typeface="Courier New" panose="02070309020205020404" pitchFamily="49" charset="0"/>
                <a:cs typeface="Courier New" panose="02070309020205020404" pitchFamily="49" charset="0"/>
              </a:rPr>
              <a:t>i</a:t>
            </a:r>
            <a:r>
              <a:rPr lang="it-IT" b="0" i="0" baseline="30000" dirty="0">
                <a:solidFill>
                  <a:srgbClr val="0A2342"/>
                </a:solidFill>
                <a:effectLst/>
                <a:latin typeface="Courier New" panose="02070309020205020404" pitchFamily="49" charset="0"/>
                <a:cs typeface="Courier New" panose="02070309020205020404" pitchFamily="49" charset="0"/>
              </a:rPr>
              <a:t>s,cm</a:t>
            </a:r>
            <a:r>
              <a:rPr lang="it-IT" b="0" i="0" dirty="0">
                <a:solidFill>
                  <a:srgbClr val="0A2342"/>
                </a:solidFill>
                <a:effectLst/>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1CB5A23B-869C-AC4F-C538-C11C448E75C3}"/>
              </a:ext>
            </a:extLst>
          </p:cNvPr>
          <p:cNvSpPr txBox="1"/>
          <p:nvPr/>
        </p:nvSpPr>
        <p:spPr>
          <a:xfrm>
            <a:off x="467300" y="5461289"/>
            <a:ext cx="5416594" cy="307777"/>
          </a:xfrm>
          <a:prstGeom prst="rect">
            <a:avLst/>
          </a:prstGeom>
          <a:noFill/>
        </p:spPr>
        <p:txBody>
          <a:bodyPr wrap="square">
            <a:spAutoFit/>
          </a:bodyPr>
          <a:lstStyle/>
          <a:p>
            <a:r>
              <a:rPr lang="en-US" sz="1400" b="0" i="0" dirty="0">
                <a:solidFill>
                  <a:srgbClr val="4A4A4A"/>
                </a:solidFill>
                <a:effectLst/>
                <a:latin typeface="Söhne"/>
              </a:rPr>
              <a:t>Find optimal power </a:t>
            </a:r>
            <a:r>
              <a:rPr lang="en-US" sz="1400" b="1" i="0" dirty="0">
                <a:solidFill>
                  <a:srgbClr val="0A2342"/>
                </a:solidFill>
                <a:effectLst/>
                <a:latin typeface="Söhne"/>
              </a:rPr>
              <a:t>p*</a:t>
            </a:r>
            <a:r>
              <a:rPr lang="en-US" sz="1400" b="0" i="0" dirty="0">
                <a:solidFill>
                  <a:srgbClr val="4A4A4A"/>
                </a:solidFill>
                <a:effectLst/>
                <a:latin typeface="Söhne"/>
              </a:rPr>
              <a:t> that minimizes communication cost efficiently.</a:t>
            </a:r>
            <a:endParaRPr lang="en-US" sz="1400" dirty="0">
              <a:latin typeface="Söhne"/>
            </a:endParaRPr>
          </a:p>
        </p:txBody>
      </p:sp>
      <p:sp>
        <p:nvSpPr>
          <p:cNvPr id="11" name="TextBox 10">
            <a:extLst>
              <a:ext uri="{FF2B5EF4-FFF2-40B4-BE49-F238E27FC236}">
                <a16:creationId xmlns:a16="http://schemas.microsoft.com/office/drawing/2014/main" id="{032191F5-03D4-BE50-124C-0E03BFCC7EAB}"/>
              </a:ext>
            </a:extLst>
          </p:cNvPr>
          <p:cNvSpPr txBox="1"/>
          <p:nvPr/>
        </p:nvSpPr>
        <p:spPr>
          <a:xfrm>
            <a:off x="6318240" y="5634914"/>
            <a:ext cx="5343906" cy="523220"/>
          </a:xfrm>
          <a:prstGeom prst="rect">
            <a:avLst/>
          </a:prstGeom>
          <a:noFill/>
        </p:spPr>
        <p:txBody>
          <a:bodyPr wrap="square">
            <a:spAutoFit/>
          </a:bodyPr>
          <a:lstStyle/>
          <a:p>
            <a:r>
              <a:rPr lang="en-US" sz="1400" b="1" i="0" dirty="0">
                <a:solidFill>
                  <a:srgbClr val="0A2342"/>
                </a:solidFill>
                <a:effectLst/>
                <a:latin typeface="Söhne"/>
              </a:rPr>
              <a:t>Coupling:</a:t>
            </a:r>
            <a:r>
              <a:rPr lang="en-US" sz="1400" b="0" i="0" dirty="0">
                <a:solidFill>
                  <a:srgbClr val="4A4A4A"/>
                </a:solidFill>
                <a:effectLst/>
                <a:latin typeface="Söhne"/>
              </a:rPr>
              <a:t> Stage 1 provides offloading decisions → Stage 2 allocates resources → Stage 2's cost determines Stage 1's reward</a:t>
            </a:r>
            <a:endParaRPr lang="en-US" sz="1400" dirty="0">
              <a:latin typeface="Söhne"/>
            </a:endParaRPr>
          </a:p>
        </p:txBody>
      </p:sp>
      <p:sp>
        <p:nvSpPr>
          <p:cNvPr id="5" name="Decagon 4">
            <a:extLst>
              <a:ext uri="{FF2B5EF4-FFF2-40B4-BE49-F238E27FC236}">
                <a16:creationId xmlns:a16="http://schemas.microsoft.com/office/drawing/2014/main" id="{1187D12D-6885-43C3-5009-B2091785A7C1}"/>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12</a:t>
            </a:r>
            <a:endParaRPr lang="en-US" b="1" dirty="0">
              <a:latin typeface="Söhne"/>
              <a:cs typeface="Times New Roman" panose="02020603050405020304" pitchFamily="18" charset="0"/>
            </a:endParaRPr>
          </a:p>
        </p:txBody>
      </p:sp>
    </p:spTree>
    <p:extLst>
      <p:ext uri="{BB962C8B-B14F-4D97-AF65-F5344CB8AC3E}">
        <p14:creationId xmlns:p14="http://schemas.microsoft.com/office/powerpoint/2010/main" val="275830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8"/>
                                        </p:tgtEl>
                                        <p:attrNameLst>
                                          <p:attrName>style.visibility</p:attrName>
                                        </p:attrNameLst>
                                      </p:cBhvr>
                                      <p:to>
                                        <p:strVal val="visible"/>
                                      </p:to>
                                    </p:set>
                                    <p:animEffect transition="in" filter="fade">
                                      <p:cBhvr>
                                        <p:cTn id="12" dur="1000"/>
                                        <p:tgtEl>
                                          <p:spTgt spid="38"/>
                                        </p:tgtEl>
                                      </p:cBhvr>
                                    </p:animEffect>
                                    <p:anim calcmode="lin" valueType="num">
                                      <p:cBhvr>
                                        <p:cTn id="13" dur="1000" fill="hold"/>
                                        <p:tgtEl>
                                          <p:spTgt spid="38"/>
                                        </p:tgtEl>
                                        <p:attrNameLst>
                                          <p:attrName>ppt_x</p:attrName>
                                        </p:attrNameLst>
                                      </p:cBhvr>
                                      <p:tavLst>
                                        <p:tav tm="0">
                                          <p:val>
                                            <p:strVal val="#ppt_x"/>
                                          </p:val>
                                        </p:tav>
                                        <p:tav tm="100000">
                                          <p:val>
                                            <p:strVal val="#ppt_x"/>
                                          </p:val>
                                        </p:tav>
                                      </p:tavLst>
                                    </p:anim>
                                    <p:anim calcmode="lin" valueType="num">
                                      <p:cBhvr>
                                        <p:cTn id="14" dur="1000" fill="hold"/>
                                        <p:tgtEl>
                                          <p:spTgt spid="3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39"/>
                                        </p:tgtEl>
                                        <p:attrNameLst>
                                          <p:attrName>style.visibility</p:attrName>
                                        </p:attrNameLst>
                                      </p:cBhvr>
                                      <p:to>
                                        <p:strVal val="visible"/>
                                      </p:to>
                                    </p:set>
                                    <p:animEffect transition="in" filter="fade">
                                      <p:cBhvr>
                                        <p:cTn id="24" dur="1000"/>
                                        <p:tgtEl>
                                          <p:spTgt spid="39"/>
                                        </p:tgtEl>
                                      </p:cBhvr>
                                    </p:animEffect>
                                    <p:anim calcmode="lin" valueType="num">
                                      <p:cBhvr>
                                        <p:cTn id="25" dur="1000" fill="hold"/>
                                        <p:tgtEl>
                                          <p:spTgt spid="39"/>
                                        </p:tgtEl>
                                        <p:attrNameLst>
                                          <p:attrName>ppt_x</p:attrName>
                                        </p:attrNameLst>
                                      </p:cBhvr>
                                      <p:tavLst>
                                        <p:tav tm="0">
                                          <p:val>
                                            <p:strVal val="#ppt_x"/>
                                          </p:val>
                                        </p:tav>
                                        <p:tav tm="100000">
                                          <p:val>
                                            <p:strVal val="#ppt_x"/>
                                          </p:val>
                                        </p:tav>
                                      </p:tavLst>
                                    </p:anim>
                                    <p:anim calcmode="lin" valueType="num">
                                      <p:cBhvr>
                                        <p:cTn id="26" dur="1000" fill="hold"/>
                                        <p:tgtEl>
                                          <p:spTgt spid="39"/>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fade">
                                      <p:cBhvr>
                                        <p:cTn id="29" dur="1000"/>
                                        <p:tgtEl>
                                          <p:spTgt spid="3"/>
                                        </p:tgtEl>
                                      </p:cBhvr>
                                    </p:animEffect>
                                    <p:anim calcmode="lin" valueType="num">
                                      <p:cBhvr>
                                        <p:cTn id="30" dur="1000" fill="hold"/>
                                        <p:tgtEl>
                                          <p:spTgt spid="3"/>
                                        </p:tgtEl>
                                        <p:attrNameLst>
                                          <p:attrName>ppt_x</p:attrName>
                                        </p:attrNameLst>
                                      </p:cBhvr>
                                      <p:tavLst>
                                        <p:tav tm="0">
                                          <p:val>
                                            <p:strVal val="#ppt_x"/>
                                          </p:val>
                                        </p:tav>
                                        <p:tav tm="100000">
                                          <p:val>
                                            <p:strVal val="#ppt_x"/>
                                          </p:val>
                                        </p:tav>
                                      </p:tavLst>
                                    </p:anim>
                                    <p:anim calcmode="lin" valueType="num">
                                      <p:cBhvr>
                                        <p:cTn id="31" dur="1000" fill="hold"/>
                                        <p:tgtEl>
                                          <p:spTgt spid="3"/>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fade">
                                      <p:cBhvr>
                                        <p:cTn id="39" dur="1000"/>
                                        <p:tgtEl>
                                          <p:spTgt spid="7"/>
                                        </p:tgtEl>
                                      </p:cBhvr>
                                    </p:animEffect>
                                    <p:anim calcmode="lin" valueType="num">
                                      <p:cBhvr>
                                        <p:cTn id="40" dur="1000" fill="hold"/>
                                        <p:tgtEl>
                                          <p:spTgt spid="7"/>
                                        </p:tgtEl>
                                        <p:attrNameLst>
                                          <p:attrName>ppt_x</p:attrName>
                                        </p:attrNameLst>
                                      </p:cBhvr>
                                      <p:tavLst>
                                        <p:tav tm="0">
                                          <p:val>
                                            <p:strVal val="#ppt_x"/>
                                          </p:val>
                                        </p:tav>
                                        <p:tav tm="100000">
                                          <p:val>
                                            <p:strVal val="#ppt_x"/>
                                          </p:val>
                                        </p:tav>
                                      </p:tavLst>
                                    </p:anim>
                                    <p:anim calcmode="lin" valueType="num">
                                      <p:cBhvr>
                                        <p:cTn id="4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1000"/>
                                        <p:tgtEl>
                                          <p:spTgt spid="14"/>
                                        </p:tgtEl>
                                      </p:cBhvr>
                                    </p:animEffect>
                                    <p:anim calcmode="lin" valueType="num">
                                      <p:cBhvr>
                                        <p:cTn id="47" dur="1000" fill="hold"/>
                                        <p:tgtEl>
                                          <p:spTgt spid="14"/>
                                        </p:tgtEl>
                                        <p:attrNameLst>
                                          <p:attrName>ppt_x</p:attrName>
                                        </p:attrNameLst>
                                      </p:cBhvr>
                                      <p:tavLst>
                                        <p:tav tm="0">
                                          <p:val>
                                            <p:strVal val="#ppt_x"/>
                                          </p:val>
                                        </p:tav>
                                        <p:tav tm="100000">
                                          <p:val>
                                            <p:strVal val="#ppt_x"/>
                                          </p:val>
                                        </p:tav>
                                      </p:tavLst>
                                    </p:anim>
                                    <p:anim calcmode="lin" valueType="num">
                                      <p:cBhvr>
                                        <p:cTn id="48" dur="1000" fill="hold"/>
                                        <p:tgtEl>
                                          <p:spTgt spid="14"/>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1000"/>
                                        <p:tgtEl>
                                          <p:spTgt spid="40"/>
                                        </p:tgtEl>
                                      </p:cBhvr>
                                    </p:animEffect>
                                    <p:anim calcmode="lin" valueType="num">
                                      <p:cBhvr>
                                        <p:cTn id="52" dur="1000" fill="hold"/>
                                        <p:tgtEl>
                                          <p:spTgt spid="40"/>
                                        </p:tgtEl>
                                        <p:attrNameLst>
                                          <p:attrName>ppt_x</p:attrName>
                                        </p:attrNameLst>
                                      </p:cBhvr>
                                      <p:tavLst>
                                        <p:tav tm="0">
                                          <p:val>
                                            <p:strVal val="#ppt_x"/>
                                          </p:val>
                                        </p:tav>
                                        <p:tav tm="100000">
                                          <p:val>
                                            <p:strVal val="#ppt_x"/>
                                          </p:val>
                                        </p:tav>
                                      </p:tavLst>
                                    </p:anim>
                                    <p:anim calcmode="lin" valueType="num">
                                      <p:cBhvr>
                                        <p:cTn id="5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1000"/>
                                        <p:tgtEl>
                                          <p:spTgt spid="25"/>
                                        </p:tgtEl>
                                      </p:cBhvr>
                                    </p:animEffect>
                                    <p:anim calcmode="lin" valueType="num">
                                      <p:cBhvr>
                                        <p:cTn id="59" dur="1000" fill="hold"/>
                                        <p:tgtEl>
                                          <p:spTgt spid="25"/>
                                        </p:tgtEl>
                                        <p:attrNameLst>
                                          <p:attrName>ppt_x</p:attrName>
                                        </p:attrNameLst>
                                      </p:cBhvr>
                                      <p:tavLst>
                                        <p:tav tm="0">
                                          <p:val>
                                            <p:strVal val="#ppt_x"/>
                                          </p:val>
                                        </p:tav>
                                        <p:tav tm="100000">
                                          <p:val>
                                            <p:strVal val="#ppt_x"/>
                                          </p:val>
                                        </p:tav>
                                      </p:tavLst>
                                    </p:anim>
                                    <p:anim calcmode="lin" valueType="num">
                                      <p:cBhvr>
                                        <p:cTn id="60" dur="1000" fill="hold"/>
                                        <p:tgtEl>
                                          <p:spTgt spid="25"/>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1000"/>
                                        <p:tgtEl>
                                          <p:spTgt spid="41"/>
                                        </p:tgtEl>
                                      </p:cBhvr>
                                    </p:animEffect>
                                    <p:anim calcmode="lin" valueType="num">
                                      <p:cBhvr>
                                        <p:cTn id="64" dur="1000" fill="hold"/>
                                        <p:tgtEl>
                                          <p:spTgt spid="41"/>
                                        </p:tgtEl>
                                        <p:attrNameLst>
                                          <p:attrName>ppt_x</p:attrName>
                                        </p:attrNameLst>
                                      </p:cBhvr>
                                      <p:tavLst>
                                        <p:tav tm="0">
                                          <p:val>
                                            <p:strVal val="#ppt_x"/>
                                          </p:val>
                                        </p:tav>
                                        <p:tav tm="100000">
                                          <p:val>
                                            <p:strVal val="#ppt_x"/>
                                          </p:val>
                                        </p:tav>
                                      </p:tavLst>
                                    </p:anim>
                                    <p:anim calcmode="lin" valueType="num">
                                      <p:cBhvr>
                                        <p:cTn id="65" dur="1000" fill="hold"/>
                                        <p:tgtEl>
                                          <p:spTgt spid="41"/>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1"/>
                                        </p:tgtEl>
                                        <p:attrNameLst>
                                          <p:attrName>style.visibility</p:attrName>
                                        </p:attrNameLst>
                                      </p:cBhvr>
                                      <p:to>
                                        <p:strVal val="visible"/>
                                      </p:to>
                                    </p:set>
                                    <p:animEffect transition="in" filter="fade">
                                      <p:cBhvr>
                                        <p:cTn id="68" dur="1000"/>
                                        <p:tgtEl>
                                          <p:spTgt spid="11"/>
                                        </p:tgtEl>
                                      </p:cBhvr>
                                    </p:animEffect>
                                    <p:anim calcmode="lin" valueType="num">
                                      <p:cBhvr>
                                        <p:cTn id="69" dur="1000" fill="hold"/>
                                        <p:tgtEl>
                                          <p:spTgt spid="11"/>
                                        </p:tgtEl>
                                        <p:attrNameLst>
                                          <p:attrName>ppt_x</p:attrName>
                                        </p:attrNameLst>
                                      </p:cBhvr>
                                      <p:tavLst>
                                        <p:tav tm="0">
                                          <p:val>
                                            <p:strVal val="#ppt_x"/>
                                          </p:val>
                                        </p:tav>
                                        <p:tav tm="100000">
                                          <p:val>
                                            <p:strVal val="#ppt_x"/>
                                          </p:val>
                                        </p:tav>
                                      </p:tavLst>
                                    </p:anim>
                                    <p:anim calcmode="lin" valueType="num">
                                      <p:cBhvr>
                                        <p:cTn id="7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 grpId="0" animBg="1"/>
      <p:bldP spid="10" grpId="0" animBg="1"/>
      <p:bldP spid="14" grpId="0" animBg="1"/>
      <p:bldP spid="25" grpId="0" animBg="1"/>
      <p:bldP spid="38" grpId="0" animBg="1"/>
      <p:bldP spid="39" grpId="0" animBg="1"/>
      <p:bldP spid="40" grpId="0" animBg="1"/>
      <p:bldP spid="41" grpId="0" animBg="1"/>
      <p:bldP spid="4" grpId="0" animBg="1"/>
      <p:bldP spid="7"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3F54049-5DC2-40F1-9351-0A66984A74B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9AEBC0AC-F6CF-44A3-9366-36E52F140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83853BC0-C275-4A94-960F-EF164693EFE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0AB2F05-2712-497E-BA80-CB5D5CBE9E6F}"/>
              </a:ext>
            </a:extLst>
          </p:cNvPr>
          <p:cNvSpPr txBox="1"/>
          <p:nvPr/>
        </p:nvSpPr>
        <p:spPr>
          <a:xfrm>
            <a:off x="550276" y="364476"/>
            <a:ext cx="4985660" cy="584775"/>
          </a:xfrm>
          <a:prstGeom prst="rect">
            <a:avLst/>
          </a:prstGeom>
          <a:noFill/>
        </p:spPr>
        <p:txBody>
          <a:bodyPr wrap="none" rtlCol="0">
            <a:spAutoFit/>
          </a:bodyPr>
          <a:lstStyle/>
          <a:p>
            <a:r>
              <a:rPr lang="en-US" sz="3200" b="1" dirty="0">
                <a:solidFill>
                  <a:srgbClr val="0070C0"/>
                </a:solidFill>
                <a:latin typeface="Söhne"/>
              </a:rPr>
              <a:t>Proposed Algorithm: PTORA</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E0BD1DFE-0E59-4AD2-A7C8-3A3A6D48A1E1}"/>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7" name="Decagon 6">
            <a:extLst>
              <a:ext uri="{FF2B5EF4-FFF2-40B4-BE49-F238E27FC236}">
                <a16:creationId xmlns:a16="http://schemas.microsoft.com/office/drawing/2014/main" id="{E15E91A4-F4B4-5A85-AA95-A68FEA17EB2B}"/>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13</a:t>
            </a:r>
            <a:endParaRPr lang="en-US" b="1" dirty="0">
              <a:latin typeface="Söhne"/>
              <a:cs typeface="Times New Roman" panose="02020603050405020304" pitchFamily="18" charset="0"/>
            </a:endParaRPr>
          </a:p>
        </p:txBody>
      </p:sp>
      <p:sp>
        <p:nvSpPr>
          <p:cNvPr id="9" name="Rectangle: Rounded Corners 8">
            <a:extLst>
              <a:ext uri="{FF2B5EF4-FFF2-40B4-BE49-F238E27FC236}">
                <a16:creationId xmlns:a16="http://schemas.microsoft.com/office/drawing/2014/main" id="{9E580612-7F7E-FD9B-0FA4-DF06B17AAD4A}"/>
              </a:ext>
            </a:extLst>
          </p:cNvPr>
          <p:cNvSpPr/>
          <p:nvPr/>
        </p:nvSpPr>
        <p:spPr>
          <a:xfrm>
            <a:off x="435004" y="1059071"/>
            <a:ext cx="7332683" cy="331481"/>
          </a:xfrm>
          <a:prstGeom prst="roundRect">
            <a:avLst/>
          </a:prstGeom>
          <a:solidFill>
            <a:srgbClr val="002060"/>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FFFFFF"/>
                </a:solidFill>
                <a:effectLst/>
                <a:latin typeface="Söhne"/>
              </a:rPr>
              <a:t>Parallel Task Offloading and Resource Allocation</a:t>
            </a:r>
            <a:endParaRPr lang="en-GB" b="1" dirty="0">
              <a:latin typeface="Söhne"/>
            </a:endParaRPr>
          </a:p>
        </p:txBody>
      </p:sp>
      <p:sp>
        <p:nvSpPr>
          <p:cNvPr id="11" name="TextBox 10">
            <a:extLst>
              <a:ext uri="{FF2B5EF4-FFF2-40B4-BE49-F238E27FC236}">
                <a16:creationId xmlns:a16="http://schemas.microsoft.com/office/drawing/2014/main" id="{7B6056FF-EA8C-D0F3-E78A-21F5EDD39CA9}"/>
              </a:ext>
            </a:extLst>
          </p:cNvPr>
          <p:cNvSpPr txBox="1"/>
          <p:nvPr/>
        </p:nvSpPr>
        <p:spPr>
          <a:xfrm>
            <a:off x="435004" y="1690871"/>
            <a:ext cx="5843058" cy="1284967"/>
          </a:xfrm>
          <a:prstGeom prst="rect">
            <a:avLst/>
          </a:prstGeom>
          <a:noFill/>
          <a:ln w="19050">
            <a:solidFill>
              <a:srgbClr val="1C3ECE"/>
            </a:solidFill>
          </a:ln>
        </p:spPr>
        <p:txBody>
          <a:bodyPr wrap="square">
            <a:spAutoFit/>
          </a:bodyPr>
          <a:lstStyle/>
          <a:p>
            <a:pPr algn="l">
              <a:spcAft>
                <a:spcPts val="900"/>
              </a:spcAft>
              <a:buNone/>
            </a:pPr>
            <a:r>
              <a:rPr lang="en-US" sz="1400" b="1" i="0" dirty="0">
                <a:solidFill>
                  <a:srgbClr val="333333"/>
                </a:solidFill>
                <a:effectLst/>
                <a:latin typeface="Söhne"/>
              </a:rPr>
              <a:t>PTORA combines:</a:t>
            </a:r>
            <a:endParaRPr lang="en-US" sz="1400" b="0" i="0" dirty="0">
              <a:solidFill>
                <a:srgbClr val="333333"/>
              </a:solidFill>
              <a:effectLst/>
              <a:latin typeface="Söhne"/>
            </a:endParaRPr>
          </a:p>
          <a:p>
            <a:pPr marL="285750" indent="-285750" algn="l">
              <a:buFont typeface="Arial" panose="020B0604020202020204" pitchFamily="34" charset="0"/>
              <a:buChar char="•"/>
            </a:pPr>
            <a:r>
              <a:rPr lang="en-US" sz="1400" b="1" i="0" dirty="0">
                <a:solidFill>
                  <a:srgbClr val="333333"/>
                </a:solidFill>
                <a:effectLst/>
                <a:latin typeface="Söhne"/>
              </a:rPr>
              <a:t>DDQN</a:t>
            </a:r>
            <a:r>
              <a:rPr lang="en-US" sz="1400" b="0" i="0" dirty="0">
                <a:solidFill>
                  <a:srgbClr val="333333"/>
                </a:solidFill>
                <a:effectLst/>
                <a:latin typeface="Söhne"/>
              </a:rPr>
              <a:t> for intelligent task offloading decisions</a:t>
            </a:r>
          </a:p>
          <a:p>
            <a:pPr marL="285750" indent="-285750" algn="l">
              <a:buFont typeface="Arial" panose="020B0604020202020204" pitchFamily="34" charset="0"/>
              <a:buChar char="•"/>
            </a:pPr>
            <a:r>
              <a:rPr lang="en-US" sz="1400" b="1" i="0" dirty="0">
                <a:solidFill>
                  <a:srgbClr val="333333"/>
                </a:solidFill>
                <a:effectLst/>
                <a:latin typeface="Söhne"/>
              </a:rPr>
              <a:t>JSATC</a:t>
            </a:r>
            <a:r>
              <a:rPr lang="en-US" sz="1400" b="0" i="0" dirty="0">
                <a:solidFill>
                  <a:srgbClr val="333333"/>
                </a:solidFill>
                <a:effectLst/>
                <a:latin typeface="Söhne"/>
              </a:rPr>
              <a:t> for joint subchannel allocation &amp; power control</a:t>
            </a:r>
          </a:p>
          <a:p>
            <a:pPr marL="285750" indent="-285750" algn="l">
              <a:buFont typeface="Arial" panose="020B0604020202020204" pitchFamily="34" charset="0"/>
              <a:buChar char="•"/>
            </a:pPr>
            <a:r>
              <a:rPr lang="en-US" sz="1400" b="1" i="0" dirty="0">
                <a:solidFill>
                  <a:srgbClr val="333333"/>
                </a:solidFill>
                <a:effectLst/>
                <a:latin typeface="Söhne"/>
              </a:rPr>
              <a:t>Experience Replay</a:t>
            </a:r>
            <a:r>
              <a:rPr lang="en-US" sz="1400" b="0" i="0" dirty="0">
                <a:solidFill>
                  <a:srgbClr val="333333"/>
                </a:solidFill>
                <a:effectLst/>
                <a:latin typeface="Söhne"/>
              </a:rPr>
              <a:t> for stable learning</a:t>
            </a:r>
          </a:p>
          <a:p>
            <a:pPr marL="285750" indent="-285750" algn="l">
              <a:buFont typeface="Arial" panose="020B0604020202020204" pitchFamily="34" charset="0"/>
              <a:buChar char="•"/>
            </a:pPr>
            <a:r>
              <a:rPr lang="en-US" sz="1400" b="1" i="0" dirty="0">
                <a:solidFill>
                  <a:srgbClr val="333333"/>
                </a:solidFill>
                <a:effectLst/>
                <a:latin typeface="Söhne"/>
              </a:rPr>
              <a:t>Target Network</a:t>
            </a:r>
            <a:r>
              <a:rPr lang="en-US" sz="1400" b="0" i="0" dirty="0">
                <a:solidFill>
                  <a:srgbClr val="333333"/>
                </a:solidFill>
                <a:effectLst/>
                <a:latin typeface="Söhne"/>
              </a:rPr>
              <a:t> for convergence</a:t>
            </a:r>
          </a:p>
        </p:txBody>
      </p:sp>
      <p:pic>
        <p:nvPicPr>
          <p:cNvPr id="4" name="Picture 3">
            <a:extLst>
              <a:ext uri="{FF2B5EF4-FFF2-40B4-BE49-F238E27FC236}">
                <a16:creationId xmlns:a16="http://schemas.microsoft.com/office/drawing/2014/main" id="{4753F5F3-A3AA-9B86-C65A-2C375D47305D}"/>
              </a:ext>
            </a:extLst>
          </p:cNvPr>
          <p:cNvPicPr>
            <a:picLocks noChangeAspect="1"/>
          </p:cNvPicPr>
          <p:nvPr/>
        </p:nvPicPr>
        <p:blipFill>
          <a:blip r:embed="rId4"/>
          <a:stretch>
            <a:fillRect/>
          </a:stretch>
        </p:blipFill>
        <p:spPr>
          <a:xfrm>
            <a:off x="6512460" y="1474189"/>
            <a:ext cx="5091871" cy="4778240"/>
          </a:xfrm>
          <a:prstGeom prst="rect">
            <a:avLst/>
          </a:prstGeom>
          <a:ln>
            <a:solidFill>
              <a:schemeClr val="tx1"/>
            </a:solidFill>
          </a:ln>
        </p:spPr>
      </p:pic>
      <p:sp>
        <p:nvSpPr>
          <p:cNvPr id="3" name="TextBox 2">
            <a:extLst>
              <a:ext uri="{FF2B5EF4-FFF2-40B4-BE49-F238E27FC236}">
                <a16:creationId xmlns:a16="http://schemas.microsoft.com/office/drawing/2014/main" id="{D8FA6C4C-5599-7A01-EF02-51F783F25955}"/>
              </a:ext>
            </a:extLst>
          </p:cNvPr>
          <p:cNvSpPr txBox="1"/>
          <p:nvPr/>
        </p:nvSpPr>
        <p:spPr>
          <a:xfrm>
            <a:off x="435004" y="3442587"/>
            <a:ext cx="5843058" cy="1526059"/>
          </a:xfrm>
          <a:prstGeom prst="rect">
            <a:avLst/>
          </a:prstGeom>
          <a:noFill/>
          <a:ln w="19050">
            <a:solidFill>
              <a:srgbClr val="1C3ECE"/>
            </a:solidFill>
          </a:ln>
        </p:spPr>
        <p:txBody>
          <a:bodyPr wrap="square">
            <a:spAutoFit/>
          </a:bodyPr>
          <a:lstStyle/>
          <a:p>
            <a:pPr algn="l">
              <a:spcAft>
                <a:spcPts val="1125"/>
              </a:spcAft>
              <a:buNone/>
            </a:pPr>
            <a:r>
              <a:rPr lang="en-US" sz="1400" b="1" i="0" dirty="0">
                <a:solidFill>
                  <a:srgbClr val="1B5E20"/>
                </a:solidFill>
                <a:effectLst/>
                <a:latin typeface="Söhne"/>
              </a:rPr>
              <a:t>Key Features</a:t>
            </a:r>
          </a:p>
          <a:p>
            <a:pPr marL="285750" indent="-285750" algn="l">
              <a:buFont typeface="Arial" panose="020B0604020202020204" pitchFamily="34" charset="0"/>
              <a:buChar char="•"/>
            </a:pPr>
            <a:r>
              <a:rPr lang="en-US" sz="1400" b="1" i="0" dirty="0">
                <a:solidFill>
                  <a:srgbClr val="333333"/>
                </a:solidFill>
                <a:effectLst/>
                <a:latin typeface="Söhne"/>
              </a:rPr>
              <a:t>Execution Window Partitioning:</a:t>
            </a:r>
            <a:r>
              <a:rPr lang="en-US" sz="1400" b="0" i="0" dirty="0">
                <a:solidFill>
                  <a:srgbClr val="333333"/>
                </a:solidFill>
                <a:effectLst/>
                <a:latin typeface="Söhne"/>
              </a:rPr>
              <a:t> Enables parallel processing</a:t>
            </a:r>
          </a:p>
          <a:p>
            <a:pPr marL="285750" indent="-285750" algn="l">
              <a:buFont typeface="Arial" panose="020B0604020202020204" pitchFamily="34" charset="0"/>
              <a:buChar char="•"/>
            </a:pPr>
            <a:r>
              <a:rPr lang="el-GR" sz="1400" b="1" i="0" dirty="0">
                <a:solidFill>
                  <a:srgbClr val="333333"/>
                </a:solidFill>
                <a:effectLst/>
                <a:latin typeface="Söhne"/>
              </a:rPr>
              <a:t>ε-</a:t>
            </a:r>
            <a:r>
              <a:rPr lang="en-US" sz="1400" b="1" i="0" dirty="0">
                <a:solidFill>
                  <a:srgbClr val="333333"/>
                </a:solidFill>
                <a:effectLst/>
                <a:latin typeface="Söhne"/>
              </a:rPr>
              <a:t>greedy Policy:</a:t>
            </a:r>
            <a:r>
              <a:rPr lang="en-US" sz="1400" b="0" i="0" dirty="0">
                <a:solidFill>
                  <a:srgbClr val="333333"/>
                </a:solidFill>
                <a:effectLst/>
                <a:latin typeface="Söhne"/>
              </a:rPr>
              <a:t> Balances exploration vs exploitation</a:t>
            </a:r>
          </a:p>
          <a:p>
            <a:pPr marL="285750" indent="-285750" algn="l">
              <a:buFont typeface="Arial" panose="020B0604020202020204" pitchFamily="34" charset="0"/>
              <a:buChar char="•"/>
            </a:pPr>
            <a:r>
              <a:rPr lang="en-US" sz="1400" b="1" i="0" dirty="0">
                <a:solidFill>
                  <a:srgbClr val="333333"/>
                </a:solidFill>
                <a:effectLst/>
                <a:latin typeface="Söhne"/>
              </a:rPr>
              <a:t>Coupled Optimization:</a:t>
            </a:r>
            <a:r>
              <a:rPr lang="en-US" sz="1400" b="0" i="0" dirty="0">
                <a:solidFill>
                  <a:srgbClr val="333333"/>
                </a:solidFill>
                <a:effectLst/>
                <a:latin typeface="Söhne"/>
              </a:rPr>
              <a:t> Offloading decisions + resource allocation</a:t>
            </a:r>
          </a:p>
          <a:p>
            <a:pPr marL="285750" indent="-285750" algn="l">
              <a:buFont typeface="Arial" panose="020B0604020202020204" pitchFamily="34" charset="0"/>
              <a:buChar char="•"/>
            </a:pPr>
            <a:r>
              <a:rPr lang="en-US" sz="1400" b="1" i="0" dirty="0">
                <a:solidFill>
                  <a:srgbClr val="333333"/>
                </a:solidFill>
                <a:effectLst/>
                <a:latin typeface="Söhne"/>
              </a:rPr>
              <a:t>Long-term Learning:</a:t>
            </a:r>
            <a:r>
              <a:rPr lang="en-US" sz="1400" b="0" i="0" dirty="0">
                <a:solidFill>
                  <a:srgbClr val="333333"/>
                </a:solidFill>
                <a:effectLst/>
                <a:latin typeface="Söhne"/>
              </a:rPr>
              <a:t> Maximizes cumulative reward</a:t>
            </a:r>
          </a:p>
          <a:p>
            <a:pPr marL="285750" indent="-285750" algn="l">
              <a:buFont typeface="Arial" panose="020B0604020202020204" pitchFamily="34" charset="0"/>
              <a:buChar char="•"/>
            </a:pPr>
            <a:r>
              <a:rPr lang="en-US" sz="1400" b="1" i="0" dirty="0">
                <a:solidFill>
                  <a:srgbClr val="333333"/>
                </a:solidFill>
                <a:effectLst/>
                <a:latin typeface="Söhne"/>
              </a:rPr>
              <a:t>No Prior Knowledge:</a:t>
            </a:r>
            <a:r>
              <a:rPr lang="en-US" sz="1400" b="0" i="0" dirty="0">
                <a:solidFill>
                  <a:srgbClr val="333333"/>
                </a:solidFill>
                <a:effectLst/>
                <a:latin typeface="Söhne"/>
              </a:rPr>
              <a:t> Adapts to dynamic environments</a:t>
            </a:r>
          </a:p>
        </p:txBody>
      </p:sp>
    </p:spTree>
    <p:extLst>
      <p:ext uri="{BB962C8B-B14F-4D97-AF65-F5344CB8AC3E}">
        <p14:creationId xmlns:p14="http://schemas.microsoft.com/office/powerpoint/2010/main" val="2718668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7B421-341C-702E-EDE4-A07EA14BDF1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BD1DEDB1-B296-0C69-A720-363A358C3F1A}"/>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FB9AEF3A-A1FF-7864-BA9B-B052256A47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A3531E41-E5E5-A85B-5A9C-91A74D8717D9}"/>
              </a:ext>
            </a:extLst>
          </p:cNvPr>
          <p:cNvCxnSpPr>
            <a:cxnSpLocks/>
          </p:cNvCxnSpPr>
          <p:nvPr/>
        </p:nvCxnSpPr>
        <p:spPr>
          <a:xfrm>
            <a:off x="435005" y="947129"/>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2F4AADD-8BAE-7927-83E4-5C3A2C2147A6}"/>
              </a:ext>
            </a:extLst>
          </p:cNvPr>
          <p:cNvSpPr txBox="1"/>
          <p:nvPr/>
        </p:nvSpPr>
        <p:spPr>
          <a:xfrm>
            <a:off x="550276" y="338293"/>
            <a:ext cx="5853269" cy="584775"/>
          </a:xfrm>
          <a:prstGeom prst="rect">
            <a:avLst/>
          </a:prstGeom>
          <a:noFill/>
        </p:spPr>
        <p:txBody>
          <a:bodyPr wrap="none" rtlCol="0">
            <a:spAutoFit/>
          </a:bodyPr>
          <a:lstStyle/>
          <a:p>
            <a:r>
              <a:rPr lang="en-US" sz="3200" b="1" dirty="0">
                <a:solidFill>
                  <a:srgbClr val="0070C0"/>
                </a:solidFill>
                <a:latin typeface="Söhne"/>
              </a:rPr>
              <a:t>Simulation Setup and Parameters</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3096D45C-74EF-6BF5-3244-B5AAB3B5BCB8}"/>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39" name="TextBox 38">
            <a:extLst>
              <a:ext uri="{FF2B5EF4-FFF2-40B4-BE49-F238E27FC236}">
                <a16:creationId xmlns:a16="http://schemas.microsoft.com/office/drawing/2014/main" id="{2712AB96-ABEE-1DC1-57C5-D43FE74B4D36}"/>
              </a:ext>
            </a:extLst>
          </p:cNvPr>
          <p:cNvSpPr txBox="1"/>
          <p:nvPr/>
        </p:nvSpPr>
        <p:spPr>
          <a:xfrm>
            <a:off x="6734651" y="1238724"/>
            <a:ext cx="3439221" cy="307777"/>
          </a:xfrm>
          <a:prstGeom prst="rect">
            <a:avLst/>
          </a:prstGeom>
          <a:noFill/>
        </p:spPr>
        <p:txBody>
          <a:bodyPr wrap="square">
            <a:spAutoFit/>
          </a:bodyPr>
          <a:lstStyle/>
          <a:p>
            <a:pPr algn="ctr"/>
            <a:r>
              <a:rPr lang="en-US" sz="1400" b="1" dirty="0">
                <a:solidFill>
                  <a:srgbClr val="6179E9"/>
                </a:solidFill>
                <a:latin typeface="Söhne"/>
              </a:rPr>
              <a:t>Table 4. Simulation Parameters</a:t>
            </a:r>
            <a:endParaRPr lang="en-US" sz="1400" dirty="0">
              <a:solidFill>
                <a:srgbClr val="6179E9"/>
              </a:solidFill>
              <a:latin typeface="Söhne"/>
            </a:endParaRPr>
          </a:p>
        </p:txBody>
      </p:sp>
      <mc:AlternateContent xmlns:mc="http://schemas.openxmlformats.org/markup-compatibility/2006" xmlns:a14="http://schemas.microsoft.com/office/drawing/2010/main">
        <mc:Choice Requires="a14">
          <p:graphicFrame>
            <p:nvGraphicFramePr>
              <p:cNvPr id="40" name="Table 39">
                <a:extLst>
                  <a:ext uri="{FF2B5EF4-FFF2-40B4-BE49-F238E27FC236}">
                    <a16:creationId xmlns:a16="http://schemas.microsoft.com/office/drawing/2014/main" id="{CFE4D5EE-2489-4AD8-D756-952D2D5F0C90}"/>
                  </a:ext>
                </a:extLst>
              </p:cNvPr>
              <p:cNvGraphicFramePr>
                <a:graphicFrameLocks noGrp="1"/>
              </p:cNvGraphicFramePr>
              <p:nvPr>
                <p:extLst>
                  <p:ext uri="{D42A27DB-BD31-4B8C-83A1-F6EECF244321}">
                    <p14:modId xmlns:p14="http://schemas.microsoft.com/office/powerpoint/2010/main" val="2970989931"/>
                  </p:ext>
                </p:extLst>
              </p:nvPr>
            </p:nvGraphicFramePr>
            <p:xfrm>
              <a:off x="6032585" y="1546501"/>
              <a:ext cx="4996776" cy="4311991"/>
            </p:xfrm>
            <a:graphic>
              <a:graphicData uri="http://schemas.openxmlformats.org/drawingml/2006/table">
                <a:tbl>
                  <a:tblPr firstRow="1" bandRow="1">
                    <a:tableStyleId>{5C22544A-7EE6-4342-B048-85BDC9FD1C3A}</a:tableStyleId>
                  </a:tblPr>
                  <a:tblGrid>
                    <a:gridCol w="2498388">
                      <a:extLst>
                        <a:ext uri="{9D8B030D-6E8A-4147-A177-3AD203B41FA5}">
                          <a16:colId xmlns:a16="http://schemas.microsoft.com/office/drawing/2014/main" val="81787477"/>
                        </a:ext>
                      </a:extLst>
                    </a:gridCol>
                    <a:gridCol w="2498388">
                      <a:extLst>
                        <a:ext uri="{9D8B030D-6E8A-4147-A177-3AD203B41FA5}">
                          <a16:colId xmlns:a16="http://schemas.microsoft.com/office/drawing/2014/main" val="3794534306"/>
                        </a:ext>
                      </a:extLst>
                    </a:gridCol>
                  </a:tblGrid>
                  <a:tr h="418829">
                    <a:tc>
                      <a:txBody>
                        <a:bodyPr/>
                        <a:lstStyle/>
                        <a:p>
                          <a:pPr marL="0" indent="144145" algn="ctr" defTabSz="914400" rtl="0" eaLnBrk="1" latinLnBrk="0" hangingPunct="1">
                            <a:lnSpc>
                              <a:spcPts val="1200"/>
                            </a:lnSpc>
                            <a:buNone/>
                          </a:pPr>
                          <a:r>
                            <a:rPr lang="en-US" sz="1200" b="1" i="0" kern="1200" dirty="0">
                              <a:solidFill>
                                <a:schemeClr val="bg1"/>
                              </a:solidFill>
                              <a:latin typeface="Söhne"/>
                              <a:ea typeface="+mn-ea"/>
                              <a:cs typeface="+mn-cs"/>
                            </a:rPr>
                            <a:t>Parameters</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tc>
                      <a:txBody>
                        <a:bodyPr/>
                        <a:lstStyle/>
                        <a:p>
                          <a:pPr marL="0" indent="144145" algn="ctr" defTabSz="914400" rtl="0" eaLnBrk="1" latinLnBrk="0" hangingPunct="1">
                            <a:lnSpc>
                              <a:spcPts val="1200"/>
                            </a:lnSpc>
                            <a:buNone/>
                          </a:pPr>
                          <a:r>
                            <a:rPr lang="en-US" sz="1200" b="1" i="0" kern="1200" dirty="0">
                              <a:solidFill>
                                <a:schemeClr val="bg1"/>
                              </a:solidFill>
                              <a:latin typeface="Söhne"/>
                              <a:ea typeface="+mn-ea"/>
                              <a:cs typeface="+mn-cs"/>
                            </a:rPr>
                            <a:t>Value</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extLst>
                      <a:ext uri="{0D108BD9-81ED-4DB2-BD59-A6C34878D82A}">
                        <a16:rowId xmlns:a16="http://schemas.microsoft.com/office/drawing/2014/main" val="2179048212"/>
                      </a:ext>
                    </a:extLst>
                  </a:tr>
                  <a:tr h="279253">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Total bandwidth </a:t>
                          </a:r>
                          <a14:m>
                            <m:oMath xmlns:m="http://schemas.openxmlformats.org/officeDocument/2006/math">
                              <m:r>
                                <a:rPr lang="en-US" sz="1200" b="1" i="1" kern="1200" smtClean="0">
                                  <a:solidFill>
                                    <a:schemeClr val="tx1"/>
                                  </a:solidFill>
                                  <a:latin typeface="Cambria Math" panose="02040503050406030204" pitchFamily="18" charset="0"/>
                                  <a:ea typeface="+mn-ea"/>
                                  <a:cs typeface="+mn-cs"/>
                                </a:rPr>
                                <m:t>𝑩</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50 MHz</a:t>
                          </a:r>
                        </a:p>
                      </a:txBody>
                      <a:tcPr marL="68580" marR="68580" marT="0" marB="0" anchor="ctr">
                        <a:solidFill>
                          <a:schemeClr val="tx2">
                            <a:lumMod val="20000"/>
                            <a:lumOff val="80000"/>
                          </a:schemeClr>
                        </a:solidFill>
                      </a:tcPr>
                    </a:tc>
                    <a:extLst>
                      <a:ext uri="{0D108BD9-81ED-4DB2-BD59-A6C34878D82A}">
                        <a16:rowId xmlns:a16="http://schemas.microsoft.com/office/drawing/2014/main" val="2655372576"/>
                      </a:ext>
                    </a:extLst>
                  </a:tr>
                  <a:tr h="279253">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Path loss exponent </a:t>
                          </a:r>
                          <a14:m>
                            <m:oMath xmlns:m="http://schemas.openxmlformats.org/officeDocument/2006/math">
                              <m:r>
                                <a:rPr lang="en-US" sz="1200" b="1" i="1" kern="1200" smtClean="0">
                                  <a:solidFill>
                                    <a:schemeClr val="tx1"/>
                                  </a:solidFill>
                                  <a:latin typeface="Cambria Math" panose="02040503050406030204" pitchFamily="18" charset="0"/>
                                  <a:ea typeface="Cambria Math" panose="02040503050406030204" pitchFamily="18" charset="0"/>
                                  <a:cs typeface="+mn-cs"/>
                                </a:rPr>
                                <m:t>𝜶</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4</a:t>
                          </a:r>
                        </a:p>
                      </a:txBody>
                      <a:tcPr marL="68580" marR="68580" marT="0" marB="0" anchor="ctr">
                        <a:solidFill>
                          <a:schemeClr val="tx2">
                            <a:lumMod val="20000"/>
                            <a:lumOff val="80000"/>
                          </a:schemeClr>
                        </a:solidFill>
                      </a:tcPr>
                    </a:tc>
                    <a:extLst>
                      <a:ext uri="{0D108BD9-81ED-4DB2-BD59-A6C34878D82A}">
                        <a16:rowId xmlns:a16="http://schemas.microsoft.com/office/drawing/2014/main" val="1241379255"/>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Noise power </a:t>
                          </a:r>
                          <a14:m>
                            <m:oMath xmlns:m="http://schemas.openxmlformats.org/officeDocument/2006/math">
                              <m:sSup>
                                <m:sSupPr>
                                  <m:ctrlPr>
                                    <a:rPr lang="en-US" sz="1200" b="1" i="1" kern="1200" smtClean="0">
                                      <a:solidFill>
                                        <a:schemeClr val="tx1"/>
                                      </a:solidFill>
                                      <a:latin typeface="Cambria Math" panose="02040503050406030204" pitchFamily="18" charset="0"/>
                                      <a:ea typeface="+mn-ea"/>
                                      <a:cs typeface="+mn-cs"/>
                                    </a:rPr>
                                  </m:ctrlPr>
                                </m:sSupPr>
                                <m:e>
                                  <m:r>
                                    <a:rPr lang="en-US" sz="1200" b="1" i="1" kern="1200" smtClean="0">
                                      <a:solidFill>
                                        <a:schemeClr val="tx1"/>
                                      </a:solidFill>
                                      <a:latin typeface="Cambria Math" panose="02040503050406030204" pitchFamily="18" charset="0"/>
                                      <a:ea typeface="Cambria Math" panose="02040503050406030204" pitchFamily="18" charset="0"/>
                                      <a:cs typeface="+mn-cs"/>
                                    </a:rPr>
                                    <m:t>𝝈</m:t>
                                  </m:r>
                                </m:e>
                                <m:sup>
                                  <m:r>
                                    <a:rPr lang="en-US" sz="1200" b="1" i="1" kern="1200" smtClean="0">
                                      <a:solidFill>
                                        <a:schemeClr val="tx1"/>
                                      </a:solidFill>
                                      <a:latin typeface="Cambria Math" panose="02040503050406030204" pitchFamily="18" charset="0"/>
                                      <a:ea typeface="+mn-ea"/>
                                      <a:cs typeface="+mn-cs"/>
                                    </a:rPr>
                                    <m:t>𝟐</m:t>
                                  </m:r>
                                </m:sup>
                              </m:sSup>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-100 dBm</a:t>
                          </a:r>
                        </a:p>
                      </a:txBody>
                      <a:tcPr marL="68580" marR="68580" marT="0" marB="0" anchor="ctr">
                        <a:solidFill>
                          <a:schemeClr val="tx2">
                            <a:lumMod val="20000"/>
                            <a:lumOff val="80000"/>
                          </a:schemeClr>
                        </a:solidFill>
                      </a:tcPr>
                    </a:tc>
                    <a:extLst>
                      <a:ext uri="{0D108BD9-81ED-4DB2-BD59-A6C34878D82A}">
                        <a16:rowId xmlns:a16="http://schemas.microsoft.com/office/drawing/2014/main" val="3732201554"/>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MT static power </a:t>
                          </a:r>
                          <a14:m>
                            <m:oMath xmlns:m="http://schemas.openxmlformats.org/officeDocument/2006/math">
                              <m:sSubSup>
                                <m:sSubSupPr>
                                  <m:ctrlPr>
                                    <a:rPr lang="en-US" sz="1200" b="1" i="1" kern="1200" smtClean="0">
                                      <a:solidFill>
                                        <a:schemeClr val="tx1"/>
                                      </a:solidFill>
                                      <a:latin typeface="Cambria Math" panose="02040503050406030204" pitchFamily="18" charset="0"/>
                                      <a:ea typeface="+mn-ea"/>
                                      <a:cs typeface="+mn-cs"/>
                                    </a:rPr>
                                  </m:ctrlPr>
                                </m:sSubSupPr>
                                <m:e>
                                  <m:r>
                                    <a:rPr lang="en-US" sz="1200" b="1" i="1" kern="1200" smtClean="0">
                                      <a:solidFill>
                                        <a:schemeClr val="tx1"/>
                                      </a:solidFill>
                                      <a:latin typeface="Cambria Math" panose="02040503050406030204" pitchFamily="18" charset="0"/>
                                      <a:ea typeface="+mn-ea"/>
                                      <a:cs typeface="+mn-cs"/>
                                    </a:rPr>
                                    <m:t>𝒑</m:t>
                                  </m:r>
                                </m:e>
                                <m:sub>
                                  <m:r>
                                    <a:rPr lang="en-US" sz="1200" b="1" i="1" kern="1200" smtClean="0">
                                      <a:solidFill>
                                        <a:schemeClr val="tx1"/>
                                      </a:solidFill>
                                      <a:latin typeface="Cambria Math" panose="02040503050406030204" pitchFamily="18" charset="0"/>
                                      <a:ea typeface="+mn-ea"/>
                                      <a:cs typeface="+mn-cs"/>
                                    </a:rPr>
                                    <m:t>𝒏</m:t>
                                  </m:r>
                                </m:sub>
                                <m:sup>
                                  <m:r>
                                    <a:rPr lang="en-US" sz="1200" b="1" i="1" kern="1200" smtClean="0">
                                      <a:solidFill>
                                        <a:schemeClr val="tx1"/>
                                      </a:solidFill>
                                      <a:latin typeface="Cambria Math" panose="02040503050406030204" pitchFamily="18" charset="0"/>
                                      <a:ea typeface="+mn-ea"/>
                                      <a:cs typeface="+mn-cs"/>
                                    </a:rPr>
                                    <m:t>𝒔𝒕</m:t>
                                  </m:r>
                                </m:sup>
                              </m:sSubSup>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300 </a:t>
                          </a:r>
                          <a:r>
                            <a:rPr lang="en-US" sz="1200" b="1" i="0" kern="1200" dirty="0" err="1">
                              <a:solidFill>
                                <a:schemeClr val="tx1"/>
                              </a:solidFill>
                              <a:latin typeface="Söhne"/>
                              <a:ea typeface="+mn-ea"/>
                              <a:cs typeface="+mn-cs"/>
                            </a:rPr>
                            <a:t>mW</a:t>
                          </a:r>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229767087"/>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ES computation capacity</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5 GHz</a:t>
                          </a:r>
                        </a:p>
                      </a:txBody>
                      <a:tcPr marL="68580" marR="68580" marT="0" marB="0" anchor="ctr">
                        <a:solidFill>
                          <a:schemeClr val="tx2">
                            <a:lumMod val="20000"/>
                            <a:lumOff val="80000"/>
                          </a:schemeClr>
                        </a:solidFill>
                      </a:tcPr>
                    </a:tc>
                    <a:extLst>
                      <a:ext uri="{0D108BD9-81ED-4DB2-BD59-A6C34878D82A}">
                        <a16:rowId xmlns:a16="http://schemas.microsoft.com/office/drawing/2014/main" val="1441187265"/>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Degradation factor </a:t>
                          </a:r>
                          <a:r>
                            <a:rPr lang="el-GR" sz="1800" b="0" i="0" u="none" strike="noStrike" kern="1200" baseline="0" dirty="0">
                              <a:solidFill>
                                <a:schemeClr val="dk1"/>
                              </a:solidFill>
                              <a:latin typeface="+mn-lt"/>
                              <a:ea typeface="+mn-ea"/>
                              <a:cs typeface="+mn-cs"/>
                            </a:rPr>
                            <a:t>ξ</a:t>
                          </a:r>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0.2</a:t>
                          </a:r>
                        </a:p>
                      </a:txBody>
                      <a:tcPr marL="68580" marR="68580" marT="0" marB="0" anchor="ctr">
                        <a:solidFill>
                          <a:schemeClr val="tx2">
                            <a:lumMod val="20000"/>
                            <a:lumOff val="80000"/>
                          </a:schemeClr>
                        </a:solidFill>
                      </a:tcPr>
                    </a:tc>
                    <a:extLst>
                      <a:ext uri="{0D108BD9-81ED-4DB2-BD59-A6C34878D82A}">
                        <a16:rowId xmlns:a16="http://schemas.microsoft.com/office/drawing/2014/main" val="3666013687"/>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Switched capacitance </a:t>
                          </a:r>
                          <a14:m>
                            <m:oMath xmlns:m="http://schemas.openxmlformats.org/officeDocument/2006/math">
                              <m:r>
                                <a:rPr lang="en-US" sz="1200" b="1" i="1" kern="1200" smtClean="0">
                                  <a:solidFill>
                                    <a:schemeClr val="tx1"/>
                                  </a:solidFill>
                                  <a:latin typeface="Cambria Math" panose="02040503050406030204" pitchFamily="18" charset="0"/>
                                  <a:ea typeface="+mn-ea"/>
                                  <a:cs typeface="+mn-cs"/>
                                </a:rPr>
                                <m:t>𝒌</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10e-27</a:t>
                          </a:r>
                        </a:p>
                      </a:txBody>
                      <a:tcPr marL="68580" marR="68580" marT="0" marB="0" anchor="ctr">
                        <a:solidFill>
                          <a:schemeClr val="tx2">
                            <a:lumMod val="20000"/>
                            <a:lumOff val="80000"/>
                          </a:schemeClr>
                        </a:solidFill>
                      </a:tcPr>
                    </a:tc>
                    <a:extLst>
                      <a:ext uri="{0D108BD9-81ED-4DB2-BD59-A6C34878D82A}">
                        <a16:rowId xmlns:a16="http://schemas.microsoft.com/office/drawing/2014/main" val="120541539"/>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Learning rate </a:t>
                          </a:r>
                          <a14:m>
                            <m:oMath xmlns:m="http://schemas.openxmlformats.org/officeDocument/2006/math">
                              <m:r>
                                <a:rPr lang="en-US" sz="1200" b="1" i="1" kern="1200" smtClean="0">
                                  <a:solidFill>
                                    <a:schemeClr val="tx1"/>
                                  </a:solidFill>
                                  <a:latin typeface="Cambria Math" panose="02040503050406030204" pitchFamily="18" charset="0"/>
                                  <a:ea typeface="Cambria Math" panose="02040503050406030204" pitchFamily="18" charset="0"/>
                                  <a:cs typeface="+mn-cs"/>
                                </a:rPr>
                                <m:t>𝜼</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0.0003</a:t>
                          </a:r>
                        </a:p>
                      </a:txBody>
                      <a:tcPr marL="68580" marR="68580" marT="0" marB="0" anchor="ctr">
                        <a:solidFill>
                          <a:schemeClr val="tx2">
                            <a:lumMod val="20000"/>
                            <a:lumOff val="80000"/>
                          </a:schemeClr>
                        </a:solidFill>
                      </a:tcPr>
                    </a:tc>
                    <a:extLst>
                      <a:ext uri="{0D108BD9-81ED-4DB2-BD59-A6C34878D82A}">
                        <a16:rowId xmlns:a16="http://schemas.microsoft.com/office/drawing/2014/main" val="3088808318"/>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Discount factor </a:t>
                          </a:r>
                          <a14:m>
                            <m:oMath xmlns:m="http://schemas.openxmlformats.org/officeDocument/2006/math">
                              <m:r>
                                <a:rPr lang="en-US" sz="1200" b="1" i="1" kern="1200" smtClean="0">
                                  <a:solidFill>
                                    <a:schemeClr val="tx1"/>
                                  </a:solidFill>
                                  <a:latin typeface="Cambria Math" panose="02040503050406030204" pitchFamily="18" charset="0"/>
                                  <a:ea typeface="Cambria Math" panose="02040503050406030204" pitchFamily="18" charset="0"/>
                                  <a:cs typeface="+mn-cs"/>
                                </a:rPr>
                                <m:t>𝜸</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0.93</a:t>
                          </a:r>
                        </a:p>
                      </a:txBody>
                      <a:tcPr marL="68580" marR="68580" marT="0" marB="0" anchor="ctr">
                        <a:solidFill>
                          <a:schemeClr val="tx2">
                            <a:lumMod val="20000"/>
                            <a:lumOff val="80000"/>
                          </a:schemeClr>
                        </a:solidFill>
                      </a:tcPr>
                    </a:tc>
                    <a:extLst>
                      <a:ext uri="{0D108BD9-81ED-4DB2-BD59-A6C34878D82A}">
                        <a16:rowId xmlns:a16="http://schemas.microsoft.com/office/drawing/2014/main" val="1367569680"/>
                      </a:ext>
                    </a:extLst>
                  </a:tr>
                  <a:tr h="277888">
                    <a:tc>
                      <a:txBody>
                        <a:bodyPr/>
                        <a:lstStyle/>
                        <a:p>
                          <a:pPr marL="0" indent="144145" algn="ctr" defTabSz="914400" rtl="0" eaLnBrk="1" latinLnBrk="0" hangingPunct="1">
                            <a:lnSpc>
                              <a:spcPts val="1200"/>
                            </a:lnSpc>
                            <a:buNone/>
                          </a:pPr>
                          <a14:m>
                            <m:oMath xmlns:m="http://schemas.openxmlformats.org/officeDocument/2006/math">
                              <m:r>
                                <a:rPr lang="en-US" sz="1200" b="1" i="1" kern="1200" smtClean="0">
                                  <a:solidFill>
                                    <a:schemeClr val="tx1"/>
                                  </a:solidFill>
                                  <a:latin typeface="Cambria Math" panose="02040503050406030204" pitchFamily="18" charset="0"/>
                                  <a:ea typeface="Cambria Math" panose="02040503050406030204" pitchFamily="18" charset="0"/>
                                  <a:cs typeface="+mn-cs"/>
                                </a:rPr>
                                <m:t>𝝐</m:t>
                              </m:r>
                              <m:r>
                                <a:rPr lang="en-US" sz="1200" b="1" i="1" kern="1200" smtClean="0">
                                  <a:solidFill>
                                    <a:schemeClr val="tx1"/>
                                  </a:solidFill>
                                  <a:latin typeface="Cambria Math" panose="02040503050406030204" pitchFamily="18" charset="0"/>
                                  <a:ea typeface="Cambria Math" panose="02040503050406030204" pitchFamily="18" charset="0"/>
                                  <a:cs typeface="+mn-cs"/>
                                </a:rPr>
                                <m:t> </m:t>
                              </m:r>
                            </m:oMath>
                          </a14:m>
                          <a:r>
                            <a:rPr lang="en-US" sz="1200" b="1" i="0" kern="1200" dirty="0">
                              <a:solidFill>
                                <a:schemeClr val="tx1"/>
                              </a:solidFill>
                              <a:latin typeface="Söhne"/>
                              <a:ea typeface="+mn-ea"/>
                              <a:cs typeface="+mn-cs"/>
                            </a:rPr>
                            <a:t>decay rate</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4e-4</a:t>
                          </a:r>
                        </a:p>
                      </a:txBody>
                      <a:tcPr marL="68580" marR="68580" marT="0" marB="0" anchor="ctr">
                        <a:solidFill>
                          <a:schemeClr val="tx2">
                            <a:lumMod val="20000"/>
                            <a:lumOff val="80000"/>
                          </a:schemeClr>
                        </a:solidFill>
                      </a:tcPr>
                    </a:tc>
                    <a:extLst>
                      <a:ext uri="{0D108BD9-81ED-4DB2-BD59-A6C34878D82A}">
                        <a16:rowId xmlns:a16="http://schemas.microsoft.com/office/drawing/2014/main" val="1493132863"/>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Minimum </a:t>
                          </a:r>
                          <a14:m>
                            <m:oMath xmlns:m="http://schemas.openxmlformats.org/officeDocument/2006/math">
                              <m:r>
                                <a:rPr lang="en-US" sz="1200" b="1" i="1" kern="1200" smtClean="0">
                                  <a:solidFill>
                                    <a:schemeClr val="tx1"/>
                                  </a:solidFill>
                                  <a:latin typeface="Cambria Math" panose="02040503050406030204" pitchFamily="18" charset="0"/>
                                  <a:ea typeface="Cambria Math" panose="02040503050406030204" pitchFamily="18" charset="0"/>
                                  <a:cs typeface="+mn-cs"/>
                                </a:rPr>
                                <m:t>𝝐</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0.01</a:t>
                          </a:r>
                        </a:p>
                      </a:txBody>
                      <a:tcPr marL="68580" marR="68580" marT="0" marB="0" anchor="ctr">
                        <a:solidFill>
                          <a:schemeClr val="tx2">
                            <a:lumMod val="20000"/>
                            <a:lumOff val="80000"/>
                          </a:schemeClr>
                        </a:solidFill>
                      </a:tcPr>
                    </a:tc>
                    <a:extLst>
                      <a:ext uri="{0D108BD9-81ED-4DB2-BD59-A6C34878D82A}">
                        <a16:rowId xmlns:a16="http://schemas.microsoft.com/office/drawing/2014/main" val="3582872005"/>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Experience pool </a:t>
                          </a:r>
                          <a14:m>
                            <m:oMath xmlns:m="http://schemas.openxmlformats.org/officeDocument/2006/math">
                              <m:r>
                                <a:rPr lang="en-US" sz="1200" b="1" i="1" kern="1200" smtClean="0">
                                  <a:solidFill>
                                    <a:schemeClr val="tx1"/>
                                  </a:solidFill>
                                  <a:latin typeface="Cambria Math" panose="02040503050406030204" pitchFamily="18" charset="0"/>
                                  <a:ea typeface="Cambria Math" panose="02040503050406030204" pitchFamily="18" charset="0"/>
                                  <a:cs typeface="+mn-cs"/>
                                </a:rPr>
                                <m:t>𝓓</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1e6</a:t>
                          </a:r>
                        </a:p>
                      </a:txBody>
                      <a:tcPr marL="68580" marR="68580" marT="0" marB="0" anchor="ctr">
                        <a:solidFill>
                          <a:schemeClr val="tx2">
                            <a:lumMod val="20000"/>
                            <a:lumOff val="80000"/>
                          </a:schemeClr>
                        </a:solidFill>
                      </a:tcPr>
                    </a:tc>
                    <a:extLst>
                      <a:ext uri="{0D108BD9-81ED-4DB2-BD59-A6C34878D82A}">
                        <a16:rowId xmlns:a16="http://schemas.microsoft.com/office/drawing/2014/main" val="4143787697"/>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Batch size </a:t>
                          </a:r>
                          <a14:m>
                            <m:oMath xmlns:m="http://schemas.openxmlformats.org/officeDocument/2006/math">
                              <m:r>
                                <a:rPr lang="en-US" sz="1200" b="1" i="1" kern="1200" smtClean="0">
                                  <a:solidFill>
                                    <a:schemeClr val="tx1"/>
                                  </a:solidFill>
                                  <a:latin typeface="Cambria Math" panose="02040503050406030204" pitchFamily="18" charset="0"/>
                                  <a:ea typeface="+mn-ea"/>
                                  <a:cs typeface="+mn-cs"/>
                                </a:rPr>
                                <m:t>|</m:t>
                              </m:r>
                              <m:r>
                                <a:rPr lang="en-US" sz="1200" b="1" i="1" kern="1200" smtClean="0">
                                  <a:solidFill>
                                    <a:schemeClr val="tx1"/>
                                  </a:solidFill>
                                  <a:latin typeface="Cambria Math" panose="02040503050406030204" pitchFamily="18" charset="0"/>
                                  <a:ea typeface="Cambria Math" panose="02040503050406030204" pitchFamily="18" charset="0"/>
                                  <a:cs typeface="+mn-cs"/>
                                </a:rPr>
                                <m:t>𝓑</m:t>
                              </m:r>
                              <m:r>
                                <a:rPr lang="en-US" sz="1200" b="1" i="1" kern="1200" smtClean="0">
                                  <a:solidFill>
                                    <a:schemeClr val="tx1"/>
                                  </a:solidFill>
                                  <a:latin typeface="Cambria Math" panose="02040503050406030204" pitchFamily="18" charset="0"/>
                                  <a:ea typeface="+mn-ea"/>
                                  <a:cs typeface="+mn-cs"/>
                                </a:rPr>
                                <m:t>|</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128</a:t>
                          </a:r>
                        </a:p>
                      </a:txBody>
                      <a:tcPr marL="68580" marR="68580" marT="0" marB="0" anchor="ctr">
                        <a:solidFill>
                          <a:schemeClr val="tx2">
                            <a:lumMod val="20000"/>
                            <a:lumOff val="80000"/>
                          </a:schemeClr>
                        </a:solidFill>
                      </a:tcPr>
                    </a:tc>
                    <a:extLst>
                      <a:ext uri="{0D108BD9-81ED-4DB2-BD59-A6C34878D82A}">
                        <a16:rowId xmlns:a16="http://schemas.microsoft.com/office/drawing/2014/main" val="1391111776"/>
                      </a:ext>
                    </a:extLst>
                  </a:tr>
                  <a:tr h="277888">
                    <a:tc>
                      <a:txBody>
                        <a:bodyPr/>
                        <a:lstStyle/>
                        <a:p>
                          <a:pPr marL="0" marR="0" lvl="0" indent="144145" algn="ctr" defTabSz="914400" rtl="0" eaLnBrk="1" fontAlgn="auto" latinLnBrk="0" hangingPunct="1">
                            <a:lnSpc>
                              <a:spcPts val="1200"/>
                            </a:lnSpc>
                            <a:spcBef>
                              <a:spcPts val="0"/>
                            </a:spcBef>
                            <a:spcAft>
                              <a:spcPts val="0"/>
                            </a:spcAft>
                            <a:buClrTx/>
                            <a:buSzTx/>
                            <a:buFontTx/>
                            <a:buNone/>
                            <a:tabLst/>
                            <a:defRPr/>
                          </a:pPr>
                          <a:r>
                            <a:rPr lang="en-US" sz="1200" b="1" i="0" kern="1200" dirty="0">
                              <a:solidFill>
                                <a:schemeClr val="tx1"/>
                              </a:solidFill>
                              <a:latin typeface="Söhne"/>
                              <a:ea typeface="+mn-ea"/>
                              <a:cs typeface="+mn-cs"/>
                            </a:rPr>
                            <a:t>TargetNet update frequency </a:t>
                          </a:r>
                          <a14:m>
                            <m:oMath xmlns:m="http://schemas.openxmlformats.org/officeDocument/2006/math">
                              <m:r>
                                <a:rPr lang="en-US" sz="1200" b="1" i="1" kern="1200" smtClean="0">
                                  <a:solidFill>
                                    <a:schemeClr val="tx1"/>
                                  </a:solidFill>
                                  <a:latin typeface="Cambria Math" panose="02040503050406030204" pitchFamily="18" charset="0"/>
                                  <a:ea typeface="+mn-ea"/>
                                  <a:cs typeface="+mn-cs"/>
                                </a:rPr>
                                <m:t>𝑪</m:t>
                              </m:r>
                            </m:oMath>
                          </a14:m>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100</a:t>
                          </a:r>
                        </a:p>
                      </a:txBody>
                      <a:tcPr marL="68580" marR="68580" marT="0" marB="0" anchor="ctr">
                        <a:solidFill>
                          <a:schemeClr val="tx2">
                            <a:lumMod val="20000"/>
                            <a:lumOff val="80000"/>
                          </a:schemeClr>
                        </a:solidFill>
                      </a:tcPr>
                    </a:tc>
                    <a:extLst>
                      <a:ext uri="{0D108BD9-81ED-4DB2-BD59-A6C34878D82A}">
                        <a16:rowId xmlns:a16="http://schemas.microsoft.com/office/drawing/2014/main" val="1484348625"/>
                      </a:ext>
                    </a:extLst>
                  </a:tr>
                </a:tbl>
              </a:graphicData>
            </a:graphic>
          </p:graphicFrame>
        </mc:Choice>
        <mc:Fallback xmlns="">
          <p:graphicFrame>
            <p:nvGraphicFramePr>
              <p:cNvPr id="40" name="Table 39">
                <a:extLst>
                  <a:ext uri="{FF2B5EF4-FFF2-40B4-BE49-F238E27FC236}">
                    <a16:creationId xmlns:a16="http://schemas.microsoft.com/office/drawing/2014/main" id="{CFE4D5EE-2489-4AD8-D756-952D2D5F0C90}"/>
                  </a:ext>
                </a:extLst>
              </p:cNvPr>
              <p:cNvGraphicFramePr>
                <a:graphicFrameLocks noGrp="1"/>
              </p:cNvGraphicFramePr>
              <p:nvPr>
                <p:extLst>
                  <p:ext uri="{D42A27DB-BD31-4B8C-83A1-F6EECF244321}">
                    <p14:modId xmlns:p14="http://schemas.microsoft.com/office/powerpoint/2010/main" val="2970989931"/>
                  </p:ext>
                </p:extLst>
              </p:nvPr>
            </p:nvGraphicFramePr>
            <p:xfrm>
              <a:off x="6032585" y="1546501"/>
              <a:ext cx="4996776" cy="4311991"/>
            </p:xfrm>
            <a:graphic>
              <a:graphicData uri="http://schemas.openxmlformats.org/drawingml/2006/table">
                <a:tbl>
                  <a:tblPr firstRow="1" bandRow="1">
                    <a:tableStyleId>{5C22544A-7EE6-4342-B048-85BDC9FD1C3A}</a:tableStyleId>
                  </a:tblPr>
                  <a:tblGrid>
                    <a:gridCol w="2498388">
                      <a:extLst>
                        <a:ext uri="{9D8B030D-6E8A-4147-A177-3AD203B41FA5}">
                          <a16:colId xmlns:a16="http://schemas.microsoft.com/office/drawing/2014/main" val="81787477"/>
                        </a:ext>
                      </a:extLst>
                    </a:gridCol>
                    <a:gridCol w="2498388">
                      <a:extLst>
                        <a:ext uri="{9D8B030D-6E8A-4147-A177-3AD203B41FA5}">
                          <a16:colId xmlns:a16="http://schemas.microsoft.com/office/drawing/2014/main" val="3794534306"/>
                        </a:ext>
                      </a:extLst>
                    </a:gridCol>
                  </a:tblGrid>
                  <a:tr h="418829">
                    <a:tc>
                      <a:txBody>
                        <a:bodyPr/>
                        <a:lstStyle/>
                        <a:p>
                          <a:pPr marL="0" indent="144145" algn="ctr" defTabSz="914400" rtl="0" eaLnBrk="1" latinLnBrk="0" hangingPunct="1">
                            <a:lnSpc>
                              <a:spcPts val="1200"/>
                            </a:lnSpc>
                            <a:buNone/>
                          </a:pPr>
                          <a:r>
                            <a:rPr lang="en-US" sz="1200" b="1" i="0" kern="1200" dirty="0">
                              <a:solidFill>
                                <a:schemeClr val="bg1"/>
                              </a:solidFill>
                              <a:latin typeface="Söhne"/>
                              <a:ea typeface="+mn-ea"/>
                              <a:cs typeface="+mn-cs"/>
                            </a:rPr>
                            <a:t>Parameters</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tc>
                      <a:txBody>
                        <a:bodyPr/>
                        <a:lstStyle/>
                        <a:p>
                          <a:pPr marL="0" indent="144145" algn="ctr" defTabSz="914400" rtl="0" eaLnBrk="1" latinLnBrk="0" hangingPunct="1">
                            <a:lnSpc>
                              <a:spcPts val="1200"/>
                            </a:lnSpc>
                            <a:buNone/>
                          </a:pPr>
                          <a:r>
                            <a:rPr lang="en-US" sz="1200" b="1" i="0" kern="1200" dirty="0">
                              <a:solidFill>
                                <a:schemeClr val="bg1"/>
                              </a:solidFill>
                              <a:latin typeface="Söhne"/>
                              <a:ea typeface="+mn-ea"/>
                              <a:cs typeface="+mn-cs"/>
                            </a:rPr>
                            <a:t>Value</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extLst>
                      <a:ext uri="{0D108BD9-81ED-4DB2-BD59-A6C34878D82A}">
                        <a16:rowId xmlns:a16="http://schemas.microsoft.com/office/drawing/2014/main" val="2179048212"/>
                      </a:ext>
                    </a:extLst>
                  </a:tr>
                  <a:tr h="279253">
                    <a:tc>
                      <a:txBody>
                        <a:bodyPr/>
                        <a:lstStyle/>
                        <a:p>
                          <a:endParaRPr lang="en-US"/>
                        </a:p>
                      </a:txBody>
                      <a:tcPr marL="68580" marR="68580" marT="0" marB="0" anchor="ctr">
                        <a:blipFill>
                          <a:blip r:embed="rId4"/>
                          <a:stretch>
                            <a:fillRect l="-243" t="-152174" r="-100730" b="-1302174"/>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50 MHz</a:t>
                          </a:r>
                        </a:p>
                      </a:txBody>
                      <a:tcPr marL="68580" marR="68580" marT="0" marB="0" anchor="ctr">
                        <a:solidFill>
                          <a:schemeClr val="tx2">
                            <a:lumMod val="20000"/>
                            <a:lumOff val="80000"/>
                          </a:schemeClr>
                        </a:solidFill>
                      </a:tcPr>
                    </a:tc>
                    <a:extLst>
                      <a:ext uri="{0D108BD9-81ED-4DB2-BD59-A6C34878D82A}">
                        <a16:rowId xmlns:a16="http://schemas.microsoft.com/office/drawing/2014/main" val="2655372576"/>
                      </a:ext>
                    </a:extLst>
                  </a:tr>
                  <a:tr h="279253">
                    <a:tc>
                      <a:txBody>
                        <a:bodyPr/>
                        <a:lstStyle/>
                        <a:p>
                          <a:endParaRPr lang="en-US"/>
                        </a:p>
                      </a:txBody>
                      <a:tcPr marL="68580" marR="68580" marT="0" marB="0" anchor="ctr">
                        <a:blipFill>
                          <a:blip r:embed="rId4"/>
                          <a:stretch>
                            <a:fillRect l="-243" t="-252174" r="-100730" b="-1202174"/>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4</a:t>
                          </a:r>
                        </a:p>
                      </a:txBody>
                      <a:tcPr marL="68580" marR="68580" marT="0" marB="0" anchor="ctr">
                        <a:solidFill>
                          <a:schemeClr val="tx2">
                            <a:lumMod val="20000"/>
                            <a:lumOff val="80000"/>
                          </a:schemeClr>
                        </a:solidFill>
                      </a:tcPr>
                    </a:tc>
                    <a:extLst>
                      <a:ext uri="{0D108BD9-81ED-4DB2-BD59-A6C34878D82A}">
                        <a16:rowId xmlns:a16="http://schemas.microsoft.com/office/drawing/2014/main" val="1241379255"/>
                      </a:ext>
                    </a:extLst>
                  </a:tr>
                  <a:tr h="277888">
                    <a:tc>
                      <a:txBody>
                        <a:bodyPr/>
                        <a:lstStyle/>
                        <a:p>
                          <a:endParaRPr lang="en-US"/>
                        </a:p>
                      </a:txBody>
                      <a:tcPr marL="68580" marR="68580" marT="0" marB="0" anchor="ctr">
                        <a:blipFill>
                          <a:blip r:embed="rId4"/>
                          <a:stretch>
                            <a:fillRect l="-243" t="-360000" r="-100730" b="-1128889"/>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-100 dBm</a:t>
                          </a:r>
                        </a:p>
                      </a:txBody>
                      <a:tcPr marL="68580" marR="68580" marT="0" marB="0" anchor="ctr">
                        <a:solidFill>
                          <a:schemeClr val="tx2">
                            <a:lumMod val="20000"/>
                            <a:lumOff val="80000"/>
                          </a:schemeClr>
                        </a:solidFill>
                      </a:tcPr>
                    </a:tc>
                    <a:extLst>
                      <a:ext uri="{0D108BD9-81ED-4DB2-BD59-A6C34878D82A}">
                        <a16:rowId xmlns:a16="http://schemas.microsoft.com/office/drawing/2014/main" val="3732201554"/>
                      </a:ext>
                    </a:extLst>
                  </a:tr>
                  <a:tr h="277888">
                    <a:tc>
                      <a:txBody>
                        <a:bodyPr/>
                        <a:lstStyle/>
                        <a:p>
                          <a:endParaRPr lang="en-US"/>
                        </a:p>
                      </a:txBody>
                      <a:tcPr marL="68580" marR="68580" marT="0" marB="0" anchor="ctr">
                        <a:blipFill>
                          <a:blip r:embed="rId4"/>
                          <a:stretch>
                            <a:fillRect l="-243" t="-450000" r="-100730" b="-1004348"/>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300 </a:t>
                          </a:r>
                          <a:r>
                            <a:rPr lang="en-US" sz="1200" b="1" i="0" kern="1200" dirty="0" err="1">
                              <a:solidFill>
                                <a:schemeClr val="tx1"/>
                              </a:solidFill>
                              <a:latin typeface="Söhne"/>
                              <a:ea typeface="+mn-ea"/>
                              <a:cs typeface="+mn-cs"/>
                            </a:rPr>
                            <a:t>mW</a:t>
                          </a:r>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1229767087"/>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ES computation capacity</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5 GHz</a:t>
                          </a:r>
                        </a:p>
                      </a:txBody>
                      <a:tcPr marL="68580" marR="68580" marT="0" marB="0" anchor="ctr">
                        <a:solidFill>
                          <a:schemeClr val="tx2">
                            <a:lumMod val="20000"/>
                            <a:lumOff val="80000"/>
                          </a:schemeClr>
                        </a:solidFill>
                      </a:tcPr>
                    </a:tc>
                    <a:extLst>
                      <a:ext uri="{0D108BD9-81ED-4DB2-BD59-A6C34878D82A}">
                        <a16:rowId xmlns:a16="http://schemas.microsoft.com/office/drawing/2014/main" val="1441187265"/>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Degradation factor </a:t>
                          </a:r>
                          <a:r>
                            <a:rPr lang="el-GR" sz="1800" b="0" i="0" u="none" strike="noStrike" kern="1200" baseline="0" dirty="0">
                              <a:solidFill>
                                <a:schemeClr val="dk1"/>
                              </a:solidFill>
                              <a:latin typeface="+mn-lt"/>
                              <a:ea typeface="+mn-ea"/>
                              <a:cs typeface="+mn-cs"/>
                            </a:rPr>
                            <a:t>ξ</a:t>
                          </a:r>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0.2</a:t>
                          </a:r>
                        </a:p>
                      </a:txBody>
                      <a:tcPr marL="68580" marR="68580" marT="0" marB="0" anchor="ctr">
                        <a:solidFill>
                          <a:schemeClr val="tx2">
                            <a:lumMod val="20000"/>
                            <a:lumOff val="80000"/>
                          </a:schemeClr>
                        </a:solidFill>
                      </a:tcPr>
                    </a:tc>
                    <a:extLst>
                      <a:ext uri="{0D108BD9-81ED-4DB2-BD59-A6C34878D82A}">
                        <a16:rowId xmlns:a16="http://schemas.microsoft.com/office/drawing/2014/main" val="3666013687"/>
                      </a:ext>
                    </a:extLst>
                  </a:tr>
                  <a:tr h="277888">
                    <a:tc>
                      <a:txBody>
                        <a:bodyPr/>
                        <a:lstStyle/>
                        <a:p>
                          <a:endParaRPr lang="en-US"/>
                        </a:p>
                      </a:txBody>
                      <a:tcPr marL="68580" marR="68580" marT="0" marB="0" anchor="ctr">
                        <a:blipFill>
                          <a:blip r:embed="rId4"/>
                          <a:stretch>
                            <a:fillRect l="-243" t="-747826" r="-100730" b="-706522"/>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10e-27</a:t>
                          </a:r>
                        </a:p>
                      </a:txBody>
                      <a:tcPr marL="68580" marR="68580" marT="0" marB="0" anchor="ctr">
                        <a:solidFill>
                          <a:schemeClr val="tx2">
                            <a:lumMod val="20000"/>
                            <a:lumOff val="80000"/>
                          </a:schemeClr>
                        </a:solidFill>
                      </a:tcPr>
                    </a:tc>
                    <a:extLst>
                      <a:ext uri="{0D108BD9-81ED-4DB2-BD59-A6C34878D82A}">
                        <a16:rowId xmlns:a16="http://schemas.microsoft.com/office/drawing/2014/main" val="120541539"/>
                      </a:ext>
                    </a:extLst>
                  </a:tr>
                  <a:tr h="277888">
                    <a:tc>
                      <a:txBody>
                        <a:bodyPr/>
                        <a:lstStyle/>
                        <a:p>
                          <a:endParaRPr lang="en-US"/>
                        </a:p>
                      </a:txBody>
                      <a:tcPr marL="68580" marR="68580" marT="0" marB="0" anchor="ctr">
                        <a:blipFill>
                          <a:blip r:embed="rId4"/>
                          <a:stretch>
                            <a:fillRect l="-243" t="-847826" r="-100730" b="-606522"/>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0.0003</a:t>
                          </a:r>
                        </a:p>
                      </a:txBody>
                      <a:tcPr marL="68580" marR="68580" marT="0" marB="0" anchor="ctr">
                        <a:solidFill>
                          <a:schemeClr val="tx2">
                            <a:lumMod val="20000"/>
                            <a:lumOff val="80000"/>
                          </a:schemeClr>
                        </a:solidFill>
                      </a:tcPr>
                    </a:tc>
                    <a:extLst>
                      <a:ext uri="{0D108BD9-81ED-4DB2-BD59-A6C34878D82A}">
                        <a16:rowId xmlns:a16="http://schemas.microsoft.com/office/drawing/2014/main" val="3088808318"/>
                      </a:ext>
                    </a:extLst>
                  </a:tr>
                  <a:tr h="277888">
                    <a:tc>
                      <a:txBody>
                        <a:bodyPr/>
                        <a:lstStyle/>
                        <a:p>
                          <a:endParaRPr lang="en-US"/>
                        </a:p>
                      </a:txBody>
                      <a:tcPr marL="68580" marR="68580" marT="0" marB="0" anchor="ctr">
                        <a:blipFill>
                          <a:blip r:embed="rId4"/>
                          <a:stretch>
                            <a:fillRect l="-243" t="-947826" r="-100730" b="-506522"/>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0.93</a:t>
                          </a:r>
                        </a:p>
                      </a:txBody>
                      <a:tcPr marL="68580" marR="68580" marT="0" marB="0" anchor="ctr">
                        <a:solidFill>
                          <a:schemeClr val="tx2">
                            <a:lumMod val="20000"/>
                            <a:lumOff val="80000"/>
                          </a:schemeClr>
                        </a:solidFill>
                      </a:tcPr>
                    </a:tc>
                    <a:extLst>
                      <a:ext uri="{0D108BD9-81ED-4DB2-BD59-A6C34878D82A}">
                        <a16:rowId xmlns:a16="http://schemas.microsoft.com/office/drawing/2014/main" val="1367569680"/>
                      </a:ext>
                    </a:extLst>
                  </a:tr>
                  <a:tr h="277888">
                    <a:tc>
                      <a:txBody>
                        <a:bodyPr/>
                        <a:lstStyle/>
                        <a:p>
                          <a:endParaRPr lang="en-US"/>
                        </a:p>
                      </a:txBody>
                      <a:tcPr marL="68580" marR="68580" marT="0" marB="0" anchor="ctr">
                        <a:blipFill>
                          <a:blip r:embed="rId4"/>
                          <a:stretch>
                            <a:fillRect l="-243" t="-1071111" r="-100730" b="-417778"/>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4e-4</a:t>
                          </a:r>
                        </a:p>
                      </a:txBody>
                      <a:tcPr marL="68580" marR="68580" marT="0" marB="0" anchor="ctr">
                        <a:solidFill>
                          <a:schemeClr val="tx2">
                            <a:lumMod val="20000"/>
                            <a:lumOff val="80000"/>
                          </a:schemeClr>
                        </a:solidFill>
                      </a:tcPr>
                    </a:tc>
                    <a:extLst>
                      <a:ext uri="{0D108BD9-81ED-4DB2-BD59-A6C34878D82A}">
                        <a16:rowId xmlns:a16="http://schemas.microsoft.com/office/drawing/2014/main" val="1493132863"/>
                      </a:ext>
                    </a:extLst>
                  </a:tr>
                  <a:tr h="277888">
                    <a:tc>
                      <a:txBody>
                        <a:bodyPr/>
                        <a:lstStyle/>
                        <a:p>
                          <a:endParaRPr lang="en-US"/>
                        </a:p>
                      </a:txBody>
                      <a:tcPr marL="68580" marR="68580" marT="0" marB="0" anchor="ctr">
                        <a:blipFill>
                          <a:blip r:embed="rId4"/>
                          <a:stretch>
                            <a:fillRect l="-243" t="-1145652" r="-100730" b="-308696"/>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0.01</a:t>
                          </a:r>
                        </a:p>
                      </a:txBody>
                      <a:tcPr marL="68580" marR="68580" marT="0" marB="0" anchor="ctr">
                        <a:solidFill>
                          <a:schemeClr val="tx2">
                            <a:lumMod val="20000"/>
                            <a:lumOff val="80000"/>
                          </a:schemeClr>
                        </a:solidFill>
                      </a:tcPr>
                    </a:tc>
                    <a:extLst>
                      <a:ext uri="{0D108BD9-81ED-4DB2-BD59-A6C34878D82A}">
                        <a16:rowId xmlns:a16="http://schemas.microsoft.com/office/drawing/2014/main" val="3582872005"/>
                      </a:ext>
                    </a:extLst>
                  </a:tr>
                  <a:tr h="277888">
                    <a:tc>
                      <a:txBody>
                        <a:bodyPr/>
                        <a:lstStyle/>
                        <a:p>
                          <a:endParaRPr lang="en-US"/>
                        </a:p>
                      </a:txBody>
                      <a:tcPr marL="68580" marR="68580" marT="0" marB="0" anchor="ctr">
                        <a:blipFill>
                          <a:blip r:embed="rId4"/>
                          <a:stretch>
                            <a:fillRect l="-243" t="-1245652" r="-100730" b="-208696"/>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1e6</a:t>
                          </a:r>
                        </a:p>
                      </a:txBody>
                      <a:tcPr marL="68580" marR="68580" marT="0" marB="0" anchor="ctr">
                        <a:solidFill>
                          <a:schemeClr val="tx2">
                            <a:lumMod val="20000"/>
                            <a:lumOff val="80000"/>
                          </a:schemeClr>
                        </a:solidFill>
                      </a:tcPr>
                    </a:tc>
                    <a:extLst>
                      <a:ext uri="{0D108BD9-81ED-4DB2-BD59-A6C34878D82A}">
                        <a16:rowId xmlns:a16="http://schemas.microsoft.com/office/drawing/2014/main" val="4143787697"/>
                      </a:ext>
                    </a:extLst>
                  </a:tr>
                  <a:tr h="277888">
                    <a:tc>
                      <a:txBody>
                        <a:bodyPr/>
                        <a:lstStyle/>
                        <a:p>
                          <a:endParaRPr lang="en-US"/>
                        </a:p>
                      </a:txBody>
                      <a:tcPr marL="68580" marR="68580" marT="0" marB="0" anchor="ctr">
                        <a:blipFill>
                          <a:blip r:embed="rId4"/>
                          <a:stretch>
                            <a:fillRect l="-243" t="-1375556" r="-100730" b="-113333"/>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128</a:t>
                          </a:r>
                        </a:p>
                      </a:txBody>
                      <a:tcPr marL="68580" marR="68580" marT="0" marB="0" anchor="ctr">
                        <a:solidFill>
                          <a:schemeClr val="tx2">
                            <a:lumMod val="20000"/>
                            <a:lumOff val="80000"/>
                          </a:schemeClr>
                        </a:solidFill>
                      </a:tcPr>
                    </a:tc>
                    <a:extLst>
                      <a:ext uri="{0D108BD9-81ED-4DB2-BD59-A6C34878D82A}">
                        <a16:rowId xmlns:a16="http://schemas.microsoft.com/office/drawing/2014/main" val="1391111776"/>
                      </a:ext>
                    </a:extLst>
                  </a:tr>
                  <a:tr h="277888">
                    <a:tc>
                      <a:txBody>
                        <a:bodyPr/>
                        <a:lstStyle/>
                        <a:p>
                          <a:endParaRPr lang="en-US"/>
                        </a:p>
                      </a:txBody>
                      <a:tcPr marL="68580" marR="68580" marT="0" marB="0" anchor="ctr">
                        <a:blipFill>
                          <a:blip r:embed="rId4"/>
                          <a:stretch>
                            <a:fillRect l="-243" t="-1443478" r="-100730" b="-10870"/>
                          </a:stretch>
                        </a:blip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100</a:t>
                          </a:r>
                        </a:p>
                      </a:txBody>
                      <a:tcPr marL="68580" marR="68580" marT="0" marB="0" anchor="ctr">
                        <a:solidFill>
                          <a:schemeClr val="tx2">
                            <a:lumMod val="20000"/>
                            <a:lumOff val="80000"/>
                          </a:schemeClr>
                        </a:solidFill>
                      </a:tcPr>
                    </a:tc>
                    <a:extLst>
                      <a:ext uri="{0D108BD9-81ED-4DB2-BD59-A6C34878D82A}">
                        <a16:rowId xmlns:a16="http://schemas.microsoft.com/office/drawing/2014/main" val="1484348625"/>
                      </a:ext>
                    </a:extLst>
                  </a:tr>
                </a:tbl>
              </a:graphicData>
            </a:graphic>
          </p:graphicFrame>
        </mc:Fallback>
      </mc:AlternateContent>
      <p:sp>
        <p:nvSpPr>
          <p:cNvPr id="3" name="Decagon 2">
            <a:extLst>
              <a:ext uri="{FF2B5EF4-FFF2-40B4-BE49-F238E27FC236}">
                <a16:creationId xmlns:a16="http://schemas.microsoft.com/office/drawing/2014/main" id="{D36B20CF-F600-5BF3-20F7-A8CA0CE180D6}"/>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14</a:t>
            </a:r>
            <a:endParaRPr lang="en-US" b="1" dirty="0">
              <a:latin typeface="Söhne"/>
              <a:cs typeface="Times New Roman" panose="02020603050405020304" pitchFamily="18" charset="0"/>
            </a:endParaRPr>
          </a:p>
        </p:txBody>
      </p:sp>
      <p:sp>
        <p:nvSpPr>
          <p:cNvPr id="4" name="TextBox 3">
            <a:extLst>
              <a:ext uri="{FF2B5EF4-FFF2-40B4-BE49-F238E27FC236}">
                <a16:creationId xmlns:a16="http://schemas.microsoft.com/office/drawing/2014/main" id="{82AB63B2-B889-DB7A-45B0-45FD72E0EC05}"/>
              </a:ext>
            </a:extLst>
          </p:cNvPr>
          <p:cNvSpPr txBox="1"/>
          <p:nvPr/>
        </p:nvSpPr>
        <p:spPr>
          <a:xfrm>
            <a:off x="435005" y="1106436"/>
            <a:ext cx="4996776" cy="1156727"/>
          </a:xfrm>
          <a:prstGeom prst="rect">
            <a:avLst/>
          </a:prstGeom>
          <a:noFill/>
          <a:ln w="19050">
            <a:solidFill>
              <a:srgbClr val="1C3ECE"/>
            </a:solidFill>
            <a:prstDash val="lgDashDot"/>
          </a:ln>
        </p:spPr>
        <p:txBody>
          <a:bodyPr wrap="square">
            <a:spAutoFit/>
          </a:bodyPr>
          <a:lstStyle/>
          <a:p>
            <a:pPr algn="l">
              <a:spcAft>
                <a:spcPts val="1125"/>
              </a:spcAft>
              <a:buNone/>
            </a:pPr>
            <a:r>
              <a:rPr lang="en-US" sz="1200" b="1" i="0" dirty="0">
                <a:solidFill>
                  <a:srgbClr val="0D47A1"/>
                </a:solidFill>
                <a:effectLst/>
                <a:latin typeface="Söhne"/>
              </a:rPr>
              <a:t>Network Configuration</a:t>
            </a:r>
          </a:p>
          <a:p>
            <a:pPr marL="285750" indent="-285750" algn="l">
              <a:buFont typeface="Arial" panose="020B0604020202020204" pitchFamily="34" charset="0"/>
              <a:buChar char="•"/>
            </a:pPr>
            <a:r>
              <a:rPr lang="en-US" sz="1200" b="1" i="0" dirty="0">
                <a:solidFill>
                  <a:srgbClr val="333333"/>
                </a:solidFill>
                <a:effectLst/>
                <a:latin typeface="Söhne"/>
              </a:rPr>
              <a:t>2 Mobile Terminals</a:t>
            </a:r>
            <a:r>
              <a:rPr lang="en-US" sz="1200" b="0" i="0" dirty="0">
                <a:solidFill>
                  <a:srgbClr val="333333"/>
                </a:solidFill>
                <a:effectLst/>
                <a:latin typeface="Söhne"/>
              </a:rPr>
              <a:t> within 500m radius</a:t>
            </a:r>
          </a:p>
          <a:p>
            <a:pPr marL="285750" indent="-285750" algn="l">
              <a:buFont typeface="Arial" panose="020B0604020202020204" pitchFamily="34" charset="0"/>
              <a:buChar char="•"/>
            </a:pPr>
            <a:r>
              <a:rPr lang="en-US" sz="1200" b="1" i="0" dirty="0">
                <a:solidFill>
                  <a:srgbClr val="333333"/>
                </a:solidFill>
                <a:effectLst/>
                <a:latin typeface="Söhne"/>
              </a:rPr>
              <a:t>8 Orthogonal Subchannels</a:t>
            </a:r>
            <a:r>
              <a:rPr lang="en-US" sz="1200" b="0" i="0" dirty="0">
                <a:solidFill>
                  <a:srgbClr val="333333"/>
                </a:solidFill>
                <a:effectLst/>
                <a:latin typeface="Söhne"/>
              </a:rPr>
              <a:t> (50 MHz total)</a:t>
            </a:r>
          </a:p>
          <a:p>
            <a:pPr marL="285750" indent="-285750" algn="l">
              <a:buFont typeface="Arial" panose="020B0604020202020204" pitchFamily="34" charset="0"/>
              <a:buChar char="•"/>
            </a:pPr>
            <a:r>
              <a:rPr lang="en-US" sz="1200" b="1" i="0" dirty="0">
                <a:solidFill>
                  <a:srgbClr val="333333"/>
                </a:solidFill>
                <a:effectLst/>
                <a:latin typeface="Söhne"/>
              </a:rPr>
              <a:t>Edge Server:</a:t>
            </a:r>
            <a:r>
              <a:rPr lang="en-US" sz="1200" b="0" i="0" dirty="0">
                <a:solidFill>
                  <a:srgbClr val="333333"/>
                </a:solidFill>
                <a:effectLst/>
                <a:latin typeface="Söhne"/>
              </a:rPr>
              <a:t> 5 GHz computing capacity</a:t>
            </a:r>
          </a:p>
          <a:p>
            <a:pPr marL="285750" indent="-285750" algn="l">
              <a:buFont typeface="Arial" panose="020B0604020202020204" pitchFamily="34" charset="0"/>
              <a:buChar char="•"/>
            </a:pPr>
            <a:r>
              <a:rPr lang="en-US" sz="1200" b="1" i="0" dirty="0">
                <a:solidFill>
                  <a:srgbClr val="333333"/>
                </a:solidFill>
                <a:effectLst/>
                <a:latin typeface="Söhne"/>
              </a:rPr>
              <a:t>Path loss exponent:</a:t>
            </a:r>
            <a:r>
              <a:rPr lang="en-US" sz="1200" b="0" i="0" dirty="0">
                <a:solidFill>
                  <a:srgbClr val="333333"/>
                </a:solidFill>
                <a:effectLst/>
                <a:latin typeface="Söhne"/>
              </a:rPr>
              <a:t> </a:t>
            </a:r>
            <a:r>
              <a:rPr lang="el-GR" sz="1200" b="0" i="0" dirty="0">
                <a:solidFill>
                  <a:srgbClr val="333333"/>
                </a:solidFill>
                <a:effectLst/>
                <a:latin typeface="Söhne"/>
              </a:rPr>
              <a:t>α = 4</a:t>
            </a:r>
          </a:p>
        </p:txBody>
      </p:sp>
      <p:sp>
        <p:nvSpPr>
          <p:cNvPr id="5" name="TextBox 4">
            <a:extLst>
              <a:ext uri="{FF2B5EF4-FFF2-40B4-BE49-F238E27FC236}">
                <a16:creationId xmlns:a16="http://schemas.microsoft.com/office/drawing/2014/main" id="{A02AFEA3-13DB-FE12-AF2E-403EE2E0B325}"/>
              </a:ext>
            </a:extLst>
          </p:cNvPr>
          <p:cNvSpPr txBox="1"/>
          <p:nvPr/>
        </p:nvSpPr>
        <p:spPr>
          <a:xfrm>
            <a:off x="435005" y="4591994"/>
            <a:ext cx="4996776" cy="1526059"/>
          </a:xfrm>
          <a:prstGeom prst="rect">
            <a:avLst/>
          </a:prstGeom>
          <a:noFill/>
          <a:ln w="19050">
            <a:solidFill>
              <a:srgbClr val="1C3ECE"/>
            </a:solidFill>
            <a:prstDash val="lgDashDot"/>
          </a:ln>
        </p:spPr>
        <p:txBody>
          <a:bodyPr wrap="square">
            <a:spAutoFit/>
          </a:bodyPr>
          <a:lstStyle/>
          <a:p>
            <a:pPr algn="l">
              <a:spcAft>
                <a:spcPts val="1125"/>
              </a:spcAft>
              <a:buNone/>
            </a:pPr>
            <a:r>
              <a:rPr lang="en-US" sz="1200" b="1" i="0" dirty="0">
                <a:solidFill>
                  <a:srgbClr val="1B5E20"/>
                </a:solidFill>
                <a:effectLst/>
                <a:latin typeface="Söhne"/>
              </a:rPr>
              <a:t>DDQN Configuration</a:t>
            </a:r>
          </a:p>
          <a:p>
            <a:pPr marL="285750" indent="-285750" algn="l">
              <a:buFont typeface="Arial" panose="020B0604020202020204" pitchFamily="34" charset="0"/>
              <a:buChar char="•"/>
            </a:pPr>
            <a:r>
              <a:rPr lang="en-US" sz="1200" b="1" i="0" dirty="0">
                <a:solidFill>
                  <a:srgbClr val="333333"/>
                </a:solidFill>
                <a:effectLst/>
                <a:latin typeface="Söhne"/>
              </a:rPr>
              <a:t>Learning rate:</a:t>
            </a:r>
            <a:r>
              <a:rPr lang="en-US" sz="1200" b="0" i="0" dirty="0">
                <a:solidFill>
                  <a:srgbClr val="333333"/>
                </a:solidFill>
                <a:effectLst/>
                <a:latin typeface="Söhne"/>
              </a:rPr>
              <a:t> 0.0003 (Adam optimizer)</a:t>
            </a:r>
          </a:p>
          <a:p>
            <a:pPr marL="285750" indent="-285750" algn="l">
              <a:buFont typeface="Arial" panose="020B0604020202020204" pitchFamily="34" charset="0"/>
              <a:buChar char="•"/>
            </a:pPr>
            <a:r>
              <a:rPr lang="en-US" sz="1200" b="1" i="0" dirty="0">
                <a:solidFill>
                  <a:srgbClr val="333333"/>
                </a:solidFill>
                <a:effectLst/>
                <a:latin typeface="Söhne"/>
              </a:rPr>
              <a:t>Discount factor:</a:t>
            </a:r>
            <a:r>
              <a:rPr lang="en-US" sz="1200" b="0" i="0" dirty="0">
                <a:solidFill>
                  <a:srgbClr val="333333"/>
                </a:solidFill>
                <a:effectLst/>
                <a:latin typeface="Söhne"/>
              </a:rPr>
              <a:t> </a:t>
            </a:r>
            <a:r>
              <a:rPr lang="el-GR" sz="1200" b="0" i="0" dirty="0">
                <a:solidFill>
                  <a:srgbClr val="333333"/>
                </a:solidFill>
                <a:effectLst/>
                <a:latin typeface="Söhne"/>
              </a:rPr>
              <a:t>γ = 0.93</a:t>
            </a:r>
          </a:p>
          <a:p>
            <a:pPr marL="285750" indent="-285750" algn="l">
              <a:buFont typeface="Arial" panose="020B0604020202020204" pitchFamily="34" charset="0"/>
              <a:buChar char="•"/>
            </a:pPr>
            <a:r>
              <a:rPr lang="en-US" sz="1200" b="1" i="0" dirty="0">
                <a:solidFill>
                  <a:srgbClr val="333333"/>
                </a:solidFill>
                <a:effectLst/>
                <a:latin typeface="Söhne"/>
              </a:rPr>
              <a:t>Experience pool:</a:t>
            </a:r>
            <a:r>
              <a:rPr lang="en-US" sz="1200" b="0" i="0" dirty="0">
                <a:solidFill>
                  <a:srgbClr val="333333"/>
                </a:solidFill>
                <a:effectLst/>
                <a:latin typeface="Söhne"/>
              </a:rPr>
              <a:t> 1 million transitions</a:t>
            </a:r>
          </a:p>
          <a:p>
            <a:pPr marL="285750" indent="-285750" algn="l">
              <a:buFont typeface="Arial" panose="020B0604020202020204" pitchFamily="34" charset="0"/>
              <a:buChar char="•"/>
            </a:pPr>
            <a:r>
              <a:rPr lang="en-US" sz="1200" b="1" i="0" dirty="0">
                <a:solidFill>
                  <a:srgbClr val="333333"/>
                </a:solidFill>
                <a:effectLst/>
                <a:latin typeface="Söhne"/>
              </a:rPr>
              <a:t>Batch size:</a:t>
            </a:r>
            <a:r>
              <a:rPr lang="en-US" sz="1200" b="0" i="0" dirty="0">
                <a:solidFill>
                  <a:srgbClr val="333333"/>
                </a:solidFill>
                <a:effectLst/>
                <a:latin typeface="Söhne"/>
              </a:rPr>
              <a:t> 128 samples</a:t>
            </a:r>
          </a:p>
          <a:p>
            <a:pPr marL="285750" indent="-285750" algn="l">
              <a:buFont typeface="Arial" panose="020B0604020202020204" pitchFamily="34" charset="0"/>
              <a:buChar char="•"/>
            </a:pPr>
            <a:r>
              <a:rPr lang="el-GR" sz="1200" b="1" i="0" dirty="0">
                <a:solidFill>
                  <a:srgbClr val="333333"/>
                </a:solidFill>
                <a:effectLst/>
                <a:latin typeface="Söhne"/>
              </a:rPr>
              <a:t>ε </a:t>
            </a:r>
            <a:r>
              <a:rPr lang="en-US" sz="1200" b="1" i="0" dirty="0">
                <a:solidFill>
                  <a:srgbClr val="333333"/>
                </a:solidFill>
                <a:effectLst/>
                <a:latin typeface="Söhne"/>
              </a:rPr>
              <a:t>decay:</a:t>
            </a:r>
            <a:r>
              <a:rPr lang="en-US" sz="1200" b="0" i="0" dirty="0">
                <a:solidFill>
                  <a:srgbClr val="333333"/>
                </a:solidFill>
                <a:effectLst/>
                <a:latin typeface="Söhne"/>
              </a:rPr>
              <a:t> 4×10⁻⁴ (min: 0.01)</a:t>
            </a:r>
          </a:p>
          <a:p>
            <a:pPr marL="285750" indent="-285750" algn="l">
              <a:buFont typeface="Arial" panose="020B0604020202020204" pitchFamily="34" charset="0"/>
              <a:buChar char="•"/>
            </a:pPr>
            <a:r>
              <a:rPr lang="en-US" sz="1200" b="1" i="0" dirty="0">
                <a:solidFill>
                  <a:srgbClr val="333333"/>
                </a:solidFill>
                <a:effectLst/>
                <a:latin typeface="Söhne"/>
              </a:rPr>
              <a:t>Target update:</a:t>
            </a:r>
            <a:r>
              <a:rPr lang="en-US" sz="1200" b="0" i="0" dirty="0">
                <a:solidFill>
                  <a:srgbClr val="333333"/>
                </a:solidFill>
                <a:effectLst/>
                <a:latin typeface="Söhne"/>
              </a:rPr>
              <a:t> Every 100 steps</a:t>
            </a:r>
          </a:p>
        </p:txBody>
      </p:sp>
      <p:sp>
        <p:nvSpPr>
          <p:cNvPr id="9" name="TextBox 8">
            <a:extLst>
              <a:ext uri="{FF2B5EF4-FFF2-40B4-BE49-F238E27FC236}">
                <a16:creationId xmlns:a16="http://schemas.microsoft.com/office/drawing/2014/main" id="{F17CF425-CAC0-A154-B3EC-AE61BB0368D5}"/>
              </a:ext>
            </a:extLst>
          </p:cNvPr>
          <p:cNvSpPr txBox="1"/>
          <p:nvPr/>
        </p:nvSpPr>
        <p:spPr>
          <a:xfrm>
            <a:off x="428399" y="2703651"/>
            <a:ext cx="5003382" cy="1443985"/>
          </a:xfrm>
          <a:prstGeom prst="rect">
            <a:avLst/>
          </a:prstGeom>
          <a:noFill/>
          <a:ln w="19050">
            <a:solidFill>
              <a:srgbClr val="1C3ECE"/>
            </a:solidFill>
            <a:prstDash val="lgDashDot"/>
          </a:ln>
        </p:spPr>
        <p:txBody>
          <a:bodyPr wrap="square">
            <a:spAutoFit/>
          </a:bodyPr>
          <a:lstStyle/>
          <a:p>
            <a:pPr algn="l">
              <a:spcAft>
                <a:spcPts val="1125"/>
              </a:spcAft>
              <a:buNone/>
            </a:pPr>
            <a:r>
              <a:rPr lang="en-US" sz="1200" b="1" i="0" dirty="0">
                <a:solidFill>
                  <a:srgbClr val="0D47A1"/>
                </a:solidFill>
                <a:effectLst/>
                <a:latin typeface="Segoe UI" panose="020B0502040204020203" pitchFamily="34" charset="0"/>
              </a:rPr>
              <a:t>Task Characteristics</a:t>
            </a:r>
          </a:p>
          <a:p>
            <a:pPr algn="l">
              <a:spcAft>
                <a:spcPts val="750"/>
              </a:spcAft>
              <a:buNone/>
            </a:pPr>
            <a:r>
              <a:rPr lang="en-US" sz="1200" b="1" i="0" dirty="0">
                <a:solidFill>
                  <a:srgbClr val="333333"/>
                </a:solidFill>
                <a:effectLst/>
                <a:latin typeface="Segoe UI" panose="020B0502040204020203" pitchFamily="34" charset="0"/>
              </a:rPr>
              <a:t>Per Service Request:</a:t>
            </a:r>
            <a:endParaRPr lang="en-US" sz="1200" b="0" i="0" dirty="0">
              <a:solidFill>
                <a:srgbClr val="333333"/>
              </a:solidFill>
              <a:effectLst/>
              <a:latin typeface="Segoe UI" panose="020B0502040204020203" pitchFamily="34" charset="0"/>
            </a:endParaRPr>
          </a:p>
          <a:p>
            <a:pPr marL="285750" indent="-285750" algn="l">
              <a:buFont typeface="Arial" panose="020B0604020202020204" pitchFamily="34" charset="0"/>
              <a:buChar char="•"/>
            </a:pPr>
            <a:r>
              <a:rPr lang="en-US" sz="1200" b="1" i="0" dirty="0">
                <a:solidFill>
                  <a:srgbClr val="333333"/>
                </a:solidFill>
                <a:effectLst/>
                <a:latin typeface="Segoe UI" panose="020B0502040204020203" pitchFamily="34" charset="0"/>
              </a:rPr>
              <a:t>10 Subtasks</a:t>
            </a:r>
            <a:r>
              <a:rPr lang="en-US" sz="1200" b="0" i="0" dirty="0">
                <a:solidFill>
                  <a:srgbClr val="333333"/>
                </a:solidFill>
                <a:effectLst/>
                <a:latin typeface="Segoe UI" panose="020B0502040204020203" pitchFamily="34" charset="0"/>
              </a:rPr>
              <a:t> with inter-user dependencies</a:t>
            </a:r>
          </a:p>
          <a:p>
            <a:pPr marL="285750" indent="-285750" algn="l">
              <a:buFont typeface="Arial" panose="020B0604020202020204" pitchFamily="34" charset="0"/>
              <a:buChar char="•"/>
            </a:pPr>
            <a:r>
              <a:rPr lang="en-US" sz="1200" b="1" i="0" dirty="0">
                <a:solidFill>
                  <a:srgbClr val="333333"/>
                </a:solidFill>
                <a:effectLst/>
                <a:latin typeface="Segoe UI" panose="020B0502040204020203" pitchFamily="34" charset="0"/>
              </a:rPr>
              <a:t>Input data:</a:t>
            </a:r>
            <a:r>
              <a:rPr lang="en-US" sz="1200" b="0" i="0" dirty="0">
                <a:solidFill>
                  <a:srgbClr val="333333"/>
                </a:solidFill>
                <a:effectLst/>
                <a:latin typeface="Segoe UI" panose="020B0502040204020203" pitchFamily="34" charset="0"/>
              </a:rPr>
              <a:t> 250-500 KB (uniform)</a:t>
            </a:r>
          </a:p>
          <a:p>
            <a:pPr marL="285750" indent="-285750" algn="l">
              <a:buFont typeface="Arial" panose="020B0604020202020204" pitchFamily="34" charset="0"/>
              <a:buChar char="•"/>
            </a:pPr>
            <a:r>
              <a:rPr lang="en-US" sz="1200" b="1" i="0" dirty="0">
                <a:solidFill>
                  <a:srgbClr val="333333"/>
                </a:solidFill>
                <a:effectLst/>
                <a:latin typeface="Segoe UI" panose="020B0502040204020203" pitchFamily="34" charset="0"/>
              </a:rPr>
              <a:t>Result data:</a:t>
            </a:r>
            <a:r>
              <a:rPr lang="en-US" sz="1200" b="0" i="0" dirty="0">
                <a:solidFill>
                  <a:srgbClr val="333333"/>
                </a:solidFill>
                <a:effectLst/>
                <a:latin typeface="Segoe UI" panose="020B0502040204020203" pitchFamily="34" charset="0"/>
              </a:rPr>
              <a:t> 40-80 KB (uniform)</a:t>
            </a:r>
          </a:p>
          <a:p>
            <a:pPr marL="285750" indent="-285750" algn="l">
              <a:buFont typeface="Arial" panose="020B0604020202020204" pitchFamily="34" charset="0"/>
              <a:buChar char="•"/>
            </a:pPr>
            <a:r>
              <a:rPr lang="en-US" sz="1200" b="1" i="0" dirty="0">
                <a:solidFill>
                  <a:srgbClr val="333333"/>
                </a:solidFill>
                <a:effectLst/>
                <a:latin typeface="Segoe UI" panose="020B0502040204020203" pitchFamily="34" charset="0"/>
              </a:rPr>
              <a:t>Computation:</a:t>
            </a:r>
            <a:r>
              <a:rPr lang="en-US" sz="1200" b="0" i="0" dirty="0">
                <a:solidFill>
                  <a:srgbClr val="333333"/>
                </a:solidFill>
                <a:effectLst/>
                <a:latin typeface="Segoe UI" panose="020B0502040204020203" pitchFamily="34" charset="0"/>
              </a:rPr>
              <a:t> 500-900 </a:t>
            </a:r>
            <a:r>
              <a:rPr lang="en-US" sz="1200" b="0" i="0" dirty="0" err="1">
                <a:solidFill>
                  <a:srgbClr val="333333"/>
                </a:solidFill>
                <a:effectLst/>
                <a:latin typeface="Segoe UI" panose="020B0502040204020203" pitchFamily="34" charset="0"/>
              </a:rPr>
              <a:t>Mcycles</a:t>
            </a:r>
            <a:r>
              <a:rPr lang="en-US" sz="1200" b="0" i="0" dirty="0">
                <a:solidFill>
                  <a:srgbClr val="333333"/>
                </a:solidFill>
                <a:effectLst/>
                <a:latin typeface="Segoe UI" panose="020B0502040204020203" pitchFamily="34" charset="0"/>
              </a:rPr>
              <a:t> (uniform)</a:t>
            </a:r>
          </a:p>
        </p:txBody>
      </p:sp>
    </p:spTree>
    <p:extLst>
      <p:ext uri="{BB962C8B-B14F-4D97-AF65-F5344CB8AC3E}">
        <p14:creationId xmlns:p14="http://schemas.microsoft.com/office/powerpoint/2010/main" val="2161054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4D8E4-23D3-5075-4AC8-B1DF05D229A0}"/>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3DED232-D46B-F60A-095E-6BFC99BC622B}"/>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6D858112-2320-3350-CC7D-3003F0016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A78D7FC7-E161-6D8E-9641-9C6182116566}"/>
              </a:ext>
            </a:extLst>
          </p:cNvPr>
          <p:cNvCxnSpPr>
            <a:cxnSpLocks/>
          </p:cNvCxnSpPr>
          <p:nvPr/>
        </p:nvCxnSpPr>
        <p:spPr>
          <a:xfrm>
            <a:off x="435005" y="947129"/>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ECE8619-2518-7B9A-DB50-592FFC5D56D3}"/>
              </a:ext>
            </a:extLst>
          </p:cNvPr>
          <p:cNvSpPr txBox="1"/>
          <p:nvPr/>
        </p:nvSpPr>
        <p:spPr>
          <a:xfrm>
            <a:off x="446843" y="369655"/>
            <a:ext cx="5281959" cy="584775"/>
          </a:xfrm>
          <a:prstGeom prst="rect">
            <a:avLst/>
          </a:prstGeom>
          <a:noFill/>
        </p:spPr>
        <p:txBody>
          <a:bodyPr wrap="none" rtlCol="0">
            <a:spAutoFit/>
          </a:bodyPr>
          <a:lstStyle/>
          <a:p>
            <a:r>
              <a:rPr lang="en-US" sz="3200" b="1" dirty="0">
                <a:solidFill>
                  <a:srgbClr val="0070C0"/>
                </a:solidFill>
                <a:latin typeface="Söhne"/>
              </a:rPr>
              <a:t>Results: Convergence Analysis</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E33F5096-CCFA-100B-956C-B11ABD7F0F82}"/>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12" name="TextBox 11">
            <a:extLst>
              <a:ext uri="{FF2B5EF4-FFF2-40B4-BE49-F238E27FC236}">
                <a16:creationId xmlns:a16="http://schemas.microsoft.com/office/drawing/2014/main" id="{D1FCF676-4186-3AEB-9F51-9C260759ACDE}"/>
              </a:ext>
            </a:extLst>
          </p:cNvPr>
          <p:cNvSpPr txBox="1"/>
          <p:nvPr/>
        </p:nvSpPr>
        <p:spPr>
          <a:xfrm>
            <a:off x="7354985" y="4700722"/>
            <a:ext cx="3840825" cy="307777"/>
          </a:xfrm>
          <a:prstGeom prst="rect">
            <a:avLst/>
          </a:prstGeom>
          <a:noFill/>
        </p:spPr>
        <p:txBody>
          <a:bodyPr wrap="square">
            <a:spAutoFit/>
          </a:bodyPr>
          <a:lstStyle/>
          <a:p>
            <a:pPr algn="ctr"/>
            <a:r>
              <a:rPr lang="en-US" sz="1400" b="1" dirty="0">
                <a:solidFill>
                  <a:srgbClr val="374151"/>
                </a:solidFill>
                <a:latin typeface="Söhne"/>
              </a:rPr>
              <a:t>Fig 5. </a:t>
            </a:r>
            <a:r>
              <a:rPr lang="en-US" sz="1400" dirty="0">
                <a:solidFill>
                  <a:srgbClr val="374151"/>
                </a:solidFill>
                <a:latin typeface="Söhne"/>
              </a:rPr>
              <a:t>Convergence of the accumulative reward.</a:t>
            </a:r>
          </a:p>
        </p:txBody>
      </p:sp>
      <p:sp>
        <p:nvSpPr>
          <p:cNvPr id="14" name="TextBox 13">
            <a:extLst>
              <a:ext uri="{FF2B5EF4-FFF2-40B4-BE49-F238E27FC236}">
                <a16:creationId xmlns:a16="http://schemas.microsoft.com/office/drawing/2014/main" id="{272DFC36-918A-81A8-03A2-B033795F6848}"/>
              </a:ext>
            </a:extLst>
          </p:cNvPr>
          <p:cNvSpPr txBox="1"/>
          <p:nvPr/>
        </p:nvSpPr>
        <p:spPr>
          <a:xfrm>
            <a:off x="435003" y="1117928"/>
            <a:ext cx="5928975" cy="1131079"/>
          </a:xfrm>
          <a:prstGeom prst="rect">
            <a:avLst/>
          </a:prstGeom>
          <a:noFill/>
          <a:ln w="19050">
            <a:solidFill>
              <a:srgbClr val="00B050"/>
            </a:solidFill>
            <a:prstDash val="lgDashDotDot"/>
          </a:ln>
        </p:spPr>
        <p:txBody>
          <a:bodyPr wrap="square">
            <a:spAutoFit/>
          </a:bodyPr>
          <a:lstStyle/>
          <a:p>
            <a:pPr algn="l">
              <a:spcBef>
                <a:spcPts val="1500"/>
              </a:spcBef>
              <a:spcAft>
                <a:spcPts val="900"/>
              </a:spcAft>
              <a:buNone/>
            </a:pPr>
            <a:r>
              <a:rPr lang="en-US" sz="1200" b="1" i="0" dirty="0">
                <a:solidFill>
                  <a:srgbClr val="1565C0"/>
                </a:solidFill>
                <a:effectLst/>
                <a:latin typeface="Söhne"/>
              </a:rPr>
              <a:t>DDQN Learning Progress:</a:t>
            </a:r>
          </a:p>
          <a:p>
            <a:pPr marL="285750" indent="-285750">
              <a:buFont typeface="Arial" panose="020B0604020202020204" pitchFamily="34" charset="0"/>
              <a:buChar char="•"/>
            </a:pPr>
            <a:r>
              <a:rPr lang="en-US" sz="1200" dirty="0">
                <a:latin typeface="Söhne"/>
              </a:rPr>
              <a:t>Both ε decay rates show steady convergence</a:t>
            </a:r>
          </a:p>
          <a:p>
            <a:pPr marL="285750" indent="-285750">
              <a:buFont typeface="Arial" panose="020B0604020202020204" pitchFamily="34" charset="0"/>
              <a:buChar char="•"/>
            </a:pPr>
            <a:r>
              <a:rPr lang="en-US" sz="1200" dirty="0">
                <a:latin typeface="Söhne"/>
              </a:rPr>
              <a:t>Accumulated rewards increase consistently over episodes</a:t>
            </a:r>
          </a:p>
          <a:p>
            <a:pPr marL="285750" indent="-285750">
              <a:buFont typeface="Arial" panose="020B0604020202020204" pitchFamily="34" charset="0"/>
              <a:buChar char="•"/>
            </a:pPr>
            <a:r>
              <a:rPr lang="en-US" sz="1200" dirty="0">
                <a:latin typeface="Söhne"/>
              </a:rPr>
              <a:t>System learns optimal long-term offloading strategy</a:t>
            </a:r>
          </a:p>
          <a:p>
            <a:pPr marL="285750" indent="-285750">
              <a:buFont typeface="Arial" panose="020B0604020202020204" pitchFamily="34" charset="0"/>
              <a:buChar char="•"/>
            </a:pPr>
            <a:r>
              <a:rPr lang="en-US" sz="1200" dirty="0">
                <a:latin typeface="Söhne"/>
              </a:rPr>
              <a:t>Stable performance achieved after convergence</a:t>
            </a:r>
          </a:p>
        </p:txBody>
      </p:sp>
      <p:sp>
        <p:nvSpPr>
          <p:cNvPr id="18" name="TextBox 17">
            <a:extLst>
              <a:ext uri="{FF2B5EF4-FFF2-40B4-BE49-F238E27FC236}">
                <a16:creationId xmlns:a16="http://schemas.microsoft.com/office/drawing/2014/main" id="{0B31420A-1DCD-0341-293D-BDC66BA77BE4}"/>
              </a:ext>
            </a:extLst>
          </p:cNvPr>
          <p:cNvSpPr txBox="1"/>
          <p:nvPr/>
        </p:nvSpPr>
        <p:spPr>
          <a:xfrm>
            <a:off x="435003" y="5257424"/>
            <a:ext cx="11310152" cy="1015663"/>
          </a:xfrm>
          <a:prstGeom prst="rect">
            <a:avLst/>
          </a:prstGeom>
          <a:noFill/>
          <a:ln w="19050">
            <a:solidFill>
              <a:srgbClr val="1C3ECE"/>
            </a:solidFill>
            <a:prstDash val="lgDashDotDot"/>
          </a:ln>
        </p:spPr>
        <p:txBody>
          <a:bodyPr wrap="square">
            <a:spAutoFit/>
          </a:bodyPr>
          <a:lstStyle/>
          <a:p>
            <a:pPr algn="just">
              <a:buNone/>
            </a:pPr>
            <a:r>
              <a:rPr lang="en-US" sz="1200" b="1" dirty="0">
                <a:latin typeface="Söhne"/>
              </a:rPr>
              <a:t>Findings</a:t>
            </a:r>
          </a:p>
          <a:p>
            <a:pPr algn="just">
              <a:buNone/>
            </a:pPr>
            <a:r>
              <a:rPr lang="en-US" sz="1200" dirty="0">
                <a:latin typeface="Söhne"/>
              </a:rPr>
              <a:t>The </a:t>
            </a:r>
            <a:r>
              <a:rPr lang="en-US" sz="1200" b="1" dirty="0">
                <a:latin typeface="Söhne"/>
              </a:rPr>
              <a:t>PTORA algorithm successfully learns to optimize task offloading decisions</a:t>
            </a:r>
            <a:r>
              <a:rPr lang="en-US" sz="1200" dirty="0">
                <a:latin typeface="Söhne"/>
              </a:rPr>
              <a:t> through deep reinforcement learning, achieving stable convergence and demonstrating the effectiveness of DDQN in handling </a:t>
            </a:r>
            <a:r>
              <a:rPr lang="en-US" sz="1200" b="1" dirty="0">
                <a:latin typeface="Söhne"/>
              </a:rPr>
              <a:t>dynamic MEC environments with inter-user dependencies</a:t>
            </a:r>
            <a:r>
              <a:rPr lang="en-US" sz="1200" dirty="0">
                <a:latin typeface="Söhne"/>
              </a:rPr>
              <a:t>. The convergence behavior validates that the agent effectively </a:t>
            </a:r>
            <a:r>
              <a:rPr lang="en-US" sz="1200" b="1" dirty="0">
                <a:latin typeface="Söhne"/>
              </a:rPr>
              <a:t>maximizes long-term rewards</a:t>
            </a:r>
            <a:r>
              <a:rPr lang="en-US" sz="1200" dirty="0">
                <a:latin typeface="Söhne"/>
              </a:rPr>
              <a:t>, which directly correlates to </a:t>
            </a:r>
            <a:r>
              <a:rPr lang="en-US" sz="1200" b="1" dirty="0">
                <a:latin typeface="Söhne"/>
              </a:rPr>
              <a:t>minimizing the weighted delay-energy cost</a:t>
            </a:r>
            <a:r>
              <a:rPr lang="en-US" sz="1200" dirty="0">
                <a:latin typeface="Söhne"/>
              </a:rPr>
              <a:t>. Both ε decay configurations prove viable, with the choice depending on deployment urgency versus exploration thoroughness requirements.</a:t>
            </a:r>
            <a:endParaRPr lang="en-US" sz="1200" b="1" dirty="0">
              <a:latin typeface="Söhne"/>
            </a:endParaRPr>
          </a:p>
        </p:txBody>
      </p:sp>
      <p:sp>
        <p:nvSpPr>
          <p:cNvPr id="19" name="Decagon 18">
            <a:extLst>
              <a:ext uri="{FF2B5EF4-FFF2-40B4-BE49-F238E27FC236}">
                <a16:creationId xmlns:a16="http://schemas.microsoft.com/office/drawing/2014/main" id="{E16F8869-710E-7F5A-758D-BE44EAF27D7F}"/>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15</a:t>
            </a:r>
            <a:endParaRPr lang="en-US" b="1" dirty="0">
              <a:latin typeface="Söhne"/>
              <a:cs typeface="Times New Roman" panose="02020603050405020304" pitchFamily="18" charset="0"/>
            </a:endParaRPr>
          </a:p>
        </p:txBody>
      </p:sp>
      <p:pic>
        <p:nvPicPr>
          <p:cNvPr id="3" name="Picture 2">
            <a:extLst>
              <a:ext uri="{FF2B5EF4-FFF2-40B4-BE49-F238E27FC236}">
                <a16:creationId xmlns:a16="http://schemas.microsoft.com/office/drawing/2014/main" id="{B4A7DEBD-F823-41E6-6CD8-7B4002B6FF78}"/>
              </a:ext>
            </a:extLst>
          </p:cNvPr>
          <p:cNvPicPr>
            <a:picLocks noChangeAspect="1"/>
          </p:cNvPicPr>
          <p:nvPr/>
        </p:nvPicPr>
        <p:blipFill>
          <a:blip r:embed="rId4"/>
          <a:stretch>
            <a:fillRect/>
          </a:stretch>
        </p:blipFill>
        <p:spPr>
          <a:xfrm>
            <a:off x="6845047" y="1386644"/>
            <a:ext cx="4430543" cy="3353061"/>
          </a:xfrm>
          <a:prstGeom prst="rect">
            <a:avLst/>
          </a:prstGeom>
        </p:spPr>
      </p:pic>
      <p:sp>
        <p:nvSpPr>
          <p:cNvPr id="2" name="TextBox 1">
            <a:extLst>
              <a:ext uri="{FF2B5EF4-FFF2-40B4-BE49-F238E27FC236}">
                <a16:creationId xmlns:a16="http://schemas.microsoft.com/office/drawing/2014/main" id="{C41D61EB-231A-501B-881F-490F76B4531A}"/>
              </a:ext>
            </a:extLst>
          </p:cNvPr>
          <p:cNvSpPr txBox="1"/>
          <p:nvPr/>
        </p:nvSpPr>
        <p:spPr>
          <a:xfrm>
            <a:off x="435003" y="2463118"/>
            <a:ext cx="5928975" cy="2580194"/>
          </a:xfrm>
          <a:prstGeom prst="rect">
            <a:avLst/>
          </a:prstGeom>
          <a:noFill/>
          <a:ln w="19050">
            <a:solidFill>
              <a:srgbClr val="00B050"/>
            </a:solidFill>
            <a:prstDash val="lgDashDotDot"/>
          </a:ln>
        </p:spPr>
        <p:txBody>
          <a:bodyPr wrap="square">
            <a:spAutoFit/>
          </a:bodyPr>
          <a:lstStyle/>
          <a:p>
            <a:pPr algn="l">
              <a:spcBef>
                <a:spcPts val="1500"/>
              </a:spcBef>
              <a:spcAft>
                <a:spcPts val="900"/>
              </a:spcAft>
              <a:buNone/>
            </a:pPr>
            <a:r>
              <a:rPr lang="en-US" sz="1200" b="1" i="0" dirty="0">
                <a:solidFill>
                  <a:srgbClr val="1976D2"/>
                </a:solidFill>
                <a:effectLst/>
                <a:latin typeface="Söhne"/>
              </a:rPr>
              <a:t>Exploration vs Exploitation Trade-off:</a:t>
            </a:r>
          </a:p>
          <a:p>
            <a:pPr algn="l">
              <a:spcBef>
                <a:spcPts val="1500"/>
              </a:spcBef>
              <a:spcAft>
                <a:spcPts val="900"/>
              </a:spcAft>
              <a:buNone/>
            </a:pPr>
            <a:r>
              <a:rPr lang="en-US" sz="1200" b="1" i="0" dirty="0">
                <a:solidFill>
                  <a:srgbClr val="1976D2"/>
                </a:solidFill>
                <a:effectLst/>
                <a:latin typeface="Söhne"/>
              </a:rPr>
              <a:t>Larger </a:t>
            </a:r>
            <a:r>
              <a:rPr lang="el-GR" sz="1200" b="1" i="0" dirty="0">
                <a:solidFill>
                  <a:srgbClr val="1976D2"/>
                </a:solidFill>
                <a:effectLst/>
                <a:latin typeface="Söhne"/>
              </a:rPr>
              <a:t>ε </a:t>
            </a:r>
            <a:r>
              <a:rPr lang="en-US" sz="1200" b="1" i="0" dirty="0">
                <a:solidFill>
                  <a:srgbClr val="1976D2"/>
                </a:solidFill>
                <a:effectLst/>
                <a:latin typeface="Söhne"/>
              </a:rPr>
              <a:t>decay (4×10⁻⁴):</a:t>
            </a:r>
            <a:endParaRPr lang="en-US" sz="1200" dirty="0">
              <a:latin typeface="Söhne"/>
            </a:endParaRPr>
          </a:p>
          <a:p>
            <a:pPr marL="285750" indent="-285750">
              <a:buFont typeface="Arial" panose="020B0604020202020204" pitchFamily="34" charset="0"/>
              <a:buChar char="•"/>
            </a:pPr>
            <a:r>
              <a:rPr lang="en-US" sz="1200" dirty="0">
                <a:latin typeface="Söhne"/>
              </a:rPr>
              <a:t>Rapid transition to exploitation phase</a:t>
            </a:r>
          </a:p>
          <a:p>
            <a:pPr marL="285750" indent="-285750">
              <a:buFont typeface="Arial" panose="020B0604020202020204" pitchFamily="34" charset="0"/>
              <a:buChar char="•"/>
            </a:pPr>
            <a:r>
              <a:rPr lang="en-US" sz="1200" dirty="0">
                <a:latin typeface="Söhne"/>
              </a:rPr>
              <a:t>Quick convergence - ideal for time-constrained scenarios</a:t>
            </a:r>
          </a:p>
          <a:p>
            <a:pPr marL="285750" indent="-285750">
              <a:buFont typeface="Arial" panose="020B0604020202020204" pitchFamily="34" charset="0"/>
              <a:buChar char="•"/>
            </a:pPr>
            <a:r>
              <a:rPr lang="en-US" sz="1200" dirty="0">
                <a:latin typeface="Söhne"/>
              </a:rPr>
              <a:t>Faster policy stabilization</a:t>
            </a:r>
          </a:p>
          <a:p>
            <a:pPr algn="l">
              <a:spcBef>
                <a:spcPts val="1125"/>
              </a:spcBef>
              <a:spcAft>
                <a:spcPts val="600"/>
              </a:spcAft>
              <a:buNone/>
            </a:pPr>
            <a:r>
              <a:rPr lang="en-US" sz="1200" b="1" i="0" dirty="0">
                <a:solidFill>
                  <a:srgbClr val="1976D2"/>
                </a:solidFill>
                <a:effectLst/>
                <a:latin typeface="Söhne"/>
              </a:rPr>
              <a:t>Smaller </a:t>
            </a:r>
            <a:r>
              <a:rPr lang="el-GR" sz="1200" b="1" i="0" dirty="0">
                <a:solidFill>
                  <a:srgbClr val="1976D2"/>
                </a:solidFill>
                <a:effectLst/>
                <a:latin typeface="Söhne"/>
              </a:rPr>
              <a:t>ε </a:t>
            </a:r>
            <a:r>
              <a:rPr lang="en-US" sz="1200" b="1" i="0" dirty="0">
                <a:solidFill>
                  <a:srgbClr val="1976D2"/>
                </a:solidFill>
                <a:effectLst/>
                <a:latin typeface="Söhne"/>
              </a:rPr>
              <a:t>decay (1×10⁻⁴):</a:t>
            </a:r>
            <a:endParaRPr lang="en-US" sz="1200" dirty="0">
              <a:latin typeface="Söhne"/>
            </a:endParaRPr>
          </a:p>
          <a:p>
            <a:pPr marL="171450" indent="-171450">
              <a:buFont typeface="Arial" panose="020B0604020202020204" pitchFamily="34" charset="0"/>
              <a:buChar char="•"/>
            </a:pPr>
            <a:r>
              <a:rPr lang="en-US" sz="1200" dirty="0">
                <a:latin typeface="Söhne"/>
              </a:rPr>
              <a:t>More cautious exploration strategy</a:t>
            </a:r>
          </a:p>
          <a:p>
            <a:pPr marL="171450" indent="-171450">
              <a:buFont typeface="Arial" panose="020B0604020202020204" pitchFamily="34" charset="0"/>
              <a:buChar char="•"/>
            </a:pPr>
            <a:r>
              <a:rPr lang="en-US" sz="1200" dirty="0">
                <a:latin typeface="Söhne"/>
              </a:rPr>
              <a:t>Extended random action period in late training</a:t>
            </a:r>
          </a:p>
          <a:p>
            <a:pPr marL="171450" indent="-171450">
              <a:buFont typeface="Arial" panose="020B0604020202020204" pitchFamily="34" charset="0"/>
              <a:buChar char="•"/>
            </a:pPr>
            <a:r>
              <a:rPr lang="en-US" sz="1200" dirty="0">
                <a:latin typeface="Söhne"/>
              </a:rPr>
              <a:t>Potentially discovers better long-term policies</a:t>
            </a:r>
          </a:p>
          <a:p>
            <a:pPr marL="171450" indent="-171450">
              <a:buFont typeface="Arial" panose="020B0604020202020204" pitchFamily="34" charset="0"/>
              <a:buChar char="•"/>
            </a:pPr>
            <a:r>
              <a:rPr lang="en-US" sz="1200" dirty="0">
                <a:latin typeface="Söhne"/>
              </a:rPr>
              <a:t>Requires more episodes to converge</a:t>
            </a:r>
          </a:p>
        </p:txBody>
      </p:sp>
    </p:spTree>
    <p:extLst>
      <p:ext uri="{BB962C8B-B14F-4D97-AF65-F5344CB8AC3E}">
        <p14:creationId xmlns:p14="http://schemas.microsoft.com/office/powerpoint/2010/main" val="411493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16D7-B4EA-B46E-E3BD-B983013FA77A}"/>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A360B1F-AA15-9595-2ECA-A179347C3B64}"/>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D18D1BD4-2D3C-A616-AD7A-85D72CC37A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83CC0939-B51E-A7FF-3EED-814D43538CA6}"/>
              </a:ext>
            </a:extLst>
          </p:cNvPr>
          <p:cNvCxnSpPr>
            <a:cxnSpLocks/>
          </p:cNvCxnSpPr>
          <p:nvPr/>
        </p:nvCxnSpPr>
        <p:spPr>
          <a:xfrm>
            <a:off x="435005" y="947129"/>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53D9B707-68F2-2ED6-D783-94500338A0DF}"/>
              </a:ext>
            </a:extLst>
          </p:cNvPr>
          <p:cNvSpPr txBox="1"/>
          <p:nvPr/>
        </p:nvSpPr>
        <p:spPr>
          <a:xfrm>
            <a:off x="550276" y="338293"/>
            <a:ext cx="6424516" cy="584775"/>
          </a:xfrm>
          <a:prstGeom prst="rect">
            <a:avLst/>
          </a:prstGeom>
          <a:noFill/>
        </p:spPr>
        <p:txBody>
          <a:bodyPr wrap="none" rtlCol="0">
            <a:spAutoFit/>
          </a:bodyPr>
          <a:lstStyle/>
          <a:p>
            <a:r>
              <a:rPr lang="en-US" sz="3200" b="1" dirty="0">
                <a:solidFill>
                  <a:srgbClr val="0070C0"/>
                </a:solidFill>
                <a:latin typeface="Söhne"/>
              </a:rPr>
              <a:t>Results: Edge Server Capacity Impact</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D6781355-C4C0-2440-8978-04B71525E59D}"/>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11" name="TextBox 10">
            <a:extLst>
              <a:ext uri="{FF2B5EF4-FFF2-40B4-BE49-F238E27FC236}">
                <a16:creationId xmlns:a16="http://schemas.microsoft.com/office/drawing/2014/main" id="{4544AE83-6EE9-38AD-37EB-0A6806E59AEE}"/>
              </a:ext>
            </a:extLst>
          </p:cNvPr>
          <p:cNvSpPr txBox="1"/>
          <p:nvPr/>
        </p:nvSpPr>
        <p:spPr>
          <a:xfrm>
            <a:off x="6751965" y="4997318"/>
            <a:ext cx="4637556" cy="307777"/>
          </a:xfrm>
          <a:prstGeom prst="rect">
            <a:avLst/>
          </a:prstGeom>
          <a:noFill/>
        </p:spPr>
        <p:txBody>
          <a:bodyPr wrap="square">
            <a:spAutoFit/>
          </a:bodyPr>
          <a:lstStyle/>
          <a:p>
            <a:pPr algn="ctr"/>
            <a:r>
              <a:rPr lang="en-US" sz="1400" b="1" dirty="0">
                <a:solidFill>
                  <a:srgbClr val="374151"/>
                </a:solidFill>
                <a:latin typeface="Söhne"/>
              </a:rPr>
              <a:t>Fig 7. </a:t>
            </a:r>
            <a:r>
              <a:rPr lang="en-US" sz="1400" dirty="0">
                <a:solidFill>
                  <a:srgbClr val="374151"/>
                </a:solidFill>
                <a:latin typeface="Söhne"/>
              </a:rPr>
              <a:t>Cost with varying ES computation capacity.</a:t>
            </a:r>
          </a:p>
        </p:txBody>
      </p:sp>
      <p:sp>
        <p:nvSpPr>
          <p:cNvPr id="17" name="TextBox 16">
            <a:extLst>
              <a:ext uri="{FF2B5EF4-FFF2-40B4-BE49-F238E27FC236}">
                <a16:creationId xmlns:a16="http://schemas.microsoft.com/office/drawing/2014/main" id="{B59F7E1A-61BD-ED9F-C54A-9D33170EA602}"/>
              </a:ext>
            </a:extLst>
          </p:cNvPr>
          <p:cNvSpPr txBox="1"/>
          <p:nvPr/>
        </p:nvSpPr>
        <p:spPr>
          <a:xfrm>
            <a:off x="435005" y="3115230"/>
            <a:ext cx="4400882" cy="2062103"/>
          </a:xfrm>
          <a:prstGeom prst="rect">
            <a:avLst/>
          </a:prstGeom>
          <a:noFill/>
          <a:ln w="19050">
            <a:solidFill>
              <a:srgbClr val="1C3ECE"/>
            </a:solidFill>
            <a:prstDash val="lgDashDot"/>
          </a:ln>
        </p:spPr>
        <p:txBody>
          <a:bodyPr wrap="square">
            <a:spAutoFit/>
          </a:bodyPr>
          <a:lstStyle/>
          <a:p>
            <a:pPr algn="l">
              <a:spcAft>
                <a:spcPts val="1500"/>
              </a:spcAft>
              <a:buNone/>
            </a:pPr>
            <a:r>
              <a:rPr lang="en-US" sz="1200" b="1" i="0" dirty="0">
                <a:solidFill>
                  <a:srgbClr val="0D47A1"/>
                </a:solidFill>
                <a:effectLst/>
                <a:latin typeface="Segoe UI" panose="020B0502040204020203" pitchFamily="34" charset="0"/>
              </a:rPr>
              <a:t>Observations</a:t>
            </a:r>
            <a:endParaRPr lang="en-US" sz="1200" dirty="0">
              <a:latin typeface="Söhne"/>
            </a:endParaRPr>
          </a:p>
          <a:p>
            <a:pPr marL="171450" indent="-171450">
              <a:buFont typeface="Arial" panose="020B0604020202020204" pitchFamily="34" charset="0"/>
              <a:buChar char="•"/>
            </a:pPr>
            <a:r>
              <a:rPr lang="en-US" sz="1200" dirty="0">
                <a:latin typeface="Söhne"/>
              </a:rPr>
              <a:t>Faster task processing → Lower delay</a:t>
            </a:r>
          </a:p>
          <a:p>
            <a:pPr marL="171450" indent="-171450">
              <a:buFont typeface="Arial" panose="020B0604020202020204" pitchFamily="34" charset="0"/>
              <a:buChar char="•"/>
            </a:pPr>
            <a:r>
              <a:rPr lang="en-US" sz="1200" dirty="0">
                <a:latin typeface="Söhne"/>
              </a:rPr>
              <a:t>Reduced idle power consumption</a:t>
            </a:r>
          </a:p>
          <a:p>
            <a:pPr marL="171450" indent="-171450">
              <a:buFont typeface="Arial" panose="020B0604020202020204" pitchFamily="34" charset="0"/>
              <a:buChar char="•"/>
            </a:pPr>
            <a:r>
              <a:rPr lang="en-US" sz="1200" dirty="0">
                <a:latin typeface="Söhne"/>
              </a:rPr>
              <a:t>All algorithms benefit from increased capacity</a:t>
            </a:r>
          </a:p>
          <a:p>
            <a:pPr marL="171450" indent="-171450">
              <a:buFont typeface="Arial" panose="020B0604020202020204" pitchFamily="34" charset="0"/>
              <a:buChar char="•"/>
            </a:pPr>
            <a:endParaRPr lang="en-US" sz="1200" dirty="0">
              <a:latin typeface="Söhne"/>
            </a:endParaRPr>
          </a:p>
          <a:p>
            <a:pPr algn="l">
              <a:spcAft>
                <a:spcPts val="900"/>
              </a:spcAft>
              <a:buNone/>
            </a:pPr>
            <a:r>
              <a:rPr lang="en-US" sz="1200" b="1" i="0" dirty="0">
                <a:solidFill>
                  <a:srgbClr val="0D47A1"/>
                </a:solidFill>
                <a:effectLst/>
                <a:latin typeface="Segoe UI" panose="020B0502040204020203" pitchFamily="34" charset="0"/>
              </a:rPr>
              <a:t>Why PTORA </a:t>
            </a:r>
            <a:r>
              <a:rPr lang="en-US" sz="1200" b="1" dirty="0">
                <a:solidFill>
                  <a:srgbClr val="0D47A1"/>
                </a:solidFill>
                <a:latin typeface="Segoe UI" panose="020B0502040204020203" pitchFamily="34" charset="0"/>
              </a:rPr>
              <a:t>p</a:t>
            </a:r>
            <a:r>
              <a:rPr lang="en-US" sz="1200" b="1" i="0" dirty="0">
                <a:solidFill>
                  <a:srgbClr val="0D47A1"/>
                </a:solidFill>
                <a:effectLst/>
                <a:latin typeface="Segoe UI" panose="020B0502040204020203" pitchFamily="34" charset="0"/>
              </a:rPr>
              <a:t>erforms better</a:t>
            </a:r>
            <a:endParaRPr lang="en-US" sz="1200" dirty="0">
              <a:latin typeface="Söhne"/>
            </a:endParaRPr>
          </a:p>
          <a:p>
            <a:pPr marL="171450" indent="-171450" algn="l">
              <a:buFont typeface="Arial" panose="020B0604020202020204" pitchFamily="34" charset="0"/>
              <a:buChar char="•"/>
            </a:pPr>
            <a:r>
              <a:rPr lang="en-US" sz="1200" b="0" i="0" dirty="0">
                <a:solidFill>
                  <a:srgbClr val="333333"/>
                </a:solidFill>
                <a:effectLst/>
                <a:latin typeface="Söhne"/>
              </a:rPr>
              <a:t>Dynamic learning and adaptation</a:t>
            </a:r>
          </a:p>
          <a:p>
            <a:pPr marL="171450" indent="-171450" algn="l">
              <a:buFont typeface="Arial" panose="020B0604020202020204" pitchFamily="34" charset="0"/>
              <a:buChar char="•"/>
            </a:pPr>
            <a:r>
              <a:rPr lang="en-US" sz="1200" b="0" i="0" dirty="0">
                <a:solidFill>
                  <a:srgbClr val="333333"/>
                </a:solidFill>
                <a:effectLst/>
                <a:latin typeface="Söhne"/>
              </a:rPr>
              <a:t>Long-term optimization via Deep RL</a:t>
            </a:r>
          </a:p>
          <a:p>
            <a:pPr marL="171450" indent="-171450" algn="l">
              <a:buFont typeface="Arial" panose="020B0604020202020204" pitchFamily="34" charset="0"/>
              <a:buChar char="•"/>
            </a:pPr>
            <a:r>
              <a:rPr lang="en-US" sz="1200" b="0" i="0" dirty="0">
                <a:solidFill>
                  <a:srgbClr val="333333"/>
                </a:solidFill>
                <a:effectLst/>
                <a:latin typeface="Söhne"/>
              </a:rPr>
              <a:t>Handles inter-user dependencies effectively</a:t>
            </a:r>
          </a:p>
        </p:txBody>
      </p:sp>
      <p:sp>
        <p:nvSpPr>
          <p:cNvPr id="20" name="TextBox 19">
            <a:extLst>
              <a:ext uri="{FF2B5EF4-FFF2-40B4-BE49-F238E27FC236}">
                <a16:creationId xmlns:a16="http://schemas.microsoft.com/office/drawing/2014/main" id="{6BC64810-9526-220E-93AE-B66404CCF328}"/>
              </a:ext>
            </a:extLst>
          </p:cNvPr>
          <p:cNvSpPr txBox="1"/>
          <p:nvPr/>
        </p:nvSpPr>
        <p:spPr>
          <a:xfrm>
            <a:off x="446843" y="5396036"/>
            <a:ext cx="11298314" cy="738664"/>
          </a:xfrm>
          <a:prstGeom prst="rect">
            <a:avLst/>
          </a:prstGeom>
          <a:noFill/>
          <a:ln w="19050">
            <a:solidFill>
              <a:srgbClr val="00B050"/>
            </a:solidFill>
            <a:prstDash val="lgDashDot"/>
          </a:ln>
        </p:spPr>
        <p:txBody>
          <a:bodyPr wrap="square">
            <a:spAutoFit/>
          </a:bodyPr>
          <a:lstStyle/>
          <a:p>
            <a:r>
              <a:rPr lang="en-US" sz="1400" b="1" dirty="0">
                <a:solidFill>
                  <a:schemeClr val="accent6"/>
                </a:solidFill>
                <a:latin typeface="Söhne"/>
              </a:rPr>
              <a:t>Takeaway</a:t>
            </a:r>
          </a:p>
          <a:p>
            <a:r>
              <a:rPr lang="en-US" sz="1400" b="1" dirty="0">
                <a:latin typeface="Söhne"/>
              </a:rPr>
              <a:t>PTORA achieves 63% cost reduction</a:t>
            </a:r>
            <a:r>
              <a:rPr lang="en-US" sz="1400" dirty="0">
                <a:latin typeface="Söhne"/>
              </a:rPr>
              <a:t> through Deep RL optimization. It </a:t>
            </a:r>
            <a:r>
              <a:rPr lang="en-US" sz="1400" b="1" dirty="0">
                <a:latin typeface="Söhne"/>
              </a:rPr>
              <a:t>consistently outperforms</a:t>
            </a:r>
            <a:r>
              <a:rPr lang="en-US" sz="1400" dirty="0">
                <a:latin typeface="Söhne"/>
              </a:rPr>
              <a:t> traditional methods by </a:t>
            </a:r>
            <a:r>
              <a:rPr lang="en-US" sz="1400" b="1" dirty="0">
                <a:latin typeface="Söhne"/>
              </a:rPr>
              <a:t>learning and adapting</a:t>
            </a:r>
            <a:r>
              <a:rPr lang="en-US" sz="1400" dirty="0">
                <a:latin typeface="Söhne"/>
              </a:rPr>
              <a:t> to dynamic environments.</a:t>
            </a:r>
          </a:p>
        </p:txBody>
      </p:sp>
      <p:sp>
        <p:nvSpPr>
          <p:cNvPr id="21" name="Decagon 20">
            <a:extLst>
              <a:ext uri="{FF2B5EF4-FFF2-40B4-BE49-F238E27FC236}">
                <a16:creationId xmlns:a16="http://schemas.microsoft.com/office/drawing/2014/main" id="{35208CD5-1422-5749-CA5C-61398C80C3E1}"/>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16</a:t>
            </a:r>
            <a:endParaRPr lang="en-US" b="1" dirty="0">
              <a:latin typeface="Söhne"/>
              <a:cs typeface="Times New Roman" panose="02020603050405020304" pitchFamily="18" charset="0"/>
            </a:endParaRPr>
          </a:p>
        </p:txBody>
      </p:sp>
      <p:pic>
        <p:nvPicPr>
          <p:cNvPr id="3" name="Picture 2">
            <a:extLst>
              <a:ext uri="{FF2B5EF4-FFF2-40B4-BE49-F238E27FC236}">
                <a16:creationId xmlns:a16="http://schemas.microsoft.com/office/drawing/2014/main" id="{4C2FD734-872E-CFA0-4361-1ADAB40C00BE}"/>
              </a:ext>
            </a:extLst>
          </p:cNvPr>
          <p:cNvPicPr>
            <a:picLocks noChangeAspect="1"/>
          </p:cNvPicPr>
          <p:nvPr/>
        </p:nvPicPr>
        <p:blipFill>
          <a:blip r:embed="rId4"/>
          <a:stretch>
            <a:fillRect/>
          </a:stretch>
        </p:blipFill>
        <p:spPr>
          <a:xfrm>
            <a:off x="6059009" y="1029280"/>
            <a:ext cx="5379601" cy="4027073"/>
          </a:xfrm>
          <a:prstGeom prst="rect">
            <a:avLst/>
          </a:prstGeom>
        </p:spPr>
      </p:pic>
      <p:graphicFrame>
        <p:nvGraphicFramePr>
          <p:cNvPr id="2" name="Table 1">
            <a:extLst>
              <a:ext uri="{FF2B5EF4-FFF2-40B4-BE49-F238E27FC236}">
                <a16:creationId xmlns:a16="http://schemas.microsoft.com/office/drawing/2014/main" id="{50290D5F-BC23-EAF0-FA38-A1153EA55AD8}"/>
              </a:ext>
            </a:extLst>
          </p:cNvPr>
          <p:cNvGraphicFramePr>
            <a:graphicFrameLocks noGrp="1"/>
          </p:cNvGraphicFramePr>
          <p:nvPr>
            <p:extLst>
              <p:ext uri="{D42A27DB-BD31-4B8C-83A1-F6EECF244321}">
                <p14:modId xmlns:p14="http://schemas.microsoft.com/office/powerpoint/2010/main" val="1952418305"/>
              </p:ext>
            </p:extLst>
          </p:nvPr>
        </p:nvGraphicFramePr>
        <p:xfrm>
          <a:off x="435005" y="1272506"/>
          <a:ext cx="4996776" cy="1534476"/>
        </p:xfrm>
        <a:graphic>
          <a:graphicData uri="http://schemas.openxmlformats.org/drawingml/2006/table">
            <a:tbl>
              <a:tblPr firstRow="1" bandRow="1">
                <a:tableStyleId>{5C22544A-7EE6-4342-B048-85BDC9FD1C3A}</a:tableStyleId>
              </a:tblPr>
              <a:tblGrid>
                <a:gridCol w="1665592">
                  <a:extLst>
                    <a:ext uri="{9D8B030D-6E8A-4147-A177-3AD203B41FA5}">
                      <a16:colId xmlns:a16="http://schemas.microsoft.com/office/drawing/2014/main" val="81787477"/>
                    </a:ext>
                  </a:extLst>
                </a:gridCol>
                <a:gridCol w="1665592">
                  <a:extLst>
                    <a:ext uri="{9D8B030D-6E8A-4147-A177-3AD203B41FA5}">
                      <a16:colId xmlns:a16="http://schemas.microsoft.com/office/drawing/2014/main" val="3794534306"/>
                    </a:ext>
                  </a:extLst>
                </a:gridCol>
                <a:gridCol w="1665592">
                  <a:extLst>
                    <a:ext uri="{9D8B030D-6E8A-4147-A177-3AD203B41FA5}">
                      <a16:colId xmlns:a16="http://schemas.microsoft.com/office/drawing/2014/main" val="4153658055"/>
                    </a:ext>
                  </a:extLst>
                </a:gridCol>
              </a:tblGrid>
              <a:tr h="418829">
                <a:tc>
                  <a:txBody>
                    <a:bodyPr/>
                    <a:lstStyle/>
                    <a:p>
                      <a:pPr marL="0" indent="144145" algn="ctr" defTabSz="914400" rtl="0" eaLnBrk="1" latinLnBrk="0" hangingPunct="1">
                        <a:lnSpc>
                          <a:spcPts val="1200"/>
                        </a:lnSpc>
                        <a:buNone/>
                      </a:pPr>
                      <a:r>
                        <a:rPr lang="en-US" sz="1200" b="1" i="0" kern="1200" dirty="0">
                          <a:solidFill>
                            <a:schemeClr val="bg1"/>
                          </a:solidFill>
                          <a:latin typeface="Söhne"/>
                          <a:ea typeface="+mn-ea"/>
                          <a:cs typeface="+mn-cs"/>
                        </a:rPr>
                        <a:t>Method</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tc>
                  <a:txBody>
                    <a:bodyPr/>
                    <a:lstStyle/>
                    <a:p>
                      <a:pPr marL="0" indent="144145" algn="ctr" defTabSz="914400" rtl="0" eaLnBrk="1" latinLnBrk="0" hangingPunct="1">
                        <a:lnSpc>
                          <a:spcPts val="1200"/>
                        </a:lnSpc>
                        <a:buNone/>
                      </a:pPr>
                      <a:r>
                        <a:rPr lang="en-US" sz="1200" b="1" i="0" kern="1200" dirty="0">
                          <a:solidFill>
                            <a:schemeClr val="bg1"/>
                          </a:solidFill>
                          <a:latin typeface="Söhne"/>
                          <a:ea typeface="+mn-ea"/>
                          <a:cs typeface="+mn-cs"/>
                        </a:rPr>
                        <a:t>Cost</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tc>
                  <a:txBody>
                    <a:bodyPr/>
                    <a:lstStyle/>
                    <a:p>
                      <a:pPr marL="0" indent="144145" algn="ctr" defTabSz="914400" rtl="0" eaLnBrk="1" latinLnBrk="0" hangingPunct="1">
                        <a:lnSpc>
                          <a:spcPts val="1200"/>
                        </a:lnSpc>
                        <a:buNone/>
                      </a:pPr>
                      <a:r>
                        <a:rPr lang="en-US" sz="1200" b="1" i="0" kern="1200" dirty="0">
                          <a:solidFill>
                            <a:schemeClr val="bg1"/>
                          </a:solidFill>
                          <a:latin typeface="Söhne"/>
                          <a:ea typeface="+mn-ea"/>
                          <a:cs typeface="+mn-cs"/>
                        </a:rPr>
                        <a:t>Vs PTORA</a:t>
                      </a:r>
                    </a:p>
                  </a:txBody>
                  <a:tcPr marL="68580" marR="68580" marT="0" marB="0" anchor="ctr">
                    <a:gradFill flip="none" rotWithShape="1">
                      <a:gsLst>
                        <a:gs pos="0">
                          <a:srgbClr val="7354AE">
                            <a:shade val="30000"/>
                            <a:satMod val="115000"/>
                          </a:srgbClr>
                        </a:gs>
                        <a:gs pos="50000">
                          <a:srgbClr val="7354AE">
                            <a:shade val="67500"/>
                            <a:satMod val="115000"/>
                          </a:srgbClr>
                        </a:gs>
                        <a:gs pos="100000">
                          <a:srgbClr val="7354AE">
                            <a:shade val="100000"/>
                            <a:satMod val="115000"/>
                          </a:srgbClr>
                        </a:gs>
                      </a:gsLst>
                      <a:path path="circle">
                        <a:fillToRect l="100000" t="100000"/>
                      </a:path>
                      <a:tileRect r="-100000" b="-100000"/>
                    </a:gradFill>
                  </a:tcPr>
                </a:tc>
                <a:extLst>
                  <a:ext uri="{0D108BD9-81ED-4DB2-BD59-A6C34878D82A}">
                    <a16:rowId xmlns:a16="http://schemas.microsoft.com/office/drawing/2014/main" val="2179048212"/>
                  </a:ext>
                </a:extLst>
              </a:tr>
              <a:tr h="279253">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PTORA</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~0.27</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dirty="0">
                          <a:solidFill>
                            <a:srgbClr val="16A34A"/>
                          </a:solidFill>
                          <a:effectLst/>
                          <a:latin typeface="Inter"/>
                        </a:rPr>
                        <a:t>Best</a:t>
                      </a:r>
                      <a:endParaRPr lang="en-US" sz="1200" b="1" i="0" kern="1200" dirty="0">
                        <a:solidFill>
                          <a:schemeClr val="tx1"/>
                        </a:solidFill>
                        <a:latin typeface="Söhne"/>
                        <a:ea typeface="+mn-ea"/>
                        <a:cs typeface="+mn-cs"/>
                      </a:endParaRPr>
                    </a:p>
                  </a:txBody>
                  <a:tcPr marL="68580" marR="68580" marT="0" marB="0" anchor="ctr">
                    <a:solidFill>
                      <a:schemeClr val="tx2">
                        <a:lumMod val="20000"/>
                        <a:lumOff val="80000"/>
                      </a:schemeClr>
                    </a:solidFill>
                  </a:tcPr>
                </a:tc>
                <a:extLst>
                  <a:ext uri="{0D108BD9-81ED-4DB2-BD59-A6C34878D82A}">
                    <a16:rowId xmlns:a16="http://schemas.microsoft.com/office/drawing/2014/main" val="2655372576"/>
                  </a:ext>
                </a:extLst>
              </a:tr>
              <a:tr h="279253">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OCP</a:t>
                      </a:r>
                    </a:p>
                  </a:txBody>
                  <a:tcPr marL="68580" marR="68580" marT="0" marB="0" anchor="ctr">
                    <a:solidFill>
                      <a:schemeClr val="tx2">
                        <a:lumMod val="20000"/>
                        <a:lumOff val="80000"/>
                      </a:schemeClr>
                    </a:solidFill>
                  </a:tcPr>
                </a:tc>
                <a:tc>
                  <a:txBody>
                    <a:bodyPr/>
                    <a:lstStyle/>
                    <a:p>
                      <a:pPr marL="0" marR="0" lvl="0" indent="144145" algn="ctr" defTabSz="914400" rtl="0" eaLnBrk="1" fontAlgn="auto" latinLnBrk="0" hangingPunct="1">
                        <a:lnSpc>
                          <a:spcPts val="1200"/>
                        </a:lnSpc>
                        <a:spcBef>
                          <a:spcPts val="0"/>
                        </a:spcBef>
                        <a:spcAft>
                          <a:spcPts val="0"/>
                        </a:spcAft>
                        <a:buClrTx/>
                        <a:buSzTx/>
                        <a:buFontTx/>
                        <a:buNone/>
                        <a:tabLst/>
                        <a:defRPr/>
                      </a:pPr>
                      <a:r>
                        <a:rPr lang="en-US" sz="1200" b="1" i="0" kern="1200" dirty="0">
                          <a:solidFill>
                            <a:schemeClr val="tx1"/>
                          </a:solidFill>
                          <a:latin typeface="Söhne"/>
                          <a:ea typeface="+mn-ea"/>
                          <a:cs typeface="+mn-cs"/>
                        </a:rPr>
                        <a:t>~0.50</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a:t>
                      </a:r>
                    </a:p>
                  </a:txBody>
                  <a:tcPr marL="68580" marR="68580" marT="0" marB="0" anchor="ctr">
                    <a:solidFill>
                      <a:schemeClr val="tx2">
                        <a:lumMod val="20000"/>
                        <a:lumOff val="80000"/>
                      </a:schemeClr>
                    </a:solidFill>
                  </a:tcPr>
                </a:tc>
                <a:extLst>
                  <a:ext uri="{0D108BD9-81ED-4DB2-BD59-A6C34878D82A}">
                    <a16:rowId xmlns:a16="http://schemas.microsoft.com/office/drawing/2014/main" val="4166742246"/>
                  </a:ext>
                </a:extLst>
              </a:tr>
              <a:tr h="279253">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GA</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~0.70</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a:t>
                      </a:r>
                    </a:p>
                  </a:txBody>
                  <a:tcPr marL="68580" marR="68580" marT="0" marB="0" anchor="ctr">
                    <a:solidFill>
                      <a:schemeClr val="tx2">
                        <a:lumMod val="20000"/>
                        <a:lumOff val="80000"/>
                      </a:schemeClr>
                    </a:solidFill>
                  </a:tcPr>
                </a:tc>
                <a:extLst>
                  <a:ext uri="{0D108BD9-81ED-4DB2-BD59-A6C34878D82A}">
                    <a16:rowId xmlns:a16="http://schemas.microsoft.com/office/drawing/2014/main" val="1241379255"/>
                  </a:ext>
                </a:extLst>
              </a:tr>
              <a:tr h="277888">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Random</a:t>
                      </a:r>
                    </a:p>
                  </a:txBody>
                  <a:tcPr marL="68580" marR="68580" marT="0" marB="0" anchor="ctr">
                    <a:solidFill>
                      <a:schemeClr val="tx2">
                        <a:lumMod val="20000"/>
                        <a:lumOff val="80000"/>
                      </a:schemeClr>
                    </a:solidFill>
                  </a:tcPr>
                </a:tc>
                <a:tc>
                  <a:txBody>
                    <a:bodyPr/>
                    <a:lstStyle/>
                    <a:p>
                      <a:pPr marL="0" marR="0" lvl="0" indent="144145" algn="ctr" defTabSz="914400" rtl="0" eaLnBrk="1" fontAlgn="auto" latinLnBrk="0" hangingPunct="1">
                        <a:lnSpc>
                          <a:spcPts val="1200"/>
                        </a:lnSpc>
                        <a:spcBef>
                          <a:spcPts val="0"/>
                        </a:spcBef>
                        <a:spcAft>
                          <a:spcPts val="0"/>
                        </a:spcAft>
                        <a:buClrTx/>
                        <a:buSzTx/>
                        <a:buFontTx/>
                        <a:buNone/>
                        <a:tabLst/>
                        <a:defRPr/>
                      </a:pPr>
                      <a:r>
                        <a:rPr lang="en-US" sz="1200" b="1" i="0" kern="1200" dirty="0">
                          <a:solidFill>
                            <a:schemeClr val="tx1"/>
                          </a:solidFill>
                          <a:latin typeface="Söhne"/>
                          <a:ea typeface="+mn-ea"/>
                          <a:cs typeface="+mn-cs"/>
                        </a:rPr>
                        <a:t>~0.75</a:t>
                      </a:r>
                    </a:p>
                  </a:txBody>
                  <a:tcPr marL="68580" marR="68580" marT="0" marB="0" anchor="ctr">
                    <a:solidFill>
                      <a:schemeClr val="tx2">
                        <a:lumMod val="20000"/>
                        <a:lumOff val="80000"/>
                      </a:schemeClr>
                    </a:solidFill>
                  </a:tcPr>
                </a:tc>
                <a:tc>
                  <a:txBody>
                    <a:bodyPr/>
                    <a:lstStyle/>
                    <a:p>
                      <a:pPr marL="0" indent="144145" algn="ctr" defTabSz="914400" rtl="0" eaLnBrk="1" latinLnBrk="0" hangingPunct="1">
                        <a:lnSpc>
                          <a:spcPts val="1200"/>
                        </a:lnSpc>
                        <a:buNone/>
                      </a:pPr>
                      <a:r>
                        <a:rPr lang="en-US" sz="1200" b="1" i="0" kern="1200" dirty="0">
                          <a:solidFill>
                            <a:schemeClr val="tx1"/>
                          </a:solidFill>
                          <a:latin typeface="Söhne"/>
                          <a:ea typeface="+mn-ea"/>
                          <a:cs typeface="+mn-cs"/>
                        </a:rPr>
                        <a:t>-</a:t>
                      </a:r>
                    </a:p>
                  </a:txBody>
                  <a:tcPr marL="68580" marR="68580" marT="0" marB="0" anchor="ctr">
                    <a:solidFill>
                      <a:schemeClr val="tx2">
                        <a:lumMod val="20000"/>
                        <a:lumOff val="80000"/>
                      </a:schemeClr>
                    </a:solidFill>
                  </a:tcPr>
                </a:tc>
                <a:extLst>
                  <a:ext uri="{0D108BD9-81ED-4DB2-BD59-A6C34878D82A}">
                    <a16:rowId xmlns:a16="http://schemas.microsoft.com/office/drawing/2014/main" val="1229767087"/>
                  </a:ext>
                </a:extLst>
              </a:tr>
            </a:tbl>
          </a:graphicData>
        </a:graphic>
      </p:graphicFrame>
      <p:sp>
        <p:nvSpPr>
          <p:cNvPr id="4" name="TextBox 3">
            <a:extLst>
              <a:ext uri="{FF2B5EF4-FFF2-40B4-BE49-F238E27FC236}">
                <a16:creationId xmlns:a16="http://schemas.microsoft.com/office/drawing/2014/main" id="{903E0DBF-4B9E-D0A0-7F9A-1AA5DA8AA858}"/>
              </a:ext>
            </a:extLst>
          </p:cNvPr>
          <p:cNvSpPr txBox="1"/>
          <p:nvPr/>
        </p:nvSpPr>
        <p:spPr>
          <a:xfrm>
            <a:off x="1213782" y="991540"/>
            <a:ext cx="3439221" cy="307777"/>
          </a:xfrm>
          <a:prstGeom prst="rect">
            <a:avLst/>
          </a:prstGeom>
          <a:noFill/>
        </p:spPr>
        <p:txBody>
          <a:bodyPr wrap="square">
            <a:spAutoFit/>
          </a:bodyPr>
          <a:lstStyle/>
          <a:p>
            <a:pPr algn="ctr"/>
            <a:r>
              <a:rPr lang="en-US" sz="1400" b="1" dirty="0">
                <a:solidFill>
                  <a:srgbClr val="6179E9"/>
                </a:solidFill>
                <a:latin typeface="Söhne"/>
              </a:rPr>
              <a:t>Table 5. Performance Comparison</a:t>
            </a:r>
            <a:endParaRPr lang="en-US" sz="1400" dirty="0">
              <a:solidFill>
                <a:srgbClr val="6179E9"/>
              </a:solidFill>
              <a:latin typeface="Söhne"/>
            </a:endParaRPr>
          </a:p>
        </p:txBody>
      </p:sp>
    </p:spTree>
    <p:extLst>
      <p:ext uri="{BB962C8B-B14F-4D97-AF65-F5344CB8AC3E}">
        <p14:creationId xmlns:p14="http://schemas.microsoft.com/office/powerpoint/2010/main" val="1910027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4F9E1-164C-06D4-C9DD-06E2211D25CD}"/>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6D4A1FF0-C2AC-25E3-A655-B9D0B5AE46AC}"/>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BB5BDD69-B323-6737-4110-2E1A2EDDF3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B425BA89-357D-A2D8-F856-74B3B35094D2}"/>
              </a:ext>
            </a:extLst>
          </p:cNvPr>
          <p:cNvCxnSpPr>
            <a:cxnSpLocks/>
          </p:cNvCxnSpPr>
          <p:nvPr/>
        </p:nvCxnSpPr>
        <p:spPr>
          <a:xfrm>
            <a:off x="435005" y="947129"/>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0E933A7F-267F-C476-5D33-CEA1B3E3A5B3}"/>
              </a:ext>
            </a:extLst>
          </p:cNvPr>
          <p:cNvSpPr txBox="1"/>
          <p:nvPr/>
        </p:nvSpPr>
        <p:spPr>
          <a:xfrm>
            <a:off x="435003" y="332032"/>
            <a:ext cx="6978513" cy="584775"/>
          </a:xfrm>
          <a:prstGeom prst="rect">
            <a:avLst/>
          </a:prstGeom>
          <a:noFill/>
        </p:spPr>
        <p:txBody>
          <a:bodyPr wrap="none" rtlCol="0">
            <a:spAutoFit/>
          </a:bodyPr>
          <a:lstStyle/>
          <a:p>
            <a:r>
              <a:rPr lang="en-US" sz="3200" b="1" dirty="0">
                <a:solidFill>
                  <a:srgbClr val="0070C0"/>
                </a:solidFill>
                <a:latin typeface="Söhne"/>
              </a:rPr>
              <a:t>Results: Delay-Energy Trade-off Analysis</a:t>
            </a:r>
            <a:endParaRPr lang="en-GB" sz="3200" b="1" dirty="0">
              <a:solidFill>
                <a:srgbClr val="0070C0"/>
              </a:solidFill>
              <a:latin typeface="Söhne"/>
            </a:endParaRPr>
          </a:p>
        </p:txBody>
      </p:sp>
      <p:pic>
        <p:nvPicPr>
          <p:cNvPr id="47" name="Picture 46" descr="Logo&#10;&#10;Description automatically generated">
            <a:extLst>
              <a:ext uri="{FF2B5EF4-FFF2-40B4-BE49-F238E27FC236}">
                <a16:creationId xmlns:a16="http://schemas.microsoft.com/office/drawing/2014/main" id="{F5BD0045-CBDD-E344-C01D-C2D2F25206B1}"/>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F86D427-955B-B5F8-8A02-9DD7CE738928}"/>
                  </a:ext>
                </a:extLst>
              </p:cNvPr>
              <p:cNvSpPr txBox="1"/>
              <p:nvPr/>
            </p:nvSpPr>
            <p:spPr>
              <a:xfrm>
                <a:off x="6746697" y="4768426"/>
                <a:ext cx="3919806" cy="311560"/>
              </a:xfrm>
              <a:prstGeom prst="rect">
                <a:avLst/>
              </a:prstGeom>
              <a:noFill/>
            </p:spPr>
            <p:txBody>
              <a:bodyPr wrap="square">
                <a:spAutoFit/>
              </a:bodyPr>
              <a:lstStyle/>
              <a:p>
                <a:pPr algn="ctr"/>
                <a:r>
                  <a:rPr lang="en-US" sz="1400" b="1" dirty="0">
                    <a:solidFill>
                      <a:srgbClr val="374151"/>
                    </a:solidFill>
                    <a:latin typeface="Söhne"/>
                  </a:rPr>
                  <a:t>Fig 7. </a:t>
                </a:r>
                <a:r>
                  <a:rPr lang="en-US" sz="1400" dirty="0">
                    <a:solidFill>
                      <a:srgbClr val="374151"/>
                    </a:solidFill>
                    <a:latin typeface="Söhne"/>
                  </a:rPr>
                  <a:t>Delay-energy trade-off coefficient </a:t>
                </a:r>
                <a14:m>
                  <m:oMath xmlns:m="http://schemas.openxmlformats.org/officeDocument/2006/math">
                    <m:sSup>
                      <m:sSupPr>
                        <m:ctrlPr>
                          <a:rPr lang="en-US" sz="1400" i="1" smtClean="0">
                            <a:solidFill>
                              <a:srgbClr val="374151"/>
                            </a:solidFill>
                            <a:latin typeface="Cambria Math" panose="02040503050406030204" pitchFamily="18" charset="0"/>
                          </a:rPr>
                        </m:ctrlPr>
                      </m:sSupPr>
                      <m:e>
                        <m:r>
                          <a:rPr lang="en-US" sz="1400" i="1" smtClean="0">
                            <a:solidFill>
                              <a:srgbClr val="374151"/>
                            </a:solidFill>
                            <a:latin typeface="Cambria Math" panose="02040503050406030204" pitchFamily="18" charset="0"/>
                            <a:ea typeface="Cambria Math" panose="02040503050406030204" pitchFamily="18" charset="0"/>
                          </a:rPr>
                          <m:t>𝛼</m:t>
                        </m:r>
                      </m:e>
                      <m:sup>
                        <m:r>
                          <a:rPr lang="en-US" sz="1400" b="0" i="1" smtClean="0">
                            <a:solidFill>
                              <a:srgbClr val="374151"/>
                            </a:solidFill>
                            <a:latin typeface="Cambria Math" panose="02040503050406030204" pitchFamily="18" charset="0"/>
                          </a:rPr>
                          <m:t>𝐷</m:t>
                        </m:r>
                      </m:sup>
                    </m:sSup>
                    <m:r>
                      <a:rPr lang="en-US" sz="1400" b="0" i="1" smtClean="0">
                        <a:solidFill>
                          <a:srgbClr val="374151"/>
                        </a:solidFill>
                        <a:latin typeface="Cambria Math" panose="02040503050406030204" pitchFamily="18" charset="0"/>
                      </a:rPr>
                      <m:t>.</m:t>
                    </m:r>
                  </m:oMath>
                </a14:m>
                <a:endParaRPr lang="en-US" sz="1400" dirty="0">
                  <a:solidFill>
                    <a:srgbClr val="374151"/>
                  </a:solidFill>
                  <a:latin typeface="Söhne"/>
                </a:endParaRPr>
              </a:p>
            </p:txBody>
          </p:sp>
        </mc:Choice>
        <mc:Fallback xmlns="">
          <p:sp>
            <p:nvSpPr>
              <p:cNvPr id="11" name="TextBox 10">
                <a:extLst>
                  <a:ext uri="{FF2B5EF4-FFF2-40B4-BE49-F238E27FC236}">
                    <a16:creationId xmlns:a16="http://schemas.microsoft.com/office/drawing/2014/main" id="{DF86D427-955B-B5F8-8A02-9DD7CE738928}"/>
                  </a:ext>
                </a:extLst>
              </p:cNvPr>
              <p:cNvSpPr txBox="1">
                <a:spLocks noRot="1" noChangeAspect="1" noMove="1" noResize="1" noEditPoints="1" noAdjustHandles="1" noChangeArrowheads="1" noChangeShapeType="1" noTextEdit="1"/>
              </p:cNvSpPr>
              <p:nvPr/>
            </p:nvSpPr>
            <p:spPr>
              <a:xfrm>
                <a:off x="6746697" y="4768426"/>
                <a:ext cx="3919806" cy="311560"/>
              </a:xfrm>
              <a:prstGeom prst="rect">
                <a:avLst/>
              </a:prstGeom>
              <a:blipFill>
                <a:blip r:embed="rId4"/>
                <a:stretch>
                  <a:fillRect t="-1961" b="-21569"/>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2B33CDFA-8AFF-608B-D4E0-1C56ECE19433}"/>
              </a:ext>
            </a:extLst>
          </p:cNvPr>
          <p:cNvSpPr txBox="1"/>
          <p:nvPr/>
        </p:nvSpPr>
        <p:spPr>
          <a:xfrm>
            <a:off x="435004" y="1048327"/>
            <a:ext cx="5377087" cy="2544286"/>
          </a:xfrm>
          <a:prstGeom prst="rect">
            <a:avLst/>
          </a:prstGeom>
          <a:noFill/>
          <a:ln w="19050">
            <a:solidFill>
              <a:srgbClr val="1C3ECE"/>
            </a:solidFill>
            <a:prstDash val="lgDashDot"/>
          </a:ln>
        </p:spPr>
        <p:txBody>
          <a:bodyPr wrap="square">
            <a:spAutoFit/>
          </a:bodyPr>
          <a:lstStyle/>
          <a:p>
            <a:pPr algn="l">
              <a:spcAft>
                <a:spcPts val="1500"/>
              </a:spcAft>
              <a:buNone/>
            </a:pPr>
            <a:r>
              <a:rPr lang="en-US" sz="1100" b="1" i="0" dirty="0">
                <a:solidFill>
                  <a:srgbClr val="0D47A1"/>
                </a:solidFill>
                <a:effectLst/>
                <a:latin typeface="Söhne"/>
              </a:rPr>
              <a:t>Trade-off Behavior</a:t>
            </a:r>
          </a:p>
          <a:p>
            <a:pPr algn="l">
              <a:spcBef>
                <a:spcPts val="1125"/>
              </a:spcBef>
              <a:spcAft>
                <a:spcPts val="900"/>
              </a:spcAft>
              <a:buNone/>
            </a:pPr>
            <a:r>
              <a:rPr lang="en-US" sz="1100" b="1" i="0" dirty="0">
                <a:solidFill>
                  <a:srgbClr val="E65100"/>
                </a:solidFill>
                <a:effectLst/>
                <a:latin typeface="Söhne"/>
              </a:rPr>
              <a:t>As α</a:t>
            </a:r>
            <a:r>
              <a:rPr lang="en-US" sz="1100" b="1" i="0" baseline="30000" dirty="0">
                <a:solidFill>
                  <a:srgbClr val="E65100"/>
                </a:solidFill>
                <a:effectLst/>
                <a:latin typeface="Söhne"/>
              </a:rPr>
              <a:t>D</a:t>
            </a:r>
            <a:r>
              <a:rPr lang="en-US" sz="1100" b="1" i="0" dirty="0">
                <a:solidFill>
                  <a:srgbClr val="E65100"/>
                </a:solidFill>
                <a:effectLst/>
                <a:latin typeface="Söhne"/>
              </a:rPr>
              <a:t> increases</a:t>
            </a:r>
            <a:r>
              <a:rPr lang="en-US" sz="1100" b="1" dirty="0">
                <a:solidFill>
                  <a:srgbClr val="E65100"/>
                </a:solidFill>
                <a:latin typeface="Söhne"/>
              </a:rPr>
              <a:t>, prioritizing delay</a:t>
            </a:r>
            <a:r>
              <a:rPr lang="en-US" sz="1100" b="1" i="0" dirty="0">
                <a:solidFill>
                  <a:srgbClr val="E65100"/>
                </a:solidFill>
                <a:effectLst/>
                <a:latin typeface="Söhne"/>
              </a:rPr>
              <a:t> (0.2 → 0.8):</a:t>
            </a:r>
          </a:p>
          <a:p>
            <a:pPr algn="l">
              <a:spcBef>
                <a:spcPts val="1125"/>
              </a:spcBef>
              <a:spcAft>
                <a:spcPts val="1125"/>
              </a:spcAft>
              <a:buNone/>
            </a:pPr>
            <a:r>
              <a:rPr lang="en-US" sz="1100" b="1" i="0" dirty="0">
                <a:solidFill>
                  <a:srgbClr val="4CAF50"/>
                </a:solidFill>
                <a:effectLst/>
                <a:latin typeface="Söhne"/>
              </a:rPr>
              <a:t>✓  </a:t>
            </a:r>
            <a:r>
              <a:rPr lang="en-US" sz="1100" b="1" dirty="0">
                <a:solidFill>
                  <a:srgbClr val="1A237E"/>
                </a:solidFill>
                <a:latin typeface="Söhne"/>
              </a:rPr>
              <a:t>Task completion d</a:t>
            </a:r>
            <a:r>
              <a:rPr lang="en-US" sz="1100" b="1" i="0" dirty="0">
                <a:solidFill>
                  <a:srgbClr val="1A237E"/>
                </a:solidFill>
                <a:effectLst/>
                <a:latin typeface="Söhne"/>
              </a:rPr>
              <a:t>elay decreases</a:t>
            </a:r>
            <a:r>
              <a:rPr lang="en-US" sz="1100" b="0" i="0" dirty="0">
                <a:solidFill>
                  <a:srgbClr val="333333"/>
                </a:solidFill>
                <a:effectLst/>
                <a:latin typeface="Söhne"/>
              </a:rPr>
              <a:t> (~11% reduction)</a:t>
            </a:r>
            <a:endParaRPr lang="en-US" sz="1100" b="0" i="0" dirty="0">
              <a:solidFill>
                <a:srgbClr val="000000"/>
              </a:solidFill>
              <a:effectLst/>
              <a:latin typeface="Söhne"/>
            </a:endParaRPr>
          </a:p>
          <a:p>
            <a:pPr algn="l">
              <a:spcBef>
                <a:spcPts val="1125"/>
              </a:spcBef>
              <a:spcAft>
                <a:spcPts val="1125"/>
              </a:spcAft>
              <a:buNone/>
            </a:pPr>
            <a:r>
              <a:rPr lang="en-US" sz="1100" b="1" i="0" dirty="0">
                <a:solidFill>
                  <a:srgbClr val="F44336"/>
                </a:solidFill>
                <a:effectLst/>
                <a:latin typeface="Söhne"/>
              </a:rPr>
              <a:t>✗   </a:t>
            </a:r>
            <a:r>
              <a:rPr lang="en-US" sz="1100" b="1" i="0" dirty="0">
                <a:solidFill>
                  <a:srgbClr val="1A237E"/>
                </a:solidFill>
                <a:effectLst/>
                <a:latin typeface="Söhne"/>
              </a:rPr>
              <a:t>Energy consumption increases</a:t>
            </a:r>
            <a:r>
              <a:rPr lang="en-US" sz="1100" b="0" i="0" dirty="0">
                <a:solidFill>
                  <a:srgbClr val="333333"/>
                </a:solidFill>
                <a:effectLst/>
                <a:latin typeface="Söhne"/>
              </a:rPr>
              <a:t> (~32% increase)</a:t>
            </a:r>
            <a:endParaRPr lang="en-US" sz="1100" b="0" i="0" dirty="0">
              <a:solidFill>
                <a:srgbClr val="000000"/>
              </a:solidFill>
              <a:effectLst/>
              <a:latin typeface="Söhne"/>
            </a:endParaRPr>
          </a:p>
          <a:p>
            <a:pPr algn="l">
              <a:spcBef>
                <a:spcPts val="1125"/>
              </a:spcBef>
              <a:spcAft>
                <a:spcPts val="1125"/>
              </a:spcAft>
              <a:buNone/>
            </a:pPr>
            <a:r>
              <a:rPr lang="en-US" sz="1100" b="1" i="0" dirty="0">
                <a:solidFill>
                  <a:srgbClr val="2196F3"/>
                </a:solidFill>
                <a:effectLst/>
                <a:latin typeface="Söhne"/>
              </a:rPr>
              <a:t>→     </a:t>
            </a:r>
            <a:r>
              <a:rPr lang="en-US" sz="1100" b="0" i="0" dirty="0">
                <a:solidFill>
                  <a:srgbClr val="333333"/>
                </a:solidFill>
                <a:effectLst/>
                <a:latin typeface="Söhne"/>
              </a:rPr>
              <a:t>System prioritizes speed over efficiency</a:t>
            </a:r>
            <a:endParaRPr lang="en-US" sz="1100" b="0" i="0" dirty="0">
              <a:solidFill>
                <a:srgbClr val="000000"/>
              </a:solidFill>
              <a:effectLst/>
              <a:latin typeface="Söhne"/>
            </a:endParaRPr>
          </a:p>
          <a:p>
            <a:pPr algn="l">
              <a:spcBef>
                <a:spcPts val="1125"/>
              </a:spcBef>
              <a:buNone/>
            </a:pPr>
            <a:r>
              <a:rPr lang="en-US" sz="1100" b="1" i="0" dirty="0">
                <a:solidFill>
                  <a:srgbClr val="E65100"/>
                </a:solidFill>
                <a:effectLst/>
                <a:latin typeface="Söhne"/>
              </a:rPr>
              <a:t>Key Insight:</a:t>
            </a:r>
            <a:r>
              <a:rPr lang="en-US" sz="1100" b="0" i="0" dirty="0">
                <a:solidFill>
                  <a:srgbClr val="333333"/>
                </a:solidFill>
                <a:effectLst/>
                <a:latin typeface="Söhne"/>
              </a:rPr>
              <a:t> Adjustable weights allow flexibility for different application needs</a:t>
            </a:r>
          </a:p>
        </p:txBody>
      </p:sp>
      <p:sp>
        <p:nvSpPr>
          <p:cNvPr id="21" name="Decagon 20">
            <a:extLst>
              <a:ext uri="{FF2B5EF4-FFF2-40B4-BE49-F238E27FC236}">
                <a16:creationId xmlns:a16="http://schemas.microsoft.com/office/drawing/2014/main" id="{9F65C223-B493-F874-11B4-9C9C362392C5}"/>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17</a:t>
            </a:r>
            <a:endParaRPr lang="en-US" b="1" dirty="0">
              <a:latin typeface="Söhne"/>
              <a:cs typeface="Times New Roman" panose="02020603050405020304" pitchFamily="18" charset="0"/>
            </a:endParaRPr>
          </a:p>
        </p:txBody>
      </p:sp>
      <p:pic>
        <p:nvPicPr>
          <p:cNvPr id="4" name="Picture 3">
            <a:extLst>
              <a:ext uri="{FF2B5EF4-FFF2-40B4-BE49-F238E27FC236}">
                <a16:creationId xmlns:a16="http://schemas.microsoft.com/office/drawing/2014/main" id="{870634E1-08F7-9188-9EB8-6481856A1D9F}"/>
              </a:ext>
            </a:extLst>
          </p:cNvPr>
          <p:cNvPicPr>
            <a:picLocks noChangeAspect="1"/>
          </p:cNvPicPr>
          <p:nvPr/>
        </p:nvPicPr>
        <p:blipFill>
          <a:blip r:embed="rId5"/>
          <a:stretch>
            <a:fillRect/>
          </a:stretch>
        </p:blipFill>
        <p:spPr>
          <a:xfrm>
            <a:off x="6179606" y="1031922"/>
            <a:ext cx="5053989" cy="3775216"/>
          </a:xfrm>
          <a:prstGeom prst="rect">
            <a:avLst/>
          </a:prstGeom>
        </p:spPr>
      </p:pic>
      <p:sp>
        <p:nvSpPr>
          <p:cNvPr id="2" name="Rectangle: Rounded Corners 1">
            <a:extLst>
              <a:ext uri="{FF2B5EF4-FFF2-40B4-BE49-F238E27FC236}">
                <a16:creationId xmlns:a16="http://schemas.microsoft.com/office/drawing/2014/main" id="{11A0CA3E-50E0-95E3-E094-CD8290F2BFC3}"/>
              </a:ext>
            </a:extLst>
          </p:cNvPr>
          <p:cNvSpPr/>
          <p:nvPr/>
        </p:nvSpPr>
        <p:spPr>
          <a:xfrm>
            <a:off x="435003" y="5474626"/>
            <a:ext cx="11310151" cy="756096"/>
          </a:xfrm>
          <a:prstGeom prst="roundRect">
            <a:avLst>
              <a:gd name="adj" fmla="val 5596"/>
            </a:avLst>
          </a:prstGeom>
          <a:solidFill>
            <a:schemeClr val="bg1"/>
          </a:solidFill>
          <a:ln w="19050">
            <a:solidFill>
              <a:srgbClr val="1C3ECE"/>
            </a:solidFill>
            <a:prstDash val="lgDashDot"/>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1125"/>
              </a:spcAft>
              <a:buNone/>
            </a:pPr>
            <a:r>
              <a:rPr lang="en-US" sz="1200" b="1" i="0" dirty="0">
                <a:solidFill>
                  <a:srgbClr val="00695C"/>
                </a:solidFill>
                <a:effectLst/>
                <a:latin typeface="Söhne"/>
              </a:rPr>
              <a:t>Takeaway</a:t>
            </a:r>
          </a:p>
          <a:p>
            <a:pPr algn="l">
              <a:spcAft>
                <a:spcPts val="900"/>
              </a:spcAft>
              <a:buNone/>
            </a:pPr>
            <a:r>
              <a:rPr lang="en-US" sz="1200" b="1" i="0" dirty="0">
                <a:solidFill>
                  <a:srgbClr val="00695C"/>
                </a:solidFill>
                <a:effectLst/>
                <a:latin typeface="Söhne"/>
              </a:rPr>
              <a:t>PTORA adapts to different scenarios</a:t>
            </a:r>
            <a:r>
              <a:rPr lang="en-US" sz="1200" b="0" i="0" dirty="0">
                <a:solidFill>
                  <a:srgbClr val="333333"/>
                </a:solidFill>
                <a:effectLst/>
                <a:latin typeface="Söhne"/>
              </a:rPr>
              <a:t> by adjusting weight coefficients.</a:t>
            </a:r>
          </a:p>
        </p:txBody>
      </p:sp>
      <p:sp>
        <p:nvSpPr>
          <p:cNvPr id="12" name="TextBox 11">
            <a:extLst>
              <a:ext uri="{FF2B5EF4-FFF2-40B4-BE49-F238E27FC236}">
                <a16:creationId xmlns:a16="http://schemas.microsoft.com/office/drawing/2014/main" id="{3257C551-E14D-75A5-9D12-F044B896953E}"/>
              </a:ext>
            </a:extLst>
          </p:cNvPr>
          <p:cNvSpPr txBox="1"/>
          <p:nvPr/>
        </p:nvSpPr>
        <p:spPr>
          <a:xfrm>
            <a:off x="3069022" y="4051257"/>
            <a:ext cx="2600321" cy="984885"/>
          </a:xfrm>
          <a:prstGeom prst="rect">
            <a:avLst/>
          </a:prstGeom>
          <a:noFill/>
        </p:spPr>
        <p:txBody>
          <a:bodyPr wrap="square">
            <a:spAutoFit/>
          </a:bodyPr>
          <a:lstStyle/>
          <a:p>
            <a:pPr algn="l">
              <a:spcAft>
                <a:spcPts val="1500"/>
              </a:spcAft>
              <a:buNone/>
            </a:pPr>
            <a:r>
              <a:rPr lang="en-US" sz="1100" b="1" i="0" dirty="0">
                <a:solidFill>
                  <a:srgbClr val="1B5E20"/>
                </a:solidFill>
                <a:effectLst/>
                <a:latin typeface="Söhne"/>
              </a:rPr>
              <a:t>N = 2 terminals</a:t>
            </a:r>
          </a:p>
          <a:p>
            <a:pPr marL="171450" indent="-171450" algn="l">
              <a:spcAft>
                <a:spcPts val="1500"/>
              </a:spcAft>
              <a:buFont typeface="Wingdings" panose="05000000000000000000" pitchFamily="2" charset="2"/>
              <a:buChar char="§"/>
            </a:pPr>
            <a:r>
              <a:rPr lang="en-US" sz="1100" b="1" i="0" dirty="0">
                <a:solidFill>
                  <a:srgbClr val="2E7D32"/>
                </a:solidFill>
                <a:effectLst/>
                <a:latin typeface="Söhne"/>
              </a:rPr>
              <a:t>Delay:</a:t>
            </a:r>
            <a:r>
              <a:rPr lang="en-US" sz="1100" b="0" i="0" dirty="0">
                <a:solidFill>
                  <a:srgbClr val="333333"/>
                </a:solidFill>
                <a:effectLst/>
                <a:latin typeface="Söhne"/>
              </a:rPr>
              <a:t> 0.33s - 0.37s </a:t>
            </a:r>
          </a:p>
          <a:p>
            <a:pPr marL="171450" indent="-171450" algn="l">
              <a:spcAft>
                <a:spcPts val="1500"/>
              </a:spcAft>
              <a:buFont typeface="Wingdings" panose="05000000000000000000" pitchFamily="2" charset="2"/>
              <a:buChar char="§"/>
            </a:pPr>
            <a:r>
              <a:rPr lang="en-US" sz="1100" b="1" i="0" dirty="0">
                <a:solidFill>
                  <a:srgbClr val="2E7D32"/>
                </a:solidFill>
                <a:effectLst/>
                <a:latin typeface="Söhne"/>
              </a:rPr>
              <a:t>Energy:</a:t>
            </a:r>
            <a:r>
              <a:rPr lang="en-US" sz="1100" b="0" i="0" dirty="0">
                <a:solidFill>
                  <a:srgbClr val="333333"/>
                </a:solidFill>
                <a:effectLst/>
                <a:latin typeface="Söhne"/>
              </a:rPr>
              <a:t> 0.26J - 0.35J</a:t>
            </a:r>
          </a:p>
        </p:txBody>
      </p:sp>
      <p:sp>
        <p:nvSpPr>
          <p:cNvPr id="15" name="TextBox 14">
            <a:extLst>
              <a:ext uri="{FF2B5EF4-FFF2-40B4-BE49-F238E27FC236}">
                <a16:creationId xmlns:a16="http://schemas.microsoft.com/office/drawing/2014/main" id="{749F954D-7255-5F92-DC13-08EE1A1BBBDE}"/>
              </a:ext>
            </a:extLst>
          </p:cNvPr>
          <p:cNvSpPr txBox="1"/>
          <p:nvPr/>
        </p:nvSpPr>
        <p:spPr>
          <a:xfrm>
            <a:off x="484069" y="4029041"/>
            <a:ext cx="2345453" cy="984885"/>
          </a:xfrm>
          <a:prstGeom prst="rect">
            <a:avLst/>
          </a:prstGeom>
          <a:noFill/>
        </p:spPr>
        <p:txBody>
          <a:bodyPr wrap="square">
            <a:spAutoFit/>
          </a:bodyPr>
          <a:lstStyle/>
          <a:p>
            <a:pPr>
              <a:spcAft>
                <a:spcPts val="1500"/>
              </a:spcAft>
              <a:buNone/>
            </a:pPr>
            <a:r>
              <a:rPr lang="en-US" sz="1100" b="1" i="0" dirty="0">
                <a:solidFill>
                  <a:srgbClr val="1B5E20"/>
                </a:solidFill>
                <a:effectLst/>
                <a:latin typeface="Söhne"/>
              </a:rPr>
              <a:t>N = 5 terminals</a:t>
            </a:r>
          </a:p>
          <a:p>
            <a:pPr marL="171450" indent="-171450" algn="l">
              <a:spcAft>
                <a:spcPts val="1500"/>
              </a:spcAft>
              <a:buFont typeface="Wingdings" panose="05000000000000000000" pitchFamily="2" charset="2"/>
              <a:buChar char="§"/>
            </a:pPr>
            <a:r>
              <a:rPr lang="en-US" sz="1100" b="1" i="0" dirty="0">
                <a:solidFill>
                  <a:srgbClr val="2E7D32"/>
                </a:solidFill>
                <a:effectLst/>
                <a:latin typeface="Söhne"/>
              </a:rPr>
              <a:t>Delay:</a:t>
            </a:r>
            <a:r>
              <a:rPr lang="en-US" sz="1100" b="0" i="0" dirty="0">
                <a:solidFill>
                  <a:srgbClr val="333333"/>
                </a:solidFill>
                <a:effectLst/>
                <a:latin typeface="Söhne"/>
              </a:rPr>
              <a:t> 0.34s - 0.38s </a:t>
            </a:r>
            <a:r>
              <a:rPr lang="en-US" sz="1100" b="0" i="0" dirty="0">
                <a:solidFill>
                  <a:srgbClr val="F44336"/>
                </a:solidFill>
                <a:effectLst/>
                <a:latin typeface="Söhne"/>
              </a:rPr>
              <a:t>(+3%)</a:t>
            </a:r>
            <a:endParaRPr lang="en-US" sz="1100" b="0" i="0" dirty="0">
              <a:solidFill>
                <a:srgbClr val="333333"/>
              </a:solidFill>
              <a:effectLst/>
              <a:latin typeface="Söhne"/>
            </a:endParaRPr>
          </a:p>
          <a:p>
            <a:pPr marL="171450" indent="-171450" algn="l">
              <a:spcAft>
                <a:spcPts val="1500"/>
              </a:spcAft>
              <a:buFont typeface="Wingdings" panose="05000000000000000000" pitchFamily="2" charset="2"/>
              <a:buChar char="§"/>
            </a:pPr>
            <a:r>
              <a:rPr lang="en-US" sz="1100" b="1" i="0" dirty="0">
                <a:solidFill>
                  <a:srgbClr val="2E7D32"/>
                </a:solidFill>
                <a:effectLst/>
                <a:latin typeface="Söhne"/>
              </a:rPr>
              <a:t>Energy:</a:t>
            </a:r>
            <a:r>
              <a:rPr lang="en-US" sz="1100" b="0" i="0" dirty="0">
                <a:solidFill>
                  <a:srgbClr val="333333"/>
                </a:solidFill>
                <a:effectLst/>
                <a:latin typeface="Söhne"/>
              </a:rPr>
              <a:t> 0.28J - 0.38J </a:t>
            </a:r>
            <a:r>
              <a:rPr lang="en-US" sz="1100" b="0" i="0" dirty="0">
                <a:solidFill>
                  <a:srgbClr val="F44336"/>
                </a:solidFill>
                <a:effectLst/>
                <a:latin typeface="Söhne"/>
              </a:rPr>
              <a:t>(+8%)</a:t>
            </a:r>
            <a:endParaRPr lang="en-US" sz="1100" dirty="0">
              <a:solidFill>
                <a:srgbClr val="333333"/>
              </a:solidFill>
              <a:latin typeface="Söhne"/>
            </a:endParaRPr>
          </a:p>
        </p:txBody>
      </p:sp>
      <p:sp>
        <p:nvSpPr>
          <p:cNvPr id="19" name="Rectangle 18">
            <a:extLst>
              <a:ext uri="{FF2B5EF4-FFF2-40B4-BE49-F238E27FC236}">
                <a16:creationId xmlns:a16="http://schemas.microsoft.com/office/drawing/2014/main" id="{BD3ABC04-6903-46B6-A0A3-2D2E5A1AD8F5}"/>
              </a:ext>
            </a:extLst>
          </p:cNvPr>
          <p:cNvSpPr/>
          <p:nvPr/>
        </p:nvSpPr>
        <p:spPr>
          <a:xfrm>
            <a:off x="435004" y="3711885"/>
            <a:ext cx="5377087" cy="1610000"/>
          </a:xfrm>
          <a:prstGeom prst="rect">
            <a:avLst/>
          </a:prstGeom>
          <a:noFill/>
          <a:ln w="19050">
            <a:solidFill>
              <a:srgbClr val="1C3ECE"/>
            </a:solidFill>
            <a:prstDash val="lg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noFill/>
              <a:latin typeface="Söhne"/>
            </a:endParaRPr>
          </a:p>
        </p:txBody>
      </p:sp>
      <p:sp>
        <p:nvSpPr>
          <p:cNvPr id="24" name="TextBox 23">
            <a:extLst>
              <a:ext uri="{FF2B5EF4-FFF2-40B4-BE49-F238E27FC236}">
                <a16:creationId xmlns:a16="http://schemas.microsoft.com/office/drawing/2014/main" id="{8DAAFD33-26FF-CF07-0AA8-203621AABEC8}"/>
              </a:ext>
            </a:extLst>
          </p:cNvPr>
          <p:cNvSpPr txBox="1"/>
          <p:nvPr/>
        </p:nvSpPr>
        <p:spPr>
          <a:xfrm>
            <a:off x="298403" y="5046156"/>
            <a:ext cx="5062238" cy="261610"/>
          </a:xfrm>
          <a:prstGeom prst="rect">
            <a:avLst/>
          </a:prstGeom>
          <a:noFill/>
        </p:spPr>
        <p:txBody>
          <a:bodyPr wrap="square">
            <a:spAutoFit/>
          </a:bodyPr>
          <a:lstStyle/>
          <a:p>
            <a:pPr algn="ctr"/>
            <a:r>
              <a:rPr lang="en-US" sz="1100" b="1" i="0" dirty="0">
                <a:solidFill>
                  <a:srgbClr val="0D47A1"/>
                </a:solidFill>
                <a:effectLst/>
                <a:latin typeface="Söhne"/>
              </a:rPr>
              <a:t>→ More users = Higher system complexity and resource contention</a:t>
            </a:r>
            <a:endParaRPr lang="en-US" sz="1100" dirty="0">
              <a:latin typeface="Söhne"/>
            </a:endParaRPr>
          </a:p>
        </p:txBody>
      </p:sp>
      <p:sp>
        <p:nvSpPr>
          <p:cNvPr id="5" name="TextBox 4">
            <a:extLst>
              <a:ext uri="{FF2B5EF4-FFF2-40B4-BE49-F238E27FC236}">
                <a16:creationId xmlns:a16="http://schemas.microsoft.com/office/drawing/2014/main" id="{A394AE48-90DC-3670-1D4A-124C47875AE7}"/>
              </a:ext>
            </a:extLst>
          </p:cNvPr>
          <p:cNvSpPr txBox="1"/>
          <p:nvPr/>
        </p:nvSpPr>
        <p:spPr>
          <a:xfrm>
            <a:off x="435003" y="3728423"/>
            <a:ext cx="1709390" cy="261610"/>
          </a:xfrm>
          <a:prstGeom prst="rect">
            <a:avLst/>
          </a:prstGeom>
          <a:noFill/>
        </p:spPr>
        <p:txBody>
          <a:bodyPr wrap="square">
            <a:spAutoFit/>
          </a:bodyPr>
          <a:lstStyle/>
          <a:p>
            <a:pPr algn="ctr"/>
            <a:r>
              <a:rPr lang="en-US" sz="1100" b="1" i="0" dirty="0">
                <a:solidFill>
                  <a:srgbClr val="0D47A1"/>
                </a:solidFill>
                <a:effectLst/>
                <a:latin typeface="Söhne"/>
              </a:rPr>
              <a:t>Impact of Terminal Count</a:t>
            </a:r>
            <a:endParaRPr lang="en-US" sz="1100" dirty="0">
              <a:latin typeface="Söhne"/>
            </a:endParaRPr>
          </a:p>
        </p:txBody>
      </p:sp>
    </p:spTree>
    <p:extLst>
      <p:ext uri="{BB962C8B-B14F-4D97-AF65-F5344CB8AC3E}">
        <p14:creationId xmlns:p14="http://schemas.microsoft.com/office/powerpoint/2010/main" val="3660191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3F54049-5DC2-40F1-9351-0A66984A74B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9AEBC0AC-F6CF-44A3-9366-36E52F140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83853BC0-C275-4A94-960F-EF164693EFE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0AB2F05-2712-497E-BA80-CB5D5CBE9E6F}"/>
              </a:ext>
            </a:extLst>
          </p:cNvPr>
          <p:cNvSpPr txBox="1"/>
          <p:nvPr/>
        </p:nvSpPr>
        <p:spPr>
          <a:xfrm>
            <a:off x="596914" y="338293"/>
            <a:ext cx="2516458" cy="584775"/>
          </a:xfrm>
          <a:prstGeom prst="rect">
            <a:avLst/>
          </a:prstGeom>
          <a:noFill/>
        </p:spPr>
        <p:txBody>
          <a:bodyPr wrap="none" rtlCol="0">
            <a:spAutoFit/>
          </a:bodyPr>
          <a:lstStyle/>
          <a:p>
            <a:pPr algn="just"/>
            <a:r>
              <a:rPr lang="en-US" sz="3200" b="1" dirty="0">
                <a:solidFill>
                  <a:srgbClr val="0070C0"/>
                </a:solidFill>
                <a:latin typeface="Söhne"/>
              </a:rPr>
              <a:t>Contributions</a:t>
            </a:r>
            <a:endParaRPr lang="en-GB" sz="3200" b="1" dirty="0">
              <a:solidFill>
                <a:srgbClr val="0070C0"/>
              </a:solidFill>
              <a:latin typeface="Söhne"/>
            </a:endParaRPr>
          </a:p>
        </p:txBody>
      </p:sp>
      <p:sp>
        <p:nvSpPr>
          <p:cNvPr id="44" name="TextBox 43">
            <a:extLst>
              <a:ext uri="{FF2B5EF4-FFF2-40B4-BE49-F238E27FC236}">
                <a16:creationId xmlns:a16="http://schemas.microsoft.com/office/drawing/2014/main" id="{70B1970D-D893-47A1-8437-FC8C4EF3A9B4}"/>
              </a:ext>
            </a:extLst>
          </p:cNvPr>
          <p:cNvSpPr txBox="1"/>
          <p:nvPr/>
        </p:nvSpPr>
        <p:spPr>
          <a:xfrm>
            <a:off x="596925" y="1220834"/>
            <a:ext cx="11077549" cy="584775"/>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just">
              <a:spcAft>
                <a:spcPts val="750"/>
              </a:spcAft>
              <a:buNone/>
            </a:pPr>
            <a:r>
              <a:rPr lang="en-US" sz="1600" b="1" i="0" dirty="0">
                <a:solidFill>
                  <a:schemeClr val="tx1"/>
                </a:solidFill>
                <a:effectLst/>
                <a:latin typeface="Segoe UI" panose="020B0502040204020203" pitchFamily="34" charset="0"/>
              </a:rPr>
              <a:t>1. Comprehensive System Model: </a:t>
            </a:r>
            <a:r>
              <a:rPr lang="en-US" sz="1600" b="0" i="0" dirty="0">
                <a:solidFill>
                  <a:schemeClr val="tx1"/>
                </a:solidFill>
                <a:effectLst/>
                <a:latin typeface="Segoe UI" panose="020B0502040204020203" pitchFamily="34" charset="0"/>
              </a:rPr>
              <a:t>First work to jointly consider inter-user task dependencies, terminal mobility, and time-varying channels using DAG structure</a:t>
            </a:r>
          </a:p>
        </p:txBody>
      </p:sp>
      <p:sp>
        <p:nvSpPr>
          <p:cNvPr id="46" name="TextBox 45">
            <a:extLst>
              <a:ext uri="{FF2B5EF4-FFF2-40B4-BE49-F238E27FC236}">
                <a16:creationId xmlns:a16="http://schemas.microsoft.com/office/drawing/2014/main" id="{E6D19242-4824-4B95-B9C9-2C463CE3C233}"/>
              </a:ext>
            </a:extLst>
          </p:cNvPr>
          <p:cNvSpPr txBox="1"/>
          <p:nvPr/>
        </p:nvSpPr>
        <p:spPr>
          <a:xfrm>
            <a:off x="596914" y="2232805"/>
            <a:ext cx="11077549" cy="584775"/>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just">
              <a:spcAft>
                <a:spcPts val="750"/>
              </a:spcAft>
              <a:buNone/>
            </a:pPr>
            <a:r>
              <a:rPr lang="en-US" sz="1600" b="1" i="0" dirty="0">
                <a:solidFill>
                  <a:srgbClr val="0A2342"/>
                </a:solidFill>
                <a:effectLst/>
                <a:latin typeface="Segoe UI" panose="020B0502040204020203" pitchFamily="34" charset="0"/>
              </a:rPr>
              <a:t>2. Novel Cost Formulation: </a:t>
            </a:r>
            <a:r>
              <a:rPr lang="en-US" sz="1600" b="0" i="0" dirty="0">
                <a:solidFill>
                  <a:schemeClr val="tx1"/>
                </a:solidFill>
                <a:effectLst/>
                <a:latin typeface="Segoe UI" panose="020B0502040204020203" pitchFamily="34" charset="0"/>
              </a:rPr>
              <a:t>Delay-energy weighted cost model with base costs and dependency costs, accounting for VM interference and parallel execution</a:t>
            </a:r>
          </a:p>
        </p:txBody>
      </p:sp>
      <p:sp>
        <p:nvSpPr>
          <p:cNvPr id="11" name="TextBox 10">
            <a:extLst>
              <a:ext uri="{FF2B5EF4-FFF2-40B4-BE49-F238E27FC236}">
                <a16:creationId xmlns:a16="http://schemas.microsoft.com/office/drawing/2014/main" id="{ABC56EE3-1685-4ED0-9339-7AC836E90484}"/>
              </a:ext>
            </a:extLst>
          </p:cNvPr>
          <p:cNvSpPr txBox="1"/>
          <p:nvPr/>
        </p:nvSpPr>
        <p:spPr>
          <a:xfrm>
            <a:off x="596918" y="3254220"/>
            <a:ext cx="11077545" cy="584775"/>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just">
              <a:spcAft>
                <a:spcPts val="750"/>
              </a:spcAft>
              <a:buNone/>
            </a:pPr>
            <a:r>
              <a:rPr lang="en-US" sz="1600" b="1" i="0" dirty="0">
                <a:solidFill>
                  <a:srgbClr val="0A2342"/>
                </a:solidFill>
                <a:effectLst/>
                <a:latin typeface="Segoe UI" panose="020B0502040204020203" pitchFamily="34" charset="0"/>
              </a:rPr>
              <a:t>3. PTORA Algorithm: </a:t>
            </a:r>
            <a:r>
              <a:rPr lang="en-US" sz="1600" b="0" i="0" dirty="0">
                <a:solidFill>
                  <a:schemeClr val="tx1"/>
                </a:solidFill>
                <a:effectLst/>
                <a:latin typeface="Segoe UI" panose="020B0502040204020203" pitchFamily="34" charset="0"/>
              </a:rPr>
              <a:t>Deep RL solution with execution window partitioning, DDQN-based offloading, and JSATC resource allocation for long-term optimization</a:t>
            </a:r>
          </a:p>
        </p:txBody>
      </p:sp>
      <p:pic>
        <p:nvPicPr>
          <p:cNvPr id="13" name="Picture 12" descr="Logo&#10;&#10;Description automatically generated">
            <a:extLst>
              <a:ext uri="{FF2B5EF4-FFF2-40B4-BE49-F238E27FC236}">
                <a16:creationId xmlns:a16="http://schemas.microsoft.com/office/drawing/2014/main" id="{A52E95CA-66FF-4531-A3A5-F544B3144C0C}"/>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3" name="TextBox 2">
            <a:extLst>
              <a:ext uri="{FF2B5EF4-FFF2-40B4-BE49-F238E27FC236}">
                <a16:creationId xmlns:a16="http://schemas.microsoft.com/office/drawing/2014/main" id="{0AE7C804-C7EA-0B9B-6C46-D1F7FBE8F41E}"/>
              </a:ext>
            </a:extLst>
          </p:cNvPr>
          <p:cNvSpPr txBox="1"/>
          <p:nvPr/>
        </p:nvSpPr>
        <p:spPr>
          <a:xfrm>
            <a:off x="596918" y="4242623"/>
            <a:ext cx="11077545" cy="584775"/>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just">
              <a:spcAft>
                <a:spcPts val="750"/>
              </a:spcAft>
              <a:buNone/>
            </a:pPr>
            <a:r>
              <a:rPr lang="en-US" sz="1600" b="1" i="0" dirty="0">
                <a:solidFill>
                  <a:srgbClr val="0A2342"/>
                </a:solidFill>
                <a:effectLst/>
                <a:latin typeface="Segoe UI" panose="020B0502040204020203" pitchFamily="34" charset="0"/>
              </a:rPr>
              <a:t>4. Superior Performance: </a:t>
            </a:r>
            <a:r>
              <a:rPr lang="en-US" sz="1600" b="0" i="0" dirty="0">
                <a:solidFill>
                  <a:schemeClr val="tx1"/>
                </a:solidFill>
                <a:effectLst/>
                <a:latin typeface="Segoe UI" panose="020B0502040204020203" pitchFamily="34" charset="0"/>
              </a:rPr>
              <a:t>Comprehensive simulations demonstrate PTORA outperforms GA, OCP, and Random baselines with validated adaptability across scenarios</a:t>
            </a:r>
          </a:p>
        </p:txBody>
      </p:sp>
      <p:sp>
        <p:nvSpPr>
          <p:cNvPr id="2" name="Rectangle 1">
            <a:extLst>
              <a:ext uri="{FF2B5EF4-FFF2-40B4-BE49-F238E27FC236}">
                <a16:creationId xmlns:a16="http://schemas.microsoft.com/office/drawing/2014/main" id="{46EB3B29-4F92-8917-F584-E63AFA89EA81}"/>
              </a:ext>
            </a:extLst>
          </p:cNvPr>
          <p:cNvSpPr/>
          <p:nvPr/>
        </p:nvSpPr>
        <p:spPr>
          <a:xfrm>
            <a:off x="596919" y="5169193"/>
            <a:ext cx="11077545" cy="835294"/>
          </a:xfrm>
          <a:prstGeom prst="rect">
            <a:avLst/>
          </a:prstGeom>
          <a:solidFill>
            <a:srgbClr val="85EE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400" b="1" i="0" dirty="0">
                <a:solidFill>
                  <a:srgbClr val="0A2342"/>
                </a:solidFill>
                <a:effectLst/>
                <a:latin typeface="Segoe UI" panose="020B0502040204020203" pitchFamily="34" charset="0"/>
              </a:rPr>
              <a:t>Impact: This work enables fully autonomous, zero-touch MEC network management for next-generation applications</a:t>
            </a:r>
            <a:endParaRPr lang="en-US" sz="1400" b="1" i="0" dirty="0">
              <a:solidFill>
                <a:schemeClr val="tx1"/>
              </a:solidFill>
              <a:effectLst/>
              <a:latin typeface="Söhne"/>
            </a:endParaRPr>
          </a:p>
        </p:txBody>
      </p:sp>
      <p:sp>
        <p:nvSpPr>
          <p:cNvPr id="7" name="Decagon 6">
            <a:extLst>
              <a:ext uri="{FF2B5EF4-FFF2-40B4-BE49-F238E27FC236}">
                <a16:creationId xmlns:a16="http://schemas.microsoft.com/office/drawing/2014/main" id="{772FE0C2-5D6B-6311-CBAC-9501DAF69970}"/>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18</a:t>
            </a:r>
            <a:endParaRPr lang="en-US" b="1" dirty="0">
              <a:latin typeface="Söhne"/>
              <a:cs typeface="Times New Roman" panose="02020603050405020304" pitchFamily="18" charset="0"/>
            </a:endParaRPr>
          </a:p>
        </p:txBody>
      </p:sp>
    </p:spTree>
    <p:extLst>
      <p:ext uri="{BB962C8B-B14F-4D97-AF65-F5344CB8AC3E}">
        <p14:creationId xmlns:p14="http://schemas.microsoft.com/office/powerpoint/2010/main" val="3958582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1000"/>
                                        <p:tgtEl>
                                          <p:spTgt spid="44"/>
                                        </p:tgtEl>
                                      </p:cBhvr>
                                    </p:animEffect>
                                    <p:anim calcmode="lin" valueType="num">
                                      <p:cBhvr>
                                        <p:cTn id="8" dur="1000" fill="hold"/>
                                        <p:tgtEl>
                                          <p:spTgt spid="44"/>
                                        </p:tgtEl>
                                        <p:attrNameLst>
                                          <p:attrName>ppt_x</p:attrName>
                                        </p:attrNameLst>
                                      </p:cBhvr>
                                      <p:tavLst>
                                        <p:tav tm="0">
                                          <p:val>
                                            <p:strVal val="#ppt_x"/>
                                          </p:val>
                                        </p:tav>
                                        <p:tav tm="100000">
                                          <p:val>
                                            <p:strVal val="#ppt_x"/>
                                          </p:val>
                                        </p:tav>
                                      </p:tavLst>
                                    </p:anim>
                                    <p:anim calcmode="lin" valueType="num">
                                      <p:cBhvr>
                                        <p:cTn id="9"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fade">
                                      <p:cBhvr>
                                        <p:cTn id="14" dur="1000"/>
                                        <p:tgtEl>
                                          <p:spTgt spid="46"/>
                                        </p:tgtEl>
                                      </p:cBhvr>
                                    </p:animEffect>
                                    <p:anim calcmode="lin" valueType="num">
                                      <p:cBhvr>
                                        <p:cTn id="15" dur="1000" fill="hold"/>
                                        <p:tgtEl>
                                          <p:spTgt spid="46"/>
                                        </p:tgtEl>
                                        <p:attrNameLst>
                                          <p:attrName>ppt_x</p:attrName>
                                        </p:attrNameLst>
                                      </p:cBhvr>
                                      <p:tavLst>
                                        <p:tav tm="0">
                                          <p:val>
                                            <p:strVal val="#ppt_x"/>
                                          </p:val>
                                        </p:tav>
                                        <p:tav tm="100000">
                                          <p:val>
                                            <p:strVal val="#ppt_x"/>
                                          </p:val>
                                        </p:tav>
                                      </p:tavLst>
                                    </p:anim>
                                    <p:anim calcmode="lin" valueType="num">
                                      <p:cBhvr>
                                        <p:cTn id="16"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fade">
                                      <p:cBhvr>
                                        <p:cTn id="35" dur="1000"/>
                                        <p:tgtEl>
                                          <p:spTgt spid="2"/>
                                        </p:tgtEl>
                                      </p:cBhvr>
                                    </p:animEffect>
                                    <p:anim calcmode="lin" valueType="num">
                                      <p:cBhvr>
                                        <p:cTn id="36" dur="1000" fill="hold"/>
                                        <p:tgtEl>
                                          <p:spTgt spid="2"/>
                                        </p:tgtEl>
                                        <p:attrNameLst>
                                          <p:attrName>ppt_x</p:attrName>
                                        </p:attrNameLst>
                                      </p:cBhvr>
                                      <p:tavLst>
                                        <p:tav tm="0">
                                          <p:val>
                                            <p:strVal val="#ppt_x"/>
                                          </p:val>
                                        </p:tav>
                                        <p:tav tm="100000">
                                          <p:val>
                                            <p:strVal val="#ppt_x"/>
                                          </p:val>
                                        </p:tav>
                                      </p:tavLst>
                                    </p:anim>
                                    <p:anim calcmode="lin" valueType="num">
                                      <p:cBhvr>
                                        <p:cTn id="37"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6" grpId="0" animBg="1"/>
      <p:bldP spid="11" grpId="0" animBg="1"/>
      <p:bldP spid="3" grpId="0" animBg="1"/>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A2B6-9551-0D24-83BB-EBAAB08B4CE6}"/>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EF06BA6-E94F-97D5-4943-BE8A597F6262}"/>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246E6A44-9B69-BE29-0299-852C2D017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E72E41CD-9513-DE39-2FA5-05C5A4B217F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A1EE463-0A29-E895-532F-B77AF174CB9A}"/>
              </a:ext>
            </a:extLst>
          </p:cNvPr>
          <p:cNvSpPr txBox="1"/>
          <p:nvPr/>
        </p:nvSpPr>
        <p:spPr>
          <a:xfrm>
            <a:off x="550276" y="300479"/>
            <a:ext cx="2001830" cy="584775"/>
          </a:xfrm>
          <a:prstGeom prst="rect">
            <a:avLst/>
          </a:prstGeom>
          <a:noFill/>
        </p:spPr>
        <p:txBody>
          <a:bodyPr wrap="none" rtlCol="0">
            <a:spAutoFit/>
          </a:bodyPr>
          <a:lstStyle/>
          <a:p>
            <a:pPr algn="just"/>
            <a:r>
              <a:rPr lang="en-US" sz="3200" b="1" dirty="0">
                <a:solidFill>
                  <a:srgbClr val="0070C0"/>
                </a:solidFill>
                <a:latin typeface="Söhne"/>
              </a:rPr>
              <a:t>Takeaways</a:t>
            </a:r>
            <a:endParaRPr lang="en-GB" sz="3200" b="1" dirty="0">
              <a:solidFill>
                <a:srgbClr val="0070C0"/>
              </a:solidFill>
              <a:latin typeface="Söhne"/>
            </a:endParaRPr>
          </a:p>
        </p:txBody>
      </p:sp>
      <p:pic>
        <p:nvPicPr>
          <p:cNvPr id="13" name="Picture 12" descr="Logo&#10;&#10;Description automatically generated">
            <a:extLst>
              <a:ext uri="{FF2B5EF4-FFF2-40B4-BE49-F238E27FC236}">
                <a16:creationId xmlns:a16="http://schemas.microsoft.com/office/drawing/2014/main" id="{A4AC7701-E9D3-C4BD-9478-6A01E57DF84A}"/>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7" name="Rectangle 6">
            <a:extLst>
              <a:ext uri="{FF2B5EF4-FFF2-40B4-BE49-F238E27FC236}">
                <a16:creationId xmlns:a16="http://schemas.microsoft.com/office/drawing/2014/main" id="{580D1DA3-CBF5-92A6-E2FA-BEA11C1A30B5}"/>
              </a:ext>
            </a:extLst>
          </p:cNvPr>
          <p:cNvSpPr/>
          <p:nvPr/>
        </p:nvSpPr>
        <p:spPr>
          <a:xfrm>
            <a:off x="435005" y="1087809"/>
            <a:ext cx="11310152" cy="5039613"/>
          </a:xfrm>
          <a:prstGeom prst="rect">
            <a:avLst/>
          </a:prstGeom>
          <a:solidFill>
            <a:srgbClr val="F8F9FA"/>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Söhne"/>
            </a:endParaRPr>
          </a:p>
        </p:txBody>
      </p:sp>
      <p:sp>
        <p:nvSpPr>
          <p:cNvPr id="10" name="Rectangle: Rounded Corners 9">
            <a:extLst>
              <a:ext uri="{FF2B5EF4-FFF2-40B4-BE49-F238E27FC236}">
                <a16:creationId xmlns:a16="http://schemas.microsoft.com/office/drawing/2014/main" id="{B66A2B46-F531-302B-7F80-04D0A0C1219A}"/>
              </a:ext>
            </a:extLst>
          </p:cNvPr>
          <p:cNvSpPr/>
          <p:nvPr/>
        </p:nvSpPr>
        <p:spPr>
          <a:xfrm>
            <a:off x="550276" y="1165628"/>
            <a:ext cx="11008446" cy="766358"/>
          </a:xfrm>
          <a:prstGeom prst="roundRect">
            <a:avLst>
              <a:gd name="adj" fmla="val 5596"/>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1. Complex Problem, Elegant Solution</a:t>
            </a:r>
            <a:br>
              <a:rPr lang="en-US" sz="1400" dirty="0"/>
            </a:br>
            <a:r>
              <a:rPr lang="en-US" sz="1400" i="0" dirty="0">
                <a:solidFill>
                  <a:srgbClr val="0A2342"/>
                </a:solidFill>
                <a:effectLst/>
                <a:latin typeface="Segoe UI" panose="020B0502040204020203" pitchFamily="34" charset="0"/>
              </a:rPr>
              <a:t>Inter-user dependencies + mobility + dynamics → PTORA with execution window partitioning</a:t>
            </a:r>
            <a:endParaRPr lang="en-US" dirty="0">
              <a:solidFill>
                <a:schemeClr val="tx1"/>
              </a:solidFill>
              <a:latin typeface="Söhne"/>
            </a:endParaRPr>
          </a:p>
        </p:txBody>
      </p:sp>
      <p:sp>
        <p:nvSpPr>
          <p:cNvPr id="3" name="Decagon 2">
            <a:extLst>
              <a:ext uri="{FF2B5EF4-FFF2-40B4-BE49-F238E27FC236}">
                <a16:creationId xmlns:a16="http://schemas.microsoft.com/office/drawing/2014/main" id="{1B9F983D-99DF-F4AE-3528-8BB617875C2E}"/>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19</a:t>
            </a:r>
            <a:endParaRPr lang="en-US" b="1" dirty="0">
              <a:latin typeface="Söhne"/>
              <a:cs typeface="Times New Roman" panose="02020603050405020304" pitchFamily="18" charset="0"/>
            </a:endParaRPr>
          </a:p>
        </p:txBody>
      </p:sp>
      <p:sp>
        <p:nvSpPr>
          <p:cNvPr id="4" name="Rectangle: Rounded Corners 3">
            <a:extLst>
              <a:ext uri="{FF2B5EF4-FFF2-40B4-BE49-F238E27FC236}">
                <a16:creationId xmlns:a16="http://schemas.microsoft.com/office/drawing/2014/main" id="{3EB61B27-DD24-BFAB-26C6-1A1FEE5C6A24}"/>
              </a:ext>
            </a:extLst>
          </p:cNvPr>
          <p:cNvSpPr/>
          <p:nvPr/>
        </p:nvSpPr>
        <p:spPr>
          <a:xfrm>
            <a:off x="550276" y="2108724"/>
            <a:ext cx="11008446" cy="766358"/>
          </a:xfrm>
          <a:prstGeom prst="roundRect">
            <a:avLst>
              <a:gd name="adj" fmla="val 5596"/>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2. Deep Reinforcement Learning Works</a:t>
            </a:r>
            <a:br>
              <a:rPr lang="en-US" sz="1400" dirty="0"/>
            </a:br>
            <a:r>
              <a:rPr lang="en-US" sz="1400" i="0" dirty="0">
                <a:solidFill>
                  <a:srgbClr val="0A2342"/>
                </a:solidFill>
                <a:effectLst/>
                <a:latin typeface="Segoe UI" panose="020B0502040204020203" pitchFamily="34" charset="0"/>
              </a:rPr>
              <a:t>DDQN-based approach achieves long-term optimization without prior knowledge</a:t>
            </a:r>
            <a:endParaRPr lang="en-US" dirty="0">
              <a:solidFill>
                <a:schemeClr val="tx1"/>
              </a:solidFill>
              <a:latin typeface="Söhne"/>
            </a:endParaRPr>
          </a:p>
        </p:txBody>
      </p:sp>
      <p:sp>
        <p:nvSpPr>
          <p:cNvPr id="5" name="Rectangle: Rounded Corners 4">
            <a:extLst>
              <a:ext uri="{FF2B5EF4-FFF2-40B4-BE49-F238E27FC236}">
                <a16:creationId xmlns:a16="http://schemas.microsoft.com/office/drawing/2014/main" id="{1158DF2E-0B1B-8ADA-529B-ABEFC138E5D7}"/>
              </a:ext>
            </a:extLst>
          </p:cNvPr>
          <p:cNvSpPr/>
          <p:nvPr/>
        </p:nvSpPr>
        <p:spPr>
          <a:xfrm>
            <a:off x="550276" y="3084192"/>
            <a:ext cx="11008446" cy="766358"/>
          </a:xfrm>
          <a:prstGeom prst="roundRect">
            <a:avLst>
              <a:gd name="adj" fmla="val 5596"/>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3. Superior to Traditional Methods</a:t>
            </a:r>
            <a:br>
              <a:rPr lang="en-US" sz="1400" dirty="0"/>
            </a:br>
            <a:r>
              <a:rPr lang="en-US" sz="1400" i="0" dirty="0">
                <a:solidFill>
                  <a:srgbClr val="0A2342"/>
                </a:solidFill>
                <a:effectLst/>
                <a:latin typeface="Segoe UI" panose="020B0502040204020203" pitchFamily="34" charset="0"/>
              </a:rPr>
              <a:t>Outperforms GA, OCP, and Random across all tested configurations</a:t>
            </a:r>
            <a:endParaRPr lang="en-US" dirty="0">
              <a:solidFill>
                <a:schemeClr val="tx1"/>
              </a:solidFill>
              <a:latin typeface="Söhne"/>
            </a:endParaRPr>
          </a:p>
        </p:txBody>
      </p:sp>
      <p:sp>
        <p:nvSpPr>
          <p:cNvPr id="11" name="Rectangle: Rounded Corners 10">
            <a:extLst>
              <a:ext uri="{FF2B5EF4-FFF2-40B4-BE49-F238E27FC236}">
                <a16:creationId xmlns:a16="http://schemas.microsoft.com/office/drawing/2014/main" id="{3284A309-4A40-9F3E-7CA3-8C7BE7C046A7}"/>
              </a:ext>
            </a:extLst>
          </p:cNvPr>
          <p:cNvSpPr/>
          <p:nvPr/>
        </p:nvSpPr>
        <p:spPr>
          <a:xfrm>
            <a:off x="550276" y="4101202"/>
            <a:ext cx="11008446" cy="766358"/>
          </a:xfrm>
          <a:prstGeom prst="roundRect">
            <a:avLst>
              <a:gd name="adj" fmla="val 5596"/>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rgbClr val="0A2342"/>
                </a:solidFill>
                <a:effectLst/>
                <a:latin typeface="Segoe UI" panose="020B0502040204020203" pitchFamily="34" charset="0"/>
              </a:rPr>
              <a:t>4. Flexible and Adaptable</a:t>
            </a:r>
            <a:br>
              <a:rPr lang="en-US" sz="1400" dirty="0"/>
            </a:br>
            <a:r>
              <a:rPr lang="en-US" sz="1400" i="0" dirty="0">
                <a:solidFill>
                  <a:srgbClr val="0A2342"/>
                </a:solidFill>
                <a:effectLst/>
                <a:latin typeface="Segoe UI" panose="020B0502040204020203" pitchFamily="34" charset="0"/>
              </a:rPr>
              <a:t>Adjustable delay-energy weights adapt to diverse application requirements</a:t>
            </a:r>
            <a:endParaRPr lang="en-US" dirty="0">
              <a:solidFill>
                <a:schemeClr val="tx1"/>
              </a:solidFill>
              <a:latin typeface="Söhne"/>
            </a:endParaRPr>
          </a:p>
        </p:txBody>
      </p:sp>
      <p:sp>
        <p:nvSpPr>
          <p:cNvPr id="17" name="Rectangle: Rounded Corners 16">
            <a:extLst>
              <a:ext uri="{FF2B5EF4-FFF2-40B4-BE49-F238E27FC236}">
                <a16:creationId xmlns:a16="http://schemas.microsoft.com/office/drawing/2014/main" id="{EA1D6945-81CF-1D93-881F-48A07A651446}"/>
              </a:ext>
            </a:extLst>
          </p:cNvPr>
          <p:cNvSpPr/>
          <p:nvPr/>
        </p:nvSpPr>
        <p:spPr>
          <a:xfrm>
            <a:off x="550276" y="5137128"/>
            <a:ext cx="11008446" cy="766358"/>
          </a:xfrm>
          <a:prstGeom prst="roundRect">
            <a:avLst>
              <a:gd name="adj" fmla="val 5596"/>
            </a:avLst>
          </a:prstGeom>
          <a:solidFill>
            <a:srgbClr val="14315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i="0" dirty="0">
                <a:solidFill>
                  <a:schemeClr val="bg1"/>
                </a:solidFill>
                <a:effectLst/>
                <a:latin typeface="Segoe UI" panose="020B0502040204020203" pitchFamily="34" charset="0"/>
              </a:rPr>
              <a:t>5. Foundation for Future Networks</a:t>
            </a:r>
          </a:p>
          <a:p>
            <a:r>
              <a:rPr lang="en-US" sz="1400" i="0" dirty="0">
                <a:solidFill>
                  <a:schemeClr val="bg1"/>
                </a:solidFill>
                <a:effectLst/>
                <a:latin typeface="Segoe UI" panose="020B0502040204020203" pitchFamily="34" charset="0"/>
              </a:rPr>
              <a:t>Enables autonomous MEC for intelligent transportation, IoT, and beyond</a:t>
            </a:r>
            <a:endParaRPr lang="en-US" dirty="0">
              <a:solidFill>
                <a:schemeClr val="bg1"/>
              </a:solidFill>
              <a:latin typeface="Söhne"/>
            </a:endParaRPr>
          </a:p>
        </p:txBody>
      </p:sp>
    </p:spTree>
    <p:extLst>
      <p:ext uri="{BB962C8B-B14F-4D97-AF65-F5344CB8AC3E}">
        <p14:creationId xmlns:p14="http://schemas.microsoft.com/office/powerpoint/2010/main" val="1700197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1000"/>
                                        <p:tgtEl>
                                          <p:spTgt spid="10"/>
                                        </p:tgtEl>
                                      </p:cBhvr>
                                    </p:animEffect>
                                    <p:anim calcmode="lin" valueType="num">
                                      <p:cBhvr>
                                        <p:cTn id="13" dur="1000" fill="hold"/>
                                        <p:tgtEl>
                                          <p:spTgt spid="10"/>
                                        </p:tgtEl>
                                        <p:attrNameLst>
                                          <p:attrName>ppt_x</p:attrName>
                                        </p:attrNameLst>
                                      </p:cBhvr>
                                      <p:tavLst>
                                        <p:tav tm="0">
                                          <p:val>
                                            <p:strVal val="#ppt_x"/>
                                          </p:val>
                                        </p:tav>
                                        <p:tav tm="100000">
                                          <p:val>
                                            <p:strVal val="#ppt_x"/>
                                          </p:val>
                                        </p:tav>
                                      </p:tavLst>
                                    </p:anim>
                                    <p:anim calcmode="lin" valueType="num">
                                      <p:cBhvr>
                                        <p:cTn id="1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1000"/>
                                        <p:tgtEl>
                                          <p:spTgt spid="17"/>
                                        </p:tgtEl>
                                      </p:cBhvr>
                                    </p:animEffect>
                                    <p:anim calcmode="lin" valueType="num">
                                      <p:cBhvr>
                                        <p:cTn id="41" dur="1000" fill="hold"/>
                                        <p:tgtEl>
                                          <p:spTgt spid="17"/>
                                        </p:tgtEl>
                                        <p:attrNameLst>
                                          <p:attrName>ppt_x</p:attrName>
                                        </p:attrNameLst>
                                      </p:cBhvr>
                                      <p:tavLst>
                                        <p:tav tm="0">
                                          <p:val>
                                            <p:strVal val="#ppt_x"/>
                                          </p:val>
                                        </p:tav>
                                        <p:tav tm="100000">
                                          <p:val>
                                            <p:strVal val="#ppt_x"/>
                                          </p:val>
                                        </p:tav>
                                      </p:tavLst>
                                    </p:anim>
                                    <p:anim calcmode="lin" valueType="num">
                                      <p:cBhvr>
                                        <p:cTn id="42"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4" grpId="0" animBg="1"/>
      <p:bldP spid="5" grpId="0" animBg="1"/>
      <p:bldP spid="11" grpId="0" animBg="1"/>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BB68DC-F53A-F0B4-DEEC-B1FDEEF12938}"/>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8371A6B4-DE44-2CB0-32BA-9FABF2A91CFE}"/>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F24A41AB-4F53-D555-E2AB-CC4ADFB32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17125D23-EA12-2B5F-A27F-67C48DB3405F}"/>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4537A75-CB2F-87D7-4A72-EDE83CC491AC}"/>
              </a:ext>
            </a:extLst>
          </p:cNvPr>
          <p:cNvSpPr txBox="1"/>
          <p:nvPr/>
        </p:nvSpPr>
        <p:spPr>
          <a:xfrm>
            <a:off x="435005" y="283977"/>
            <a:ext cx="3416513" cy="584775"/>
          </a:xfrm>
          <a:prstGeom prst="rect">
            <a:avLst/>
          </a:prstGeom>
          <a:noFill/>
        </p:spPr>
        <p:txBody>
          <a:bodyPr wrap="none" rtlCol="0">
            <a:spAutoFit/>
          </a:bodyPr>
          <a:lstStyle/>
          <a:p>
            <a:pPr algn="just"/>
            <a:r>
              <a:rPr lang="en-US" sz="3200" b="1" dirty="0">
                <a:solidFill>
                  <a:srgbClr val="0070C0"/>
                </a:solidFill>
                <a:latin typeface="Söhne"/>
              </a:rPr>
              <a:t>Paper’s Limitations</a:t>
            </a:r>
            <a:endParaRPr lang="en-GB" sz="3200" b="1" dirty="0">
              <a:solidFill>
                <a:srgbClr val="0070C0"/>
              </a:solidFill>
              <a:latin typeface="Söhne"/>
            </a:endParaRPr>
          </a:p>
        </p:txBody>
      </p:sp>
      <p:pic>
        <p:nvPicPr>
          <p:cNvPr id="13" name="Picture 12" descr="Logo&#10;&#10;Description automatically generated">
            <a:extLst>
              <a:ext uri="{FF2B5EF4-FFF2-40B4-BE49-F238E27FC236}">
                <a16:creationId xmlns:a16="http://schemas.microsoft.com/office/drawing/2014/main" id="{06459B16-DC87-FE29-8797-BF5270EEDFC3}"/>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3" name="Decagon 2">
            <a:extLst>
              <a:ext uri="{FF2B5EF4-FFF2-40B4-BE49-F238E27FC236}">
                <a16:creationId xmlns:a16="http://schemas.microsoft.com/office/drawing/2014/main" id="{485C1693-FE4B-78F4-7C53-6231CA935B08}"/>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dirty="0">
                <a:latin typeface="Söhne"/>
                <a:cs typeface="Times New Roman" panose="02020603050405020304" pitchFamily="18" charset="0"/>
              </a:rPr>
              <a:t>20</a:t>
            </a:r>
            <a:endParaRPr lang="en-US" b="1" dirty="0">
              <a:latin typeface="Söhne"/>
              <a:cs typeface="Times New Roman" panose="02020603050405020304" pitchFamily="18" charset="0"/>
            </a:endParaRPr>
          </a:p>
        </p:txBody>
      </p:sp>
      <p:sp>
        <p:nvSpPr>
          <p:cNvPr id="5" name="Rectangle: Rounded Corners 4">
            <a:extLst>
              <a:ext uri="{FF2B5EF4-FFF2-40B4-BE49-F238E27FC236}">
                <a16:creationId xmlns:a16="http://schemas.microsoft.com/office/drawing/2014/main" id="{E43978EA-A27E-2EC5-131C-3B3FA418DFA4}"/>
              </a:ext>
            </a:extLst>
          </p:cNvPr>
          <p:cNvSpPr/>
          <p:nvPr/>
        </p:nvSpPr>
        <p:spPr>
          <a:xfrm>
            <a:off x="550276" y="3720652"/>
            <a:ext cx="11194880" cy="1130747"/>
          </a:xfrm>
          <a:prstGeom prst="roundRect">
            <a:avLst>
              <a:gd name="adj" fmla="val 5596"/>
            </a:avLst>
          </a:prstGeom>
          <a:solidFill>
            <a:schemeClr val="bg1"/>
          </a:solidFill>
          <a:ln>
            <a:solidFill>
              <a:schemeClr val="accent2"/>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rgbClr val="0A2342"/>
                </a:solidFill>
                <a:latin typeface="Segoe UI" panose="020B0502040204020203" pitchFamily="34" charset="0"/>
              </a:rPr>
              <a:t>          DDQN Training Convergence</a:t>
            </a:r>
          </a:p>
          <a:p>
            <a:endParaRPr lang="en-US" sz="1400" b="1" dirty="0">
              <a:solidFill>
                <a:srgbClr val="0A2342"/>
              </a:solidFill>
              <a:latin typeface="Segoe UI" panose="020B0502040204020203" pitchFamily="34" charset="0"/>
            </a:endParaRPr>
          </a:p>
          <a:p>
            <a:r>
              <a:rPr lang="en-US" sz="1200" dirty="0">
                <a:solidFill>
                  <a:srgbClr val="0A2342"/>
                </a:solidFill>
                <a:latin typeface="Segoe UI" panose="020B0502040204020203" pitchFamily="34" charset="0"/>
              </a:rPr>
              <a:t>The algorithm requires 1,500-2,500 episodes to converge, which is computationally expensive. The exploration-exploitation tradeoff (ε-decay rate selection) significantly impacts convergence speed, and no theoretical convergence guarantees are provided for the dynamic multi-agent scenario.</a:t>
            </a:r>
            <a:endParaRPr lang="en-US" sz="1200" dirty="0">
              <a:solidFill>
                <a:schemeClr val="tx1"/>
              </a:solidFill>
              <a:latin typeface="Söhne"/>
            </a:endParaRPr>
          </a:p>
        </p:txBody>
      </p:sp>
      <p:sp>
        <p:nvSpPr>
          <p:cNvPr id="2" name="Oval 1">
            <a:extLst>
              <a:ext uri="{FF2B5EF4-FFF2-40B4-BE49-F238E27FC236}">
                <a16:creationId xmlns:a16="http://schemas.microsoft.com/office/drawing/2014/main" id="{DDB11555-374B-9D13-37F7-B9D995478BB6}"/>
              </a:ext>
            </a:extLst>
          </p:cNvPr>
          <p:cNvSpPr/>
          <p:nvPr/>
        </p:nvSpPr>
        <p:spPr>
          <a:xfrm>
            <a:off x="660398" y="3823378"/>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3</a:t>
            </a:r>
          </a:p>
        </p:txBody>
      </p:sp>
      <p:sp>
        <p:nvSpPr>
          <p:cNvPr id="9" name="Rectangle: Rounded Corners 8">
            <a:extLst>
              <a:ext uri="{FF2B5EF4-FFF2-40B4-BE49-F238E27FC236}">
                <a16:creationId xmlns:a16="http://schemas.microsoft.com/office/drawing/2014/main" id="{D29B4C2E-0EE3-95E6-3006-EFCF42A4640D}"/>
              </a:ext>
            </a:extLst>
          </p:cNvPr>
          <p:cNvSpPr/>
          <p:nvPr/>
        </p:nvSpPr>
        <p:spPr>
          <a:xfrm>
            <a:off x="550276" y="4978891"/>
            <a:ext cx="11194880" cy="1130747"/>
          </a:xfrm>
          <a:prstGeom prst="roundRect">
            <a:avLst>
              <a:gd name="adj" fmla="val 5596"/>
            </a:avLst>
          </a:prstGeom>
          <a:solidFill>
            <a:schemeClr val="bg1"/>
          </a:solidFill>
          <a:ln>
            <a:solidFill>
              <a:schemeClr val="accent2"/>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rgbClr val="0A2342"/>
                </a:solidFill>
                <a:latin typeface="Segoe UI" panose="020B0502040204020203" pitchFamily="34" charset="0"/>
              </a:rPr>
              <a:t>          Static Task Generation Pattern</a:t>
            </a:r>
          </a:p>
          <a:p>
            <a:endParaRPr lang="en-US" sz="1400" b="1" dirty="0">
              <a:solidFill>
                <a:srgbClr val="0A2342"/>
              </a:solidFill>
              <a:latin typeface="Segoe UI" panose="020B0502040204020203" pitchFamily="34" charset="0"/>
            </a:endParaRPr>
          </a:p>
          <a:p>
            <a:pPr algn="l">
              <a:buNone/>
            </a:pPr>
            <a:r>
              <a:rPr lang="en-US" sz="1200" b="0" i="0" dirty="0">
                <a:solidFill>
                  <a:srgbClr val="374151"/>
                </a:solidFill>
                <a:effectLst/>
                <a:latin typeface="Inter"/>
              </a:rPr>
              <a:t>Tasks are generated with </a:t>
            </a:r>
            <a:r>
              <a:rPr lang="en-US" sz="1200" b="1" i="0" dirty="0">
                <a:solidFill>
                  <a:srgbClr val="374151"/>
                </a:solidFill>
                <a:effectLst/>
                <a:latin typeface="Inter"/>
              </a:rPr>
              <a:t>fixed parameters</a:t>
            </a:r>
            <a:r>
              <a:rPr lang="en-US" sz="1200" b="0" i="0" dirty="0">
                <a:solidFill>
                  <a:srgbClr val="374151"/>
                </a:solidFill>
                <a:effectLst/>
                <a:latin typeface="Inter"/>
              </a:rPr>
              <a:t> (data size: 250-500 KB, computation: 500-900 </a:t>
            </a:r>
            <a:r>
              <a:rPr lang="en-US" sz="1200" b="0" i="0" dirty="0" err="1">
                <a:solidFill>
                  <a:srgbClr val="374151"/>
                </a:solidFill>
                <a:effectLst/>
                <a:latin typeface="Inter"/>
              </a:rPr>
              <a:t>Mcycles</a:t>
            </a:r>
            <a:r>
              <a:rPr lang="en-US" sz="1200" b="0" i="0" dirty="0">
                <a:solidFill>
                  <a:srgbClr val="374151"/>
                </a:solidFill>
                <a:effectLst/>
                <a:latin typeface="Inter"/>
              </a:rPr>
              <a:t>). Real applications exhibit highly dynamic and bursty traffic patterns with heterogeneous QoS requirements that may challenge the current execution window partitioning strategy.</a:t>
            </a:r>
          </a:p>
        </p:txBody>
      </p:sp>
      <p:sp>
        <p:nvSpPr>
          <p:cNvPr id="12" name="Oval 11">
            <a:extLst>
              <a:ext uri="{FF2B5EF4-FFF2-40B4-BE49-F238E27FC236}">
                <a16:creationId xmlns:a16="http://schemas.microsoft.com/office/drawing/2014/main" id="{201E77A4-B53E-C1CA-4203-E4278013E196}"/>
              </a:ext>
            </a:extLst>
          </p:cNvPr>
          <p:cNvSpPr/>
          <p:nvPr/>
        </p:nvSpPr>
        <p:spPr>
          <a:xfrm>
            <a:off x="660398" y="5081617"/>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4</a:t>
            </a:r>
          </a:p>
        </p:txBody>
      </p:sp>
      <p:sp>
        <p:nvSpPr>
          <p:cNvPr id="14" name="Rectangle: Rounded Corners 13">
            <a:extLst>
              <a:ext uri="{FF2B5EF4-FFF2-40B4-BE49-F238E27FC236}">
                <a16:creationId xmlns:a16="http://schemas.microsoft.com/office/drawing/2014/main" id="{935F61D4-50D6-66DA-3570-021CDFC1CE73}"/>
              </a:ext>
            </a:extLst>
          </p:cNvPr>
          <p:cNvSpPr/>
          <p:nvPr/>
        </p:nvSpPr>
        <p:spPr>
          <a:xfrm>
            <a:off x="550276" y="2410372"/>
            <a:ext cx="11194880" cy="1130747"/>
          </a:xfrm>
          <a:prstGeom prst="roundRect">
            <a:avLst>
              <a:gd name="adj" fmla="val 5596"/>
            </a:avLst>
          </a:prstGeom>
          <a:solidFill>
            <a:schemeClr val="bg1"/>
          </a:solidFill>
          <a:ln>
            <a:solidFill>
              <a:schemeClr val="accent2"/>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rgbClr val="0A2342"/>
                </a:solidFill>
                <a:latin typeface="Segoe UI" panose="020B0502040204020203" pitchFamily="34" charset="0"/>
              </a:rPr>
              <a:t>          Ideal Channel Assumptions</a:t>
            </a:r>
          </a:p>
          <a:p>
            <a:endParaRPr lang="en-US" sz="1400" b="1" dirty="0">
              <a:solidFill>
                <a:srgbClr val="0A2342"/>
              </a:solidFill>
              <a:latin typeface="Segoe UI" panose="020B0502040204020203" pitchFamily="34" charset="0"/>
            </a:endParaRPr>
          </a:p>
          <a:p>
            <a:r>
              <a:rPr lang="en-US" sz="1200" b="0" i="0" dirty="0">
                <a:solidFill>
                  <a:srgbClr val="374151"/>
                </a:solidFill>
                <a:effectLst/>
                <a:latin typeface="Inter"/>
              </a:rPr>
              <a:t>The model assumes </a:t>
            </a:r>
            <a:r>
              <a:rPr lang="en-US" sz="1200" b="1" i="0" dirty="0">
                <a:solidFill>
                  <a:srgbClr val="374151"/>
                </a:solidFill>
                <a:effectLst/>
                <a:latin typeface="Inter"/>
              </a:rPr>
              <a:t>perfect channel state information (CSI)</a:t>
            </a:r>
            <a:r>
              <a:rPr lang="en-US" sz="1200" b="0" i="0" dirty="0">
                <a:solidFill>
                  <a:srgbClr val="374151"/>
                </a:solidFill>
                <a:effectLst/>
                <a:latin typeface="Inter"/>
              </a:rPr>
              <a:t> and uses simplified path loss models. In practice, channel estimation errors, fading, interference, and measurement delays could degrade offloading performance and require robust adaptive mechanisms.</a:t>
            </a:r>
            <a:endParaRPr lang="en-US" sz="1200" dirty="0">
              <a:solidFill>
                <a:schemeClr val="tx1"/>
              </a:solidFill>
              <a:latin typeface="Söhne"/>
            </a:endParaRPr>
          </a:p>
        </p:txBody>
      </p:sp>
      <p:sp>
        <p:nvSpPr>
          <p:cNvPr id="15" name="Oval 14">
            <a:extLst>
              <a:ext uri="{FF2B5EF4-FFF2-40B4-BE49-F238E27FC236}">
                <a16:creationId xmlns:a16="http://schemas.microsoft.com/office/drawing/2014/main" id="{8B33A089-5EC2-8364-57BE-15FD63082552}"/>
              </a:ext>
            </a:extLst>
          </p:cNvPr>
          <p:cNvSpPr/>
          <p:nvPr/>
        </p:nvSpPr>
        <p:spPr>
          <a:xfrm>
            <a:off x="633277" y="2516079"/>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2</a:t>
            </a:r>
          </a:p>
        </p:txBody>
      </p:sp>
      <p:sp>
        <p:nvSpPr>
          <p:cNvPr id="16" name="Rectangle: Rounded Corners 15">
            <a:extLst>
              <a:ext uri="{FF2B5EF4-FFF2-40B4-BE49-F238E27FC236}">
                <a16:creationId xmlns:a16="http://schemas.microsoft.com/office/drawing/2014/main" id="{DE730998-8188-EE6C-1EB2-BBA963A43AF8}"/>
              </a:ext>
            </a:extLst>
          </p:cNvPr>
          <p:cNvSpPr/>
          <p:nvPr/>
        </p:nvSpPr>
        <p:spPr>
          <a:xfrm>
            <a:off x="523155" y="1065143"/>
            <a:ext cx="11222001" cy="1130747"/>
          </a:xfrm>
          <a:prstGeom prst="roundRect">
            <a:avLst>
              <a:gd name="adj" fmla="val 5596"/>
            </a:avLst>
          </a:prstGeom>
          <a:solidFill>
            <a:schemeClr val="bg1"/>
          </a:solidFill>
          <a:ln>
            <a:solidFill>
              <a:schemeClr val="accent2"/>
            </a:solidFill>
            <a:prstDash val="sysDot"/>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400" b="1" dirty="0">
                <a:solidFill>
                  <a:srgbClr val="0A2342"/>
                </a:solidFill>
                <a:latin typeface="Segoe UI" panose="020B0502040204020203" pitchFamily="34" charset="0"/>
              </a:rPr>
              <a:t>          Limited Benchmark Comparisons</a:t>
            </a:r>
          </a:p>
          <a:p>
            <a:endParaRPr lang="en-US" sz="1400" b="1" dirty="0">
              <a:solidFill>
                <a:srgbClr val="0A2342"/>
              </a:solidFill>
              <a:latin typeface="Segoe UI" panose="020B0502040204020203" pitchFamily="34" charset="0"/>
            </a:endParaRPr>
          </a:p>
          <a:p>
            <a:r>
              <a:rPr lang="en-US" sz="1200" b="0" i="0" dirty="0">
                <a:solidFill>
                  <a:srgbClr val="374151"/>
                </a:solidFill>
                <a:effectLst/>
                <a:latin typeface="Inter"/>
              </a:rPr>
              <a:t>Performance is compared only against </a:t>
            </a:r>
            <a:r>
              <a:rPr lang="en-US" sz="1200" b="1" i="0" dirty="0">
                <a:solidFill>
                  <a:srgbClr val="374151"/>
                </a:solidFill>
                <a:effectLst/>
                <a:latin typeface="Inter"/>
              </a:rPr>
              <a:t>GA, OCP, and Random strategies</a:t>
            </a:r>
            <a:r>
              <a:rPr lang="en-US" sz="1200" b="0" i="0" dirty="0">
                <a:solidFill>
                  <a:srgbClr val="374151"/>
                </a:solidFill>
                <a:effectLst/>
                <a:latin typeface="Inter"/>
              </a:rPr>
              <a:t>. Comparison with other state-of-the-art deep learning approaches (e.g., PPO, A3C, multi-agent RL) and recent dependency-aware offloading methods would provide more comprehensive validation.</a:t>
            </a:r>
            <a:endParaRPr lang="en-US" sz="1200" dirty="0">
              <a:solidFill>
                <a:schemeClr val="tx1"/>
              </a:solidFill>
              <a:latin typeface="Söhne"/>
            </a:endParaRPr>
          </a:p>
        </p:txBody>
      </p:sp>
      <p:sp>
        <p:nvSpPr>
          <p:cNvPr id="18" name="Oval 17">
            <a:extLst>
              <a:ext uri="{FF2B5EF4-FFF2-40B4-BE49-F238E27FC236}">
                <a16:creationId xmlns:a16="http://schemas.microsoft.com/office/drawing/2014/main" id="{BCF66819-D91E-3E01-60B2-240B5768D481}"/>
              </a:ext>
            </a:extLst>
          </p:cNvPr>
          <p:cNvSpPr/>
          <p:nvPr/>
        </p:nvSpPr>
        <p:spPr>
          <a:xfrm>
            <a:off x="633278" y="1167869"/>
            <a:ext cx="311131" cy="30738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Söhne"/>
              </a:rPr>
              <a:t>1</a:t>
            </a:r>
          </a:p>
        </p:txBody>
      </p:sp>
    </p:spTree>
    <p:extLst>
      <p:ext uri="{BB962C8B-B14F-4D97-AF65-F5344CB8AC3E}">
        <p14:creationId xmlns:p14="http://schemas.microsoft.com/office/powerpoint/2010/main" val="4278143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1000"/>
                                        <p:tgtEl>
                                          <p:spTgt spid="5"/>
                                        </p:tgtEl>
                                      </p:cBhvr>
                                    </p:animEffect>
                                    <p:anim calcmode="lin" valueType="num">
                                      <p:cBhvr>
                                        <p:cTn id="32" dur="1000" fill="hold"/>
                                        <p:tgtEl>
                                          <p:spTgt spid="5"/>
                                        </p:tgtEl>
                                        <p:attrNameLst>
                                          <p:attrName>ppt_x</p:attrName>
                                        </p:attrNameLst>
                                      </p:cBhvr>
                                      <p:tavLst>
                                        <p:tav tm="0">
                                          <p:val>
                                            <p:strVal val="#ppt_x"/>
                                          </p:val>
                                        </p:tav>
                                        <p:tav tm="100000">
                                          <p:val>
                                            <p:strVal val="#ppt_x"/>
                                          </p:val>
                                        </p:tav>
                                      </p:tavLst>
                                    </p:anim>
                                    <p:anim calcmode="lin" valueType="num">
                                      <p:cBhvr>
                                        <p:cTn id="33" dur="1000" fill="hold"/>
                                        <p:tgtEl>
                                          <p:spTgt spid="5"/>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fade">
                                      <p:cBhvr>
                                        <p:cTn id="36" dur="1000"/>
                                        <p:tgtEl>
                                          <p:spTgt spid="2"/>
                                        </p:tgtEl>
                                      </p:cBhvr>
                                    </p:animEffect>
                                    <p:anim calcmode="lin" valueType="num">
                                      <p:cBhvr>
                                        <p:cTn id="37" dur="1000" fill="hold"/>
                                        <p:tgtEl>
                                          <p:spTgt spid="2"/>
                                        </p:tgtEl>
                                        <p:attrNameLst>
                                          <p:attrName>ppt_x</p:attrName>
                                        </p:attrNameLst>
                                      </p:cBhvr>
                                      <p:tavLst>
                                        <p:tav tm="0">
                                          <p:val>
                                            <p:strVal val="#ppt_x"/>
                                          </p:val>
                                        </p:tav>
                                        <p:tav tm="100000">
                                          <p:val>
                                            <p:strVal val="#ppt_x"/>
                                          </p:val>
                                        </p:tav>
                                      </p:tavLst>
                                    </p:anim>
                                    <p:anim calcmode="lin" valueType="num">
                                      <p:cBhvr>
                                        <p:cTn id="38"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1000"/>
                                        <p:tgtEl>
                                          <p:spTgt spid="9"/>
                                        </p:tgtEl>
                                      </p:cBhvr>
                                    </p:animEffect>
                                    <p:anim calcmode="lin" valueType="num">
                                      <p:cBhvr>
                                        <p:cTn id="44" dur="1000" fill="hold"/>
                                        <p:tgtEl>
                                          <p:spTgt spid="9"/>
                                        </p:tgtEl>
                                        <p:attrNameLst>
                                          <p:attrName>ppt_x</p:attrName>
                                        </p:attrNameLst>
                                      </p:cBhvr>
                                      <p:tavLst>
                                        <p:tav tm="0">
                                          <p:val>
                                            <p:strVal val="#ppt_x"/>
                                          </p:val>
                                        </p:tav>
                                        <p:tav tm="100000">
                                          <p:val>
                                            <p:strVal val="#ppt_x"/>
                                          </p:val>
                                        </p:tav>
                                      </p:tavLst>
                                    </p:anim>
                                    <p:anim calcmode="lin" valueType="num">
                                      <p:cBhvr>
                                        <p:cTn id="45" dur="1000" fill="hold"/>
                                        <p:tgtEl>
                                          <p:spTgt spid="9"/>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1000"/>
                                        <p:tgtEl>
                                          <p:spTgt spid="12"/>
                                        </p:tgtEl>
                                      </p:cBhvr>
                                    </p:animEffect>
                                    <p:anim calcmode="lin" valueType="num">
                                      <p:cBhvr>
                                        <p:cTn id="49" dur="1000" fill="hold"/>
                                        <p:tgtEl>
                                          <p:spTgt spid="12"/>
                                        </p:tgtEl>
                                        <p:attrNameLst>
                                          <p:attrName>ppt_x</p:attrName>
                                        </p:attrNameLst>
                                      </p:cBhvr>
                                      <p:tavLst>
                                        <p:tav tm="0">
                                          <p:val>
                                            <p:strVal val="#ppt_x"/>
                                          </p:val>
                                        </p:tav>
                                        <p:tav tm="100000">
                                          <p:val>
                                            <p:strVal val="#ppt_x"/>
                                          </p:val>
                                        </p:tav>
                                      </p:tavLst>
                                    </p:anim>
                                    <p:anim calcmode="lin" valueType="num">
                                      <p:cBhvr>
                                        <p:cTn id="5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9" grpId="0" animBg="1"/>
      <p:bldP spid="12" grpId="0" animBg="1"/>
      <p:bldP spid="14" grpId="0" animBg="1"/>
      <p:bldP spid="15" grpId="0" animBg="1"/>
      <p:bldP spid="16"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F3F54049-5DC2-40F1-9351-0A66984A74B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9AEBC0AC-F6CF-44A3-9366-36E52F140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83853BC0-C275-4A94-960F-EF164693EFE8}"/>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40AB2F05-2712-497E-BA80-CB5D5CBE9E6F}"/>
              </a:ext>
            </a:extLst>
          </p:cNvPr>
          <p:cNvSpPr txBox="1"/>
          <p:nvPr/>
        </p:nvSpPr>
        <p:spPr>
          <a:xfrm>
            <a:off x="435004" y="356360"/>
            <a:ext cx="6737764" cy="584775"/>
          </a:xfrm>
          <a:prstGeom prst="rect">
            <a:avLst/>
          </a:prstGeom>
          <a:noFill/>
        </p:spPr>
        <p:txBody>
          <a:bodyPr wrap="square" rtlCol="0">
            <a:spAutoFit/>
          </a:bodyPr>
          <a:lstStyle/>
          <a:p>
            <a:r>
              <a:rPr lang="en-US" sz="3200" b="1" dirty="0">
                <a:solidFill>
                  <a:srgbClr val="0070C0"/>
                </a:solidFill>
                <a:latin typeface="Söhne"/>
              </a:rPr>
              <a:t>Future Research Directions</a:t>
            </a:r>
            <a:endParaRPr lang="en-GB" sz="3200" b="1" dirty="0">
              <a:solidFill>
                <a:srgbClr val="0070C0"/>
              </a:solidFill>
              <a:latin typeface="Söhne"/>
            </a:endParaRPr>
          </a:p>
        </p:txBody>
      </p:sp>
      <p:sp>
        <p:nvSpPr>
          <p:cNvPr id="13" name="TextBox 12">
            <a:extLst>
              <a:ext uri="{FF2B5EF4-FFF2-40B4-BE49-F238E27FC236}">
                <a16:creationId xmlns:a16="http://schemas.microsoft.com/office/drawing/2014/main" id="{704EE408-A161-41F3-A881-FE62B6D4A380}"/>
              </a:ext>
            </a:extLst>
          </p:cNvPr>
          <p:cNvSpPr txBox="1"/>
          <p:nvPr/>
        </p:nvSpPr>
        <p:spPr>
          <a:xfrm>
            <a:off x="805063" y="1279877"/>
            <a:ext cx="4542349" cy="1179810"/>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ctr">
              <a:spcAft>
                <a:spcPts val="750"/>
              </a:spcAft>
              <a:buNone/>
            </a:pPr>
            <a:r>
              <a:rPr lang="en-US" sz="1600" b="1" i="0" dirty="0">
                <a:solidFill>
                  <a:srgbClr val="0A2342"/>
                </a:solidFill>
                <a:effectLst/>
                <a:latin typeface="Segoe UI" panose="020B0502040204020203" pitchFamily="34" charset="0"/>
              </a:rPr>
              <a:t>1. Multi-tier Architectures</a:t>
            </a:r>
          </a:p>
          <a:p>
            <a:pPr algn="l">
              <a:buNone/>
            </a:pPr>
            <a:r>
              <a:rPr lang="en-US" sz="1600" b="0" i="0" dirty="0">
                <a:solidFill>
                  <a:schemeClr val="tx1"/>
                </a:solidFill>
                <a:effectLst/>
                <a:latin typeface="Segoe UI" panose="020B0502040204020203" pitchFamily="34" charset="0"/>
              </a:rPr>
              <a:t>Extend to hierarchical edge computing with cloudlets, fog nodes, and central cloud for ultra-low latency</a:t>
            </a:r>
          </a:p>
        </p:txBody>
      </p:sp>
      <p:pic>
        <p:nvPicPr>
          <p:cNvPr id="9" name="Picture 8" descr="Logo&#10;&#10;Description automatically generated">
            <a:extLst>
              <a:ext uri="{FF2B5EF4-FFF2-40B4-BE49-F238E27FC236}">
                <a16:creationId xmlns:a16="http://schemas.microsoft.com/office/drawing/2014/main" id="{874DD5B3-C0B8-4797-8786-A3F8F23BD7D2}"/>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3" name="Decagon 2">
            <a:extLst>
              <a:ext uri="{FF2B5EF4-FFF2-40B4-BE49-F238E27FC236}">
                <a16:creationId xmlns:a16="http://schemas.microsoft.com/office/drawing/2014/main" id="{4A977877-D6CB-C6D4-3E7C-D11CD9607F80}"/>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21</a:t>
            </a:r>
            <a:endParaRPr lang="en-US" b="1" dirty="0">
              <a:latin typeface="Söhne"/>
              <a:cs typeface="Times New Roman" panose="02020603050405020304" pitchFamily="18" charset="0"/>
            </a:endParaRPr>
          </a:p>
        </p:txBody>
      </p:sp>
      <p:sp>
        <p:nvSpPr>
          <p:cNvPr id="7" name="TextBox 6">
            <a:extLst>
              <a:ext uri="{FF2B5EF4-FFF2-40B4-BE49-F238E27FC236}">
                <a16:creationId xmlns:a16="http://schemas.microsoft.com/office/drawing/2014/main" id="{BB2D3578-A42F-BD0C-D764-D19881526DA3}"/>
              </a:ext>
            </a:extLst>
          </p:cNvPr>
          <p:cNvSpPr txBox="1"/>
          <p:nvPr/>
        </p:nvSpPr>
        <p:spPr>
          <a:xfrm>
            <a:off x="7202808" y="1279877"/>
            <a:ext cx="4542349" cy="1320874"/>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ctr">
              <a:spcBef>
                <a:spcPts val="1125"/>
              </a:spcBef>
              <a:spcAft>
                <a:spcPts val="750"/>
              </a:spcAft>
              <a:buNone/>
            </a:pPr>
            <a:r>
              <a:rPr lang="en-US" sz="1600" b="1" i="0" dirty="0">
                <a:solidFill>
                  <a:srgbClr val="0A2342"/>
                </a:solidFill>
                <a:effectLst/>
                <a:latin typeface="Segoe UI" panose="020B0502040204020203" pitchFamily="34" charset="0"/>
              </a:rPr>
              <a:t>2. Heterogeneous Resources</a:t>
            </a:r>
          </a:p>
          <a:p>
            <a:pPr>
              <a:spcBef>
                <a:spcPts val="1125"/>
              </a:spcBef>
              <a:spcAft>
                <a:spcPts val="750"/>
              </a:spcAft>
              <a:buNone/>
            </a:pPr>
            <a:r>
              <a:rPr lang="en-US" sz="1600" b="0" i="0" dirty="0">
                <a:solidFill>
                  <a:schemeClr val="tx1"/>
                </a:solidFill>
                <a:effectLst/>
                <a:latin typeface="Segoe UI" panose="020B0502040204020203" pitchFamily="34" charset="0"/>
              </a:rPr>
              <a:t>Consider GPUs, NPUs, FPGAs and optimize task-to-resource mapping based on workload characteristics</a:t>
            </a:r>
          </a:p>
        </p:txBody>
      </p:sp>
      <p:sp>
        <p:nvSpPr>
          <p:cNvPr id="10" name="TextBox 9">
            <a:extLst>
              <a:ext uri="{FF2B5EF4-FFF2-40B4-BE49-F238E27FC236}">
                <a16:creationId xmlns:a16="http://schemas.microsoft.com/office/drawing/2014/main" id="{B1CBA9D0-98FB-DF77-F4C0-BC7CEAA9866D}"/>
              </a:ext>
            </a:extLst>
          </p:cNvPr>
          <p:cNvSpPr txBox="1"/>
          <p:nvPr/>
        </p:nvSpPr>
        <p:spPr>
          <a:xfrm>
            <a:off x="805062" y="2839095"/>
            <a:ext cx="4542349" cy="1179810"/>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ctr">
              <a:spcAft>
                <a:spcPts val="750"/>
              </a:spcAft>
              <a:buNone/>
            </a:pPr>
            <a:r>
              <a:rPr lang="en-US" sz="1600" b="1" i="0" dirty="0">
                <a:solidFill>
                  <a:srgbClr val="0A2342"/>
                </a:solidFill>
                <a:effectLst/>
                <a:latin typeface="Segoe UI" panose="020B0502040204020203" pitchFamily="34" charset="0"/>
              </a:rPr>
              <a:t>3. Security and Privacy</a:t>
            </a:r>
          </a:p>
          <a:p>
            <a:pPr algn="l">
              <a:buNone/>
            </a:pPr>
            <a:r>
              <a:rPr lang="en-US" sz="1600" b="0" i="0" dirty="0">
                <a:solidFill>
                  <a:schemeClr val="tx1"/>
                </a:solidFill>
                <a:effectLst/>
                <a:latin typeface="Segoe UI" panose="020B0502040204020203" pitchFamily="34" charset="0"/>
              </a:rPr>
              <a:t>Incorporate data sensitivity, encryption overhead, and privacy-preserving computation constraints</a:t>
            </a:r>
          </a:p>
        </p:txBody>
      </p:sp>
      <p:sp>
        <p:nvSpPr>
          <p:cNvPr id="11" name="TextBox 10">
            <a:extLst>
              <a:ext uri="{FF2B5EF4-FFF2-40B4-BE49-F238E27FC236}">
                <a16:creationId xmlns:a16="http://schemas.microsoft.com/office/drawing/2014/main" id="{4AD84D33-BA86-C733-89BB-65A5D1929165}"/>
              </a:ext>
            </a:extLst>
          </p:cNvPr>
          <p:cNvSpPr txBox="1"/>
          <p:nvPr/>
        </p:nvSpPr>
        <p:spPr>
          <a:xfrm>
            <a:off x="7202807" y="2839095"/>
            <a:ext cx="4542349" cy="1179810"/>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ctr">
              <a:spcAft>
                <a:spcPts val="750"/>
              </a:spcAft>
              <a:buNone/>
            </a:pPr>
            <a:r>
              <a:rPr lang="en-US" sz="1600" b="1" i="0" dirty="0">
                <a:solidFill>
                  <a:srgbClr val="0A2342"/>
                </a:solidFill>
                <a:effectLst/>
                <a:latin typeface="Segoe UI" panose="020B0502040204020203" pitchFamily="34" charset="0"/>
              </a:rPr>
              <a:t>4. Federated Learning</a:t>
            </a:r>
          </a:p>
          <a:p>
            <a:pPr algn="l">
              <a:buNone/>
            </a:pPr>
            <a:r>
              <a:rPr lang="en-US" sz="1600" b="0" i="0" dirty="0">
                <a:solidFill>
                  <a:schemeClr val="tx1"/>
                </a:solidFill>
                <a:effectLst/>
                <a:latin typeface="Segoe UI" panose="020B0502040204020203" pitchFamily="34" charset="0"/>
              </a:rPr>
              <a:t>Combine federated learning with task </a:t>
            </a:r>
          </a:p>
          <a:p>
            <a:pPr algn="l">
              <a:buNone/>
            </a:pPr>
            <a:r>
              <a:rPr lang="en-US" sz="1600" b="0" i="0" dirty="0">
                <a:solidFill>
                  <a:schemeClr val="tx1"/>
                </a:solidFill>
                <a:effectLst/>
                <a:latin typeface="Segoe UI" panose="020B0502040204020203" pitchFamily="34" charset="0"/>
              </a:rPr>
              <a:t>offloading for collaborative model training at the edge</a:t>
            </a:r>
          </a:p>
        </p:txBody>
      </p:sp>
      <p:sp>
        <p:nvSpPr>
          <p:cNvPr id="12" name="Rectangle 11">
            <a:extLst>
              <a:ext uri="{FF2B5EF4-FFF2-40B4-BE49-F238E27FC236}">
                <a16:creationId xmlns:a16="http://schemas.microsoft.com/office/drawing/2014/main" id="{48CE806F-E8CF-1326-5D00-9628F8479BB7}"/>
              </a:ext>
            </a:extLst>
          </p:cNvPr>
          <p:cNvSpPr/>
          <p:nvPr/>
        </p:nvSpPr>
        <p:spPr>
          <a:xfrm>
            <a:off x="444529" y="4257249"/>
            <a:ext cx="11310151" cy="1216143"/>
          </a:xfrm>
          <a:prstGeom prst="rect">
            <a:avLst/>
          </a:prstGeom>
          <a:solidFill>
            <a:srgbClr val="F8F9FA"/>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spcAft>
                <a:spcPts val="900"/>
              </a:spcAft>
              <a:buNone/>
            </a:pPr>
            <a:endParaRPr lang="en-US" sz="1600" b="0" i="0" dirty="0">
              <a:solidFill>
                <a:srgbClr val="000000"/>
              </a:solidFill>
              <a:effectLst/>
              <a:latin typeface="Söhne"/>
            </a:endParaRPr>
          </a:p>
        </p:txBody>
      </p:sp>
      <p:sp>
        <p:nvSpPr>
          <p:cNvPr id="14" name="Rectangle: Rounded Corners 13">
            <a:extLst>
              <a:ext uri="{FF2B5EF4-FFF2-40B4-BE49-F238E27FC236}">
                <a16:creationId xmlns:a16="http://schemas.microsoft.com/office/drawing/2014/main" id="{22BAA542-000D-DD2F-2B97-FCE8A3A23BA5}"/>
              </a:ext>
            </a:extLst>
          </p:cNvPr>
          <p:cNvSpPr/>
          <p:nvPr/>
        </p:nvSpPr>
        <p:spPr>
          <a:xfrm>
            <a:off x="657115" y="4881760"/>
            <a:ext cx="2880000"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i="0" dirty="0">
                <a:solidFill>
                  <a:srgbClr val="000000"/>
                </a:solidFill>
                <a:effectLst/>
                <a:latin typeface="Segoe UI" panose="020B0502040204020203" pitchFamily="34" charset="0"/>
              </a:rPr>
              <a:t>ITS testbeds</a:t>
            </a:r>
            <a:endParaRPr lang="en-US" sz="1600" dirty="0">
              <a:solidFill>
                <a:schemeClr val="tx1"/>
              </a:solidFill>
              <a:latin typeface="Söhne"/>
            </a:endParaRPr>
          </a:p>
        </p:txBody>
      </p:sp>
      <p:sp>
        <p:nvSpPr>
          <p:cNvPr id="15" name="TextBox 14">
            <a:extLst>
              <a:ext uri="{FF2B5EF4-FFF2-40B4-BE49-F238E27FC236}">
                <a16:creationId xmlns:a16="http://schemas.microsoft.com/office/drawing/2014/main" id="{610026EE-45B0-B1CB-A47B-C2E71AD4D0B8}"/>
              </a:ext>
            </a:extLst>
          </p:cNvPr>
          <p:cNvSpPr txBox="1"/>
          <p:nvPr/>
        </p:nvSpPr>
        <p:spPr>
          <a:xfrm>
            <a:off x="4171657" y="4392008"/>
            <a:ext cx="3836848" cy="338554"/>
          </a:xfrm>
          <a:prstGeom prst="rect">
            <a:avLst/>
          </a:prstGeom>
          <a:noFill/>
        </p:spPr>
        <p:txBody>
          <a:bodyPr wrap="square">
            <a:spAutoFit/>
          </a:bodyPr>
          <a:lstStyle/>
          <a:p>
            <a:pPr algn="ctr">
              <a:spcAft>
                <a:spcPts val="1125"/>
              </a:spcAft>
              <a:buNone/>
            </a:pPr>
            <a:r>
              <a:rPr lang="en-US" sz="1600" b="1" i="0" dirty="0">
                <a:solidFill>
                  <a:srgbClr val="0A2342"/>
                </a:solidFill>
                <a:effectLst/>
                <a:latin typeface="Segoe UI" panose="020B0502040204020203" pitchFamily="34" charset="0"/>
              </a:rPr>
              <a:t>Deployment Validation</a:t>
            </a:r>
            <a:endParaRPr lang="en-US" sz="1600" b="1" i="0" dirty="0">
              <a:solidFill>
                <a:srgbClr val="667EEA"/>
              </a:solidFill>
              <a:effectLst/>
              <a:latin typeface="Söhne"/>
            </a:endParaRPr>
          </a:p>
        </p:txBody>
      </p:sp>
      <p:sp>
        <p:nvSpPr>
          <p:cNvPr id="17" name="Rectangle: Rounded Corners 16">
            <a:extLst>
              <a:ext uri="{FF2B5EF4-FFF2-40B4-BE49-F238E27FC236}">
                <a16:creationId xmlns:a16="http://schemas.microsoft.com/office/drawing/2014/main" id="{20775A3C-1C57-8BB5-A870-9507A10F6876}"/>
              </a:ext>
            </a:extLst>
          </p:cNvPr>
          <p:cNvSpPr/>
          <p:nvPr/>
        </p:nvSpPr>
        <p:spPr>
          <a:xfrm>
            <a:off x="4298219" y="4865320"/>
            <a:ext cx="3148956"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0" i="0" dirty="0">
                <a:solidFill>
                  <a:srgbClr val="000000"/>
                </a:solidFill>
                <a:effectLst/>
                <a:latin typeface="Segoe UI" panose="020B0502040204020203" pitchFamily="34" charset="0"/>
              </a:rPr>
              <a:t>Autonomous vehicle platforms</a:t>
            </a:r>
            <a:endParaRPr lang="en-US" sz="1600" dirty="0">
              <a:solidFill>
                <a:schemeClr val="tx1"/>
              </a:solidFill>
              <a:latin typeface="Söhne"/>
            </a:endParaRPr>
          </a:p>
        </p:txBody>
      </p:sp>
      <p:sp>
        <p:nvSpPr>
          <p:cNvPr id="18" name="Rectangle: Rounded Corners 17">
            <a:extLst>
              <a:ext uri="{FF2B5EF4-FFF2-40B4-BE49-F238E27FC236}">
                <a16:creationId xmlns:a16="http://schemas.microsoft.com/office/drawing/2014/main" id="{0205A2AA-9CA5-7F84-9B87-61803FCE4356}"/>
              </a:ext>
            </a:extLst>
          </p:cNvPr>
          <p:cNvSpPr/>
          <p:nvPr/>
        </p:nvSpPr>
        <p:spPr>
          <a:xfrm>
            <a:off x="8208279" y="4863995"/>
            <a:ext cx="3386187" cy="369332"/>
          </a:xfrm>
          <a:prstGeom prst="roundRect">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0" i="0" dirty="0">
                <a:solidFill>
                  <a:srgbClr val="000000"/>
                </a:solidFill>
                <a:effectLst/>
                <a:latin typeface="Segoe UI" panose="020B0502040204020203" pitchFamily="34" charset="0"/>
              </a:rPr>
              <a:t>Autonomous vehicle platforms</a:t>
            </a:r>
            <a:endParaRPr lang="en-US" sz="1600" dirty="0">
              <a:solidFill>
                <a:schemeClr val="tx1"/>
              </a:solidFill>
              <a:latin typeface="Söhne"/>
            </a:endParaRPr>
          </a:p>
        </p:txBody>
      </p:sp>
      <p:sp>
        <p:nvSpPr>
          <p:cNvPr id="19" name="Rectangle 18">
            <a:extLst>
              <a:ext uri="{FF2B5EF4-FFF2-40B4-BE49-F238E27FC236}">
                <a16:creationId xmlns:a16="http://schemas.microsoft.com/office/drawing/2014/main" id="{5F34203D-620D-2AA8-106B-5C59051FFA6C}"/>
              </a:ext>
            </a:extLst>
          </p:cNvPr>
          <p:cNvSpPr/>
          <p:nvPr/>
        </p:nvSpPr>
        <p:spPr>
          <a:xfrm>
            <a:off x="444529" y="5608150"/>
            <a:ext cx="11310151" cy="644279"/>
          </a:xfrm>
          <a:prstGeom prst="rect">
            <a:avLst/>
          </a:prstGeom>
          <a:solidFill>
            <a:srgbClr val="85EEFF"/>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None/>
            </a:pPr>
            <a:r>
              <a:rPr lang="en-US" sz="1600" b="1" i="0" dirty="0">
                <a:solidFill>
                  <a:srgbClr val="0A2342"/>
                </a:solidFill>
                <a:effectLst/>
                <a:latin typeface="Segoe UI" panose="020B0502040204020203" pitchFamily="34" charset="0"/>
              </a:rPr>
              <a:t>Future Goal: Fully autonomous networks that self-configure, self-optimize, and self-heal</a:t>
            </a:r>
            <a:endParaRPr lang="en-US" sz="1600" b="1" i="0" dirty="0">
              <a:solidFill>
                <a:schemeClr val="tx1"/>
              </a:solidFill>
              <a:effectLst/>
              <a:latin typeface="Söhne"/>
            </a:endParaRPr>
          </a:p>
        </p:txBody>
      </p:sp>
    </p:spTree>
    <p:extLst>
      <p:ext uri="{BB962C8B-B14F-4D97-AF65-F5344CB8AC3E}">
        <p14:creationId xmlns:p14="http://schemas.microsoft.com/office/powerpoint/2010/main" val="177652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anim calcmode="lin" valueType="num">
                                      <p:cBhvr>
                                        <p:cTn id="8" dur="1000" fill="hold"/>
                                        <p:tgtEl>
                                          <p:spTgt spid="13"/>
                                        </p:tgtEl>
                                        <p:attrNameLst>
                                          <p:attrName>ppt_x</p:attrName>
                                        </p:attrNameLst>
                                      </p:cBhvr>
                                      <p:tavLst>
                                        <p:tav tm="0">
                                          <p:val>
                                            <p:strVal val="#ppt_x"/>
                                          </p:val>
                                        </p:tav>
                                        <p:tav tm="100000">
                                          <p:val>
                                            <p:strVal val="#ppt_x"/>
                                          </p:val>
                                        </p:tav>
                                      </p:tavLst>
                                    </p:anim>
                                    <p:anim calcmode="lin" valueType="num">
                                      <p:cBhvr>
                                        <p:cTn id="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1000"/>
                                        <p:tgtEl>
                                          <p:spTgt spid="10"/>
                                        </p:tgtEl>
                                      </p:cBhvr>
                                    </p:animEffect>
                                    <p:anim calcmode="lin" valueType="num">
                                      <p:cBhvr>
                                        <p:cTn id="22" dur="1000" fill="hold"/>
                                        <p:tgtEl>
                                          <p:spTgt spid="10"/>
                                        </p:tgtEl>
                                        <p:attrNameLst>
                                          <p:attrName>ppt_x</p:attrName>
                                        </p:attrNameLst>
                                      </p:cBhvr>
                                      <p:tavLst>
                                        <p:tav tm="0">
                                          <p:val>
                                            <p:strVal val="#ppt_x"/>
                                          </p:val>
                                        </p:tav>
                                        <p:tav tm="100000">
                                          <p:val>
                                            <p:strVal val="#ppt_x"/>
                                          </p:val>
                                        </p:tav>
                                      </p:tavLst>
                                    </p:anim>
                                    <p:anim calcmode="lin" valueType="num">
                                      <p:cBhvr>
                                        <p:cTn id="23"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1000"/>
                                        <p:tgtEl>
                                          <p:spTgt spid="14"/>
                                        </p:tgtEl>
                                      </p:cBhvr>
                                    </p:animEffect>
                                    <p:anim calcmode="lin" valueType="num">
                                      <p:cBhvr>
                                        <p:cTn id="46" dur="1000" fill="hold"/>
                                        <p:tgtEl>
                                          <p:spTgt spid="14"/>
                                        </p:tgtEl>
                                        <p:attrNameLst>
                                          <p:attrName>ppt_x</p:attrName>
                                        </p:attrNameLst>
                                      </p:cBhvr>
                                      <p:tavLst>
                                        <p:tav tm="0">
                                          <p:val>
                                            <p:strVal val="#ppt_x"/>
                                          </p:val>
                                        </p:tav>
                                        <p:tav tm="100000">
                                          <p:val>
                                            <p:strVal val="#ppt_x"/>
                                          </p:val>
                                        </p:tav>
                                      </p:tavLst>
                                    </p:anim>
                                    <p:anim calcmode="lin" valueType="num">
                                      <p:cBhvr>
                                        <p:cTn id="47" dur="1000" fill="hold"/>
                                        <p:tgtEl>
                                          <p:spTgt spid="14"/>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1000"/>
                                        <p:tgtEl>
                                          <p:spTgt spid="17"/>
                                        </p:tgtEl>
                                      </p:cBhvr>
                                    </p:animEffect>
                                    <p:anim calcmode="lin" valueType="num">
                                      <p:cBhvr>
                                        <p:cTn id="51" dur="1000" fill="hold"/>
                                        <p:tgtEl>
                                          <p:spTgt spid="17"/>
                                        </p:tgtEl>
                                        <p:attrNameLst>
                                          <p:attrName>ppt_x</p:attrName>
                                        </p:attrNameLst>
                                      </p:cBhvr>
                                      <p:tavLst>
                                        <p:tav tm="0">
                                          <p:val>
                                            <p:strVal val="#ppt_x"/>
                                          </p:val>
                                        </p:tav>
                                        <p:tav tm="100000">
                                          <p:val>
                                            <p:strVal val="#ppt_x"/>
                                          </p:val>
                                        </p:tav>
                                      </p:tavLst>
                                    </p:anim>
                                    <p:anim calcmode="lin" valueType="num">
                                      <p:cBhvr>
                                        <p:cTn id="52" dur="1000" fill="hold"/>
                                        <p:tgtEl>
                                          <p:spTgt spid="17"/>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1000"/>
                                        <p:tgtEl>
                                          <p:spTgt spid="18"/>
                                        </p:tgtEl>
                                      </p:cBhvr>
                                    </p:animEffect>
                                    <p:anim calcmode="lin" valueType="num">
                                      <p:cBhvr>
                                        <p:cTn id="56" dur="1000" fill="hold"/>
                                        <p:tgtEl>
                                          <p:spTgt spid="18"/>
                                        </p:tgtEl>
                                        <p:attrNameLst>
                                          <p:attrName>ppt_x</p:attrName>
                                        </p:attrNameLst>
                                      </p:cBhvr>
                                      <p:tavLst>
                                        <p:tav tm="0">
                                          <p:val>
                                            <p:strVal val="#ppt_x"/>
                                          </p:val>
                                        </p:tav>
                                        <p:tav tm="100000">
                                          <p:val>
                                            <p:strVal val="#ppt_x"/>
                                          </p:val>
                                        </p:tav>
                                      </p:tavLst>
                                    </p:anim>
                                    <p:anim calcmode="lin" valueType="num">
                                      <p:cBhvr>
                                        <p:cTn id="57"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1000"/>
                                        <p:tgtEl>
                                          <p:spTgt spid="19"/>
                                        </p:tgtEl>
                                      </p:cBhvr>
                                    </p:animEffect>
                                    <p:anim calcmode="lin" valueType="num">
                                      <p:cBhvr>
                                        <p:cTn id="63" dur="1000" fill="hold"/>
                                        <p:tgtEl>
                                          <p:spTgt spid="19"/>
                                        </p:tgtEl>
                                        <p:attrNameLst>
                                          <p:attrName>ppt_x</p:attrName>
                                        </p:attrNameLst>
                                      </p:cBhvr>
                                      <p:tavLst>
                                        <p:tav tm="0">
                                          <p:val>
                                            <p:strVal val="#ppt_x"/>
                                          </p:val>
                                        </p:tav>
                                        <p:tav tm="100000">
                                          <p:val>
                                            <p:strVal val="#ppt_x"/>
                                          </p:val>
                                        </p:tav>
                                      </p:tavLst>
                                    </p:anim>
                                    <p:anim calcmode="lin" valueType="num">
                                      <p:cBhvr>
                                        <p:cTn id="64"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7" grpId="0" animBg="1"/>
      <p:bldP spid="10" grpId="0" animBg="1"/>
      <p:bldP spid="11" grpId="0" animBg="1"/>
      <p:bldP spid="12" grpId="0" animBg="1"/>
      <p:bldP spid="14" grpId="0" animBg="1"/>
      <p:bldP spid="15" grpId="0"/>
      <p:bldP spid="17" grpId="0" animBg="1"/>
      <p:bldP spid="18" grpId="0" animBg="1"/>
      <p:bldP spid="19"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EA80A-3DF5-E18A-E3DB-E8996796EC27}"/>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8195BF6-A833-3EA6-FC37-68325C17DD06}"/>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3D0303E8-B1BE-00BE-4C21-9890FBE65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4C2A8CC9-C7C3-7F6F-F237-0FED538818F4}"/>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C89E82B-868C-A86B-C2AA-62648A13A77B}"/>
              </a:ext>
            </a:extLst>
          </p:cNvPr>
          <p:cNvSpPr txBox="1"/>
          <p:nvPr/>
        </p:nvSpPr>
        <p:spPr>
          <a:xfrm>
            <a:off x="550276" y="364476"/>
            <a:ext cx="6737764" cy="584775"/>
          </a:xfrm>
          <a:prstGeom prst="rect">
            <a:avLst/>
          </a:prstGeom>
          <a:noFill/>
        </p:spPr>
        <p:txBody>
          <a:bodyPr wrap="square" rtlCol="0">
            <a:spAutoFit/>
          </a:bodyPr>
          <a:lstStyle/>
          <a:p>
            <a:r>
              <a:rPr lang="en-US" sz="3200" b="1" dirty="0">
                <a:solidFill>
                  <a:srgbClr val="0070C0"/>
                </a:solidFill>
                <a:latin typeface="Söhne"/>
              </a:rPr>
              <a:t>References (1/2)</a:t>
            </a:r>
            <a:endParaRPr lang="en-GB" sz="3200" b="1" dirty="0">
              <a:solidFill>
                <a:srgbClr val="0070C0"/>
              </a:solidFill>
              <a:latin typeface="Söhne"/>
            </a:endParaRPr>
          </a:p>
        </p:txBody>
      </p:sp>
      <p:sp>
        <p:nvSpPr>
          <p:cNvPr id="13" name="TextBox 12">
            <a:extLst>
              <a:ext uri="{FF2B5EF4-FFF2-40B4-BE49-F238E27FC236}">
                <a16:creationId xmlns:a16="http://schemas.microsoft.com/office/drawing/2014/main" id="{87DD7D56-EA1E-5AE5-2649-ED46D933F6D2}"/>
              </a:ext>
            </a:extLst>
          </p:cNvPr>
          <p:cNvSpPr txBox="1"/>
          <p:nvPr/>
        </p:nvSpPr>
        <p:spPr>
          <a:xfrm>
            <a:off x="435006" y="1296109"/>
            <a:ext cx="11310152" cy="4924425"/>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just">
              <a:spcBef>
                <a:spcPts val="600"/>
              </a:spcBef>
              <a:spcAft>
                <a:spcPts val="600"/>
              </a:spcAft>
            </a:pPr>
            <a:r>
              <a:rPr lang="en-US" sz="1300" dirty="0">
                <a:solidFill>
                  <a:srgbClr val="666666"/>
                </a:solidFill>
                <a:latin typeface="Söhne"/>
              </a:rPr>
              <a:t>[1] T. Shi, T. Zhang, R. Zhong, Y. Liu, and R. Huang, “Inter-user dependent task offloading and resource allocation in dynamic MEC networks,” in Proc. IEEE International Conference on Communications (ICC), Denver, CO, USA, 2024, pp. 3925–3930, </a:t>
            </a:r>
            <a:r>
              <a:rPr lang="en-US" sz="1300" dirty="0" err="1">
                <a:solidFill>
                  <a:srgbClr val="666666"/>
                </a:solidFill>
                <a:latin typeface="Söhne"/>
              </a:rPr>
              <a:t>doi</a:t>
            </a:r>
            <a:r>
              <a:rPr lang="en-US" sz="1300" dirty="0">
                <a:solidFill>
                  <a:srgbClr val="666666"/>
                </a:solidFill>
                <a:latin typeface="Söhne"/>
              </a:rPr>
              <a:t>: 10.1109/ICC51166.2024.10622907.</a:t>
            </a:r>
          </a:p>
          <a:p>
            <a:pPr algn="just">
              <a:spcBef>
                <a:spcPts val="600"/>
              </a:spcBef>
              <a:spcAft>
                <a:spcPts val="600"/>
              </a:spcAft>
            </a:pPr>
            <a:r>
              <a:rPr lang="en-US" sz="1300" b="0" dirty="0">
                <a:solidFill>
                  <a:srgbClr val="666666"/>
                </a:solidFill>
                <a:latin typeface="Söhne"/>
              </a:rPr>
              <a:t>[2] L. A. Haibeh, M. C. E. Yagoub, and A. </a:t>
            </a:r>
            <a:r>
              <a:rPr lang="en-US" sz="1300" b="0" dirty="0" err="1">
                <a:solidFill>
                  <a:srgbClr val="666666"/>
                </a:solidFill>
                <a:latin typeface="Söhne"/>
              </a:rPr>
              <a:t>Jarray</a:t>
            </a:r>
            <a:r>
              <a:rPr lang="en-US" sz="1300" b="0" dirty="0">
                <a:solidFill>
                  <a:srgbClr val="666666"/>
                </a:solidFill>
                <a:latin typeface="Söhne"/>
              </a:rPr>
              <a:t>, “A survey on mobile edge computing infrastructure: Design, resource management, and optimization approaches,” IEEE Access, vol. 10, pp. 27 591–27 610, 2022.</a:t>
            </a:r>
          </a:p>
          <a:p>
            <a:pPr algn="just">
              <a:spcBef>
                <a:spcPts val="600"/>
              </a:spcBef>
              <a:spcAft>
                <a:spcPts val="600"/>
              </a:spcAft>
            </a:pPr>
            <a:r>
              <a:rPr lang="en-US" sz="1300" b="0" dirty="0">
                <a:solidFill>
                  <a:srgbClr val="666666"/>
                </a:solidFill>
                <a:latin typeface="Söhne"/>
              </a:rPr>
              <a:t>[3] P. Arthurs, L. Gillam, P. Krause, N. Wang, K. Halder, and A. Mouzakitis, “A taxonomy and survey of edge cloud computing for intelligent transportation systems and connected vehicles,” IEEE Transactions on Intelligent Transportation Systems, vol. 23, no. 7, pp. 6206–6221, Jul. 2022.</a:t>
            </a:r>
          </a:p>
          <a:p>
            <a:pPr algn="just">
              <a:spcBef>
                <a:spcPts val="600"/>
              </a:spcBef>
              <a:spcAft>
                <a:spcPts val="600"/>
              </a:spcAft>
            </a:pPr>
            <a:r>
              <a:rPr lang="en-US" sz="1300" b="0" dirty="0">
                <a:solidFill>
                  <a:srgbClr val="666666"/>
                </a:solidFill>
                <a:latin typeface="Söhne"/>
              </a:rPr>
              <a:t>[4] T. Fang, F. Yuan, L. Ao, and J. Chen, “Joint task offloading, D2D pairing, and resource allocation in device-enhanced MEC: A potential game approach,” IEEE Internet of Things Journal, vol. 9, no. 5, pp. 3226–3237, Mar. 2022.</a:t>
            </a:r>
          </a:p>
          <a:p>
            <a:pPr algn="just">
              <a:spcBef>
                <a:spcPts val="600"/>
              </a:spcBef>
              <a:spcAft>
                <a:spcPts val="600"/>
              </a:spcAft>
            </a:pPr>
            <a:r>
              <a:rPr lang="en-US" sz="1300" b="0" dirty="0">
                <a:solidFill>
                  <a:srgbClr val="666666"/>
                </a:solidFill>
                <a:latin typeface="Söhne"/>
              </a:rPr>
              <a:t>[5] H. Jiang, X. Dai, Z. Xiao, and A. Iyengar, “Joint task offloading and resource allocation for energy-constrained mobile edge computing,” IEEE Transactions on Mobile Computing, vol. 22, no. 7, pp. 4000–4015, Jul. 2023.</a:t>
            </a:r>
          </a:p>
          <a:p>
            <a:pPr algn="just">
              <a:spcBef>
                <a:spcPts val="600"/>
              </a:spcBef>
              <a:spcAft>
                <a:spcPts val="600"/>
              </a:spcAft>
            </a:pPr>
            <a:r>
              <a:rPr lang="en-US" sz="1300" b="0" dirty="0">
                <a:solidFill>
                  <a:srgbClr val="666666"/>
                </a:solidFill>
                <a:latin typeface="Söhne"/>
              </a:rPr>
              <a:t>[6] N. Zhao, W. Du, F. Ren, Y. Pei, Y.-C. Liang, and D. </a:t>
            </a:r>
            <a:r>
              <a:rPr lang="en-US" sz="1300" b="0" dirty="0" err="1">
                <a:solidFill>
                  <a:srgbClr val="666666"/>
                </a:solidFill>
                <a:latin typeface="Söhne"/>
              </a:rPr>
              <a:t>Niyato</a:t>
            </a:r>
            <a:r>
              <a:rPr lang="en-US" sz="1300" b="0" dirty="0">
                <a:solidFill>
                  <a:srgbClr val="666666"/>
                </a:solidFill>
                <a:latin typeface="Söhne"/>
              </a:rPr>
              <a:t>, “Joint task offloading, resource sharing and computation incentive for edge computing networks,” IEEE Communications Letters, vol. 27, no. 1, pp. 258–262, 2023.</a:t>
            </a:r>
          </a:p>
          <a:p>
            <a:pPr algn="just">
              <a:spcBef>
                <a:spcPts val="600"/>
              </a:spcBef>
              <a:spcAft>
                <a:spcPts val="600"/>
              </a:spcAft>
            </a:pPr>
            <a:r>
              <a:rPr lang="en-US" sz="1300" b="0" dirty="0">
                <a:solidFill>
                  <a:srgbClr val="666666"/>
                </a:solidFill>
                <a:latin typeface="Söhne"/>
              </a:rPr>
              <a:t>[7] H. Liao, X. Li, D. Guo, W. Kang, and J. Li, “Dependency-aware application assigning and scheduling in edge computing,” IEEE Internet of Things Journal, vol. 9, no. 6, pp. 4451–4463, Mar. 2022.</a:t>
            </a:r>
          </a:p>
          <a:p>
            <a:pPr algn="just">
              <a:spcBef>
                <a:spcPts val="600"/>
              </a:spcBef>
              <a:spcAft>
                <a:spcPts val="600"/>
              </a:spcAft>
            </a:pPr>
            <a:r>
              <a:rPr lang="en-US" sz="1300" b="0" dirty="0">
                <a:solidFill>
                  <a:srgbClr val="666666"/>
                </a:solidFill>
                <a:latin typeface="Söhne"/>
              </a:rPr>
              <a:t>[8] J. Liu, J. Ren, Y. Zhang, X. Peng, Y. Zhang, and Y. Yang, “Efficient dependent task offloading for multiple applications in MEC-cloud system,” IEEE Transactions on Mobile Computing, vol. 22, no. 4, pp. 2147–2162, Apr. 2023.</a:t>
            </a:r>
          </a:p>
          <a:p>
            <a:pPr algn="just">
              <a:spcBef>
                <a:spcPts val="600"/>
              </a:spcBef>
              <a:spcAft>
                <a:spcPts val="600"/>
              </a:spcAft>
            </a:pPr>
            <a:r>
              <a:rPr lang="en-US" sz="1300" b="0" dirty="0">
                <a:solidFill>
                  <a:srgbClr val="666666"/>
                </a:solidFill>
                <a:latin typeface="Söhne"/>
              </a:rPr>
              <a:t>[9] J. Chen, Y. Yang, C. Wang, H. Zhang, C. Qiu, and X. Wang, “Multitask offloading strategy optimization based on directed acyclic graphs for edge computing,” IEEE Internet of Things Journal, vol. 9, no. 12, pp. 9367–9378, Jun. 2022.</a:t>
            </a:r>
          </a:p>
        </p:txBody>
      </p:sp>
      <p:pic>
        <p:nvPicPr>
          <p:cNvPr id="9" name="Picture 8" descr="Logo&#10;&#10;Description automatically generated">
            <a:extLst>
              <a:ext uri="{FF2B5EF4-FFF2-40B4-BE49-F238E27FC236}">
                <a16:creationId xmlns:a16="http://schemas.microsoft.com/office/drawing/2014/main" id="{B068FF06-1993-E512-71C9-F5306F41D1D3}"/>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3" name="Decagon 2">
            <a:extLst>
              <a:ext uri="{FF2B5EF4-FFF2-40B4-BE49-F238E27FC236}">
                <a16:creationId xmlns:a16="http://schemas.microsoft.com/office/drawing/2014/main" id="{41D0D0E6-8E6B-69B4-6AE2-C5A259DB7F98}"/>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22</a:t>
            </a:r>
            <a:endParaRPr lang="en-US" b="1" dirty="0">
              <a:latin typeface="Söhne"/>
              <a:cs typeface="Times New Roman" panose="02020603050405020304" pitchFamily="18" charset="0"/>
            </a:endParaRPr>
          </a:p>
        </p:txBody>
      </p:sp>
    </p:spTree>
    <p:extLst>
      <p:ext uri="{BB962C8B-B14F-4D97-AF65-F5344CB8AC3E}">
        <p14:creationId xmlns:p14="http://schemas.microsoft.com/office/powerpoint/2010/main" val="3207308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4C144-5855-F78E-10F0-5CA583C1614C}"/>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ADD9F923-8FD6-09E4-9C8C-38520FFA5B82}"/>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Söhne"/>
            </a:endParaRPr>
          </a:p>
        </p:txBody>
      </p:sp>
      <p:pic>
        <p:nvPicPr>
          <p:cNvPr id="8" name="Picture 2" descr="Jongmyon Kim&amp;#39;s lab | University of Ulsan (UOU)">
            <a:extLst>
              <a:ext uri="{FF2B5EF4-FFF2-40B4-BE49-F238E27FC236}">
                <a16:creationId xmlns:a16="http://schemas.microsoft.com/office/drawing/2014/main" id="{7C40A36C-6BC4-0910-A77D-5A487385F4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686D8FB7-F9E8-DE0F-CB42-322C9D51E8F9}"/>
              </a:ext>
            </a:extLst>
          </p:cNvPr>
          <p:cNvCxnSpPr>
            <a:cxnSpLocks/>
          </p:cNvCxnSpPr>
          <p:nvPr/>
        </p:nvCxnSpPr>
        <p:spPr>
          <a:xfrm>
            <a:off x="435005" y="923068"/>
            <a:ext cx="11310152" cy="5236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2D14DDB-B248-7258-C514-E04DCA7B28F9}"/>
              </a:ext>
            </a:extLst>
          </p:cNvPr>
          <p:cNvSpPr txBox="1"/>
          <p:nvPr/>
        </p:nvSpPr>
        <p:spPr>
          <a:xfrm>
            <a:off x="550276" y="364476"/>
            <a:ext cx="6737764" cy="584775"/>
          </a:xfrm>
          <a:prstGeom prst="rect">
            <a:avLst/>
          </a:prstGeom>
          <a:noFill/>
        </p:spPr>
        <p:txBody>
          <a:bodyPr wrap="square" rtlCol="0">
            <a:spAutoFit/>
          </a:bodyPr>
          <a:lstStyle/>
          <a:p>
            <a:r>
              <a:rPr lang="en-US" sz="3200" b="1" dirty="0">
                <a:solidFill>
                  <a:srgbClr val="0070C0"/>
                </a:solidFill>
                <a:latin typeface="Söhne"/>
              </a:rPr>
              <a:t>References (2/2)</a:t>
            </a:r>
            <a:endParaRPr lang="en-GB" sz="3200" b="1" dirty="0">
              <a:solidFill>
                <a:srgbClr val="0070C0"/>
              </a:solidFill>
              <a:latin typeface="Söhne"/>
            </a:endParaRPr>
          </a:p>
        </p:txBody>
      </p:sp>
      <p:sp>
        <p:nvSpPr>
          <p:cNvPr id="13" name="TextBox 12">
            <a:extLst>
              <a:ext uri="{FF2B5EF4-FFF2-40B4-BE49-F238E27FC236}">
                <a16:creationId xmlns:a16="http://schemas.microsoft.com/office/drawing/2014/main" id="{9A66F53A-74B7-870A-2926-C50AD912F950}"/>
              </a:ext>
            </a:extLst>
          </p:cNvPr>
          <p:cNvSpPr txBox="1"/>
          <p:nvPr/>
        </p:nvSpPr>
        <p:spPr>
          <a:xfrm>
            <a:off x="435005" y="1262980"/>
            <a:ext cx="11310151" cy="3816429"/>
          </a:xfrm>
          <a:prstGeom prst="rect">
            <a:avLst/>
          </a:prstGeom>
          <a:noFill/>
          <a:ln w="19050">
            <a:solidFill>
              <a:schemeClr val="accent5">
                <a:lumMod val="75000"/>
              </a:schemeClr>
            </a:solidFill>
            <a:prstDash val="dash"/>
          </a:ln>
        </p:spPr>
        <p:txBody>
          <a:bodyPr wrap="square" rtlCol="0">
            <a:spAutoFit/>
          </a:bodyPr>
          <a:lstStyle>
            <a:defPPr>
              <a:defRPr lang="en-US"/>
            </a:defPPr>
            <a:lvl1pPr>
              <a:defRPr b="1">
                <a:solidFill>
                  <a:schemeClr val="accent6">
                    <a:lumMod val="75000"/>
                  </a:schemeClr>
                </a:solidFill>
              </a:defRPr>
            </a:lvl1pPr>
          </a:lstStyle>
          <a:p>
            <a:pPr algn="just">
              <a:spcBef>
                <a:spcPts val="600"/>
              </a:spcBef>
              <a:spcAft>
                <a:spcPts val="600"/>
              </a:spcAft>
            </a:pPr>
            <a:r>
              <a:rPr lang="en-US" sz="1300" b="0" dirty="0">
                <a:solidFill>
                  <a:srgbClr val="666666"/>
                </a:solidFill>
                <a:latin typeface="Söhne"/>
              </a:rPr>
              <a:t>[10] X. </a:t>
            </a:r>
            <a:r>
              <a:rPr lang="en-US" sz="1300" b="0" dirty="0" err="1">
                <a:solidFill>
                  <a:srgbClr val="666666"/>
                </a:solidFill>
                <a:latin typeface="Söhne"/>
              </a:rPr>
              <a:t>Lv</a:t>
            </a:r>
            <a:r>
              <a:rPr lang="en-US" sz="1300" b="0" dirty="0">
                <a:solidFill>
                  <a:srgbClr val="666666"/>
                </a:solidFill>
                <a:latin typeface="Söhne"/>
              </a:rPr>
              <a:t>, H. Du, and Q. Ye, “</a:t>
            </a:r>
            <a:r>
              <a:rPr lang="en-US" sz="1300" b="0" dirty="0" err="1">
                <a:solidFill>
                  <a:srgbClr val="666666"/>
                </a:solidFill>
                <a:latin typeface="Söhne"/>
              </a:rPr>
              <a:t>Tbtoa</a:t>
            </a:r>
            <a:r>
              <a:rPr lang="en-US" sz="1300" b="0" dirty="0">
                <a:solidFill>
                  <a:srgbClr val="666666"/>
                </a:solidFill>
                <a:latin typeface="Söhne"/>
              </a:rPr>
              <a:t>: A DAG-based task offloading scheme for mobile edge computing,” in Proc. IEEE International Conference on Communications (ICC), May 2022, pp. 4607–4612.</a:t>
            </a:r>
          </a:p>
          <a:p>
            <a:pPr algn="just">
              <a:spcBef>
                <a:spcPts val="600"/>
              </a:spcBef>
              <a:spcAft>
                <a:spcPts val="600"/>
              </a:spcAft>
            </a:pPr>
            <a:r>
              <a:rPr lang="en-US" sz="1300" b="0" dirty="0">
                <a:solidFill>
                  <a:srgbClr val="666666"/>
                </a:solidFill>
                <a:latin typeface="Söhne"/>
              </a:rPr>
              <a:t>[11] J. Yan, S. Bi, and Y.-J. A. Zhang, “Optimal offloading and resource allocation in mobile-edge computing with inter-user task dependency,” in Proc. IEEE Global Communications Conference (GLOBECOM), Dec. 2018, pp. 1–8.</a:t>
            </a:r>
          </a:p>
          <a:p>
            <a:pPr algn="just">
              <a:spcBef>
                <a:spcPts val="600"/>
              </a:spcBef>
              <a:spcAft>
                <a:spcPts val="600"/>
              </a:spcAft>
            </a:pPr>
            <a:r>
              <a:rPr lang="en-US" sz="1300" b="0" dirty="0">
                <a:solidFill>
                  <a:srgbClr val="666666"/>
                </a:solidFill>
                <a:latin typeface="Söhne"/>
              </a:rPr>
              <a:t>[12] J. Yan, S. Bi, Y.-J. A. Zhang, and M. Tao, “Optimal task offloading and resource allocation in mobile-edge computing with inter-user task dependency,” IEEE Transactions on Wireless Communications, vol. 19, no. 1, pp. 235–250, Jan. 2020.</a:t>
            </a:r>
          </a:p>
          <a:p>
            <a:pPr algn="just">
              <a:spcBef>
                <a:spcPts val="600"/>
              </a:spcBef>
              <a:spcAft>
                <a:spcPts val="600"/>
              </a:spcAft>
            </a:pPr>
            <a:r>
              <a:rPr lang="en-US" sz="1300" b="0" dirty="0">
                <a:solidFill>
                  <a:srgbClr val="666666"/>
                </a:solidFill>
                <a:latin typeface="Söhne"/>
              </a:rPr>
              <a:t>[13] J. Yang et al., “A parallel intelligence-driven resource scheduling scheme for digital twins-based intelligent vehicular systems,” IEEE Transactions on Intelligent Vehicles, vol. 8, no. 4, pp. 2770–2785, Apr. 2023.</a:t>
            </a:r>
          </a:p>
          <a:p>
            <a:pPr algn="just">
              <a:spcBef>
                <a:spcPts val="600"/>
              </a:spcBef>
              <a:spcAft>
                <a:spcPts val="600"/>
              </a:spcAft>
            </a:pPr>
            <a:r>
              <a:rPr lang="en-US" sz="1300" b="0" dirty="0">
                <a:solidFill>
                  <a:srgbClr val="666666"/>
                </a:solidFill>
                <a:latin typeface="Söhne"/>
              </a:rPr>
              <a:t>[14] S.-W. Ko, K. Han, and K. Huang, “Wireless networks for mobile edge computing: Spatial modeling and latency analysis,” IEEE Transactions on Wireless Communications, vol. 17, no. 8, pp. 5225–5240, Aug. 2018.</a:t>
            </a:r>
          </a:p>
          <a:p>
            <a:pPr algn="just">
              <a:spcBef>
                <a:spcPts val="600"/>
              </a:spcBef>
              <a:spcAft>
                <a:spcPts val="600"/>
              </a:spcAft>
            </a:pPr>
            <a:r>
              <a:rPr lang="en-US" sz="1300" b="0" dirty="0">
                <a:solidFill>
                  <a:srgbClr val="666666"/>
                </a:solidFill>
                <a:latin typeface="Söhne"/>
              </a:rPr>
              <a:t>[15] C. Kai, S. Xiao, Y. Yi, M. Peng, and W. Huang, “Dependency-aware parallel offloading and computation in MEC-enabled networks,” IEEE Communications Letters, vol. 26, no. 4, pp. 853–857, Apr. 2022.</a:t>
            </a:r>
          </a:p>
          <a:p>
            <a:pPr algn="just">
              <a:spcBef>
                <a:spcPts val="600"/>
              </a:spcBef>
              <a:spcAft>
                <a:spcPts val="600"/>
              </a:spcAft>
            </a:pPr>
            <a:r>
              <a:rPr lang="en-US" sz="1300" b="0" dirty="0">
                <a:solidFill>
                  <a:srgbClr val="666666"/>
                </a:solidFill>
                <a:latin typeface="Söhne"/>
              </a:rPr>
              <a:t>[16] R. Liu, M. Sheng, and W. Wu, “Energy-efficient resource allocation for heterogeneous wireless network with multi-homed user </a:t>
            </a:r>
            <a:r>
              <a:rPr lang="en-US" sz="1300" b="0" dirty="0" err="1">
                <a:solidFill>
                  <a:srgbClr val="666666"/>
                </a:solidFill>
                <a:latin typeface="Söhne"/>
              </a:rPr>
              <a:t>equipments</a:t>
            </a:r>
            <a:r>
              <a:rPr lang="en-US" sz="1300" b="0" dirty="0">
                <a:solidFill>
                  <a:srgbClr val="666666"/>
                </a:solidFill>
                <a:latin typeface="Söhne"/>
              </a:rPr>
              <a:t>,” IEEE Access, vol. 6, pp. 14 591–14 601, 2018.</a:t>
            </a:r>
          </a:p>
        </p:txBody>
      </p:sp>
      <p:pic>
        <p:nvPicPr>
          <p:cNvPr id="9" name="Picture 8" descr="Logo&#10;&#10;Description automatically generated">
            <a:extLst>
              <a:ext uri="{FF2B5EF4-FFF2-40B4-BE49-F238E27FC236}">
                <a16:creationId xmlns:a16="http://schemas.microsoft.com/office/drawing/2014/main" id="{A71DB8E2-7E77-B677-69C1-9C2862F3CA97}"/>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3" name="Decagon 2">
            <a:extLst>
              <a:ext uri="{FF2B5EF4-FFF2-40B4-BE49-F238E27FC236}">
                <a16:creationId xmlns:a16="http://schemas.microsoft.com/office/drawing/2014/main" id="{D34125B7-A4EE-4E78-C2F7-727957FFC2B0}"/>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Söhne"/>
                <a:cs typeface="Times New Roman" panose="02020603050405020304" pitchFamily="18" charset="0"/>
              </a:rPr>
              <a:t>23</a:t>
            </a:r>
            <a:endParaRPr lang="en-US" b="1" dirty="0">
              <a:latin typeface="Söhne"/>
              <a:cs typeface="Times New Roman" panose="02020603050405020304" pitchFamily="18" charset="0"/>
            </a:endParaRPr>
          </a:p>
        </p:txBody>
      </p:sp>
    </p:spTree>
    <p:extLst>
      <p:ext uri="{BB962C8B-B14F-4D97-AF65-F5344CB8AC3E}">
        <p14:creationId xmlns:p14="http://schemas.microsoft.com/office/powerpoint/2010/main" val="252977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F963ED43-EC5A-4DF5-8E70-EDB8EBF595DF}"/>
              </a:ext>
            </a:extLst>
          </p:cNvPr>
          <p:cNvSpPr/>
          <p:nvPr/>
        </p:nvSpPr>
        <p:spPr>
          <a:xfrm>
            <a:off x="2083293" y="2639426"/>
            <a:ext cx="8025414" cy="810087"/>
          </a:xfrm>
          <a:prstGeom prst="roundRect">
            <a:avLst/>
          </a:prstGeom>
          <a:solidFill>
            <a:schemeClr val="accent5">
              <a:lumMod val="20000"/>
              <a:lumOff val="80000"/>
            </a:schemeClr>
          </a:solidFill>
          <a:ln/>
        </p:spPr>
        <p:style>
          <a:lnRef idx="0">
            <a:schemeClr val="accent4"/>
          </a:lnRef>
          <a:fillRef idx="3">
            <a:schemeClr val="accent4"/>
          </a:fillRef>
          <a:effectRef idx="3">
            <a:schemeClr val="accent4"/>
          </a:effectRef>
          <a:fontRef idx="minor">
            <a:schemeClr val="lt1"/>
          </a:fontRef>
        </p:style>
        <p:txBody>
          <a:bodyPr rtlCol="0" anchor="ctr"/>
          <a:lstStyle/>
          <a:p>
            <a:pPr algn="ctr"/>
            <a:r>
              <a:rPr lang="en-US" sz="2800" b="1" dirty="0">
                <a:solidFill>
                  <a:schemeClr val="tx1"/>
                </a:solidFill>
              </a:rPr>
              <a:t>Thank You </a:t>
            </a:r>
            <a:endParaRPr lang="en-GB" sz="2800" b="1" dirty="0">
              <a:solidFill>
                <a:srgbClr val="FF0000"/>
              </a:solidFill>
            </a:endParaRPr>
          </a:p>
        </p:txBody>
      </p:sp>
      <p:sp>
        <p:nvSpPr>
          <p:cNvPr id="6" name="Rectangle: Rounded Corners 5">
            <a:extLst>
              <a:ext uri="{FF2B5EF4-FFF2-40B4-BE49-F238E27FC236}">
                <a16:creationId xmlns:a16="http://schemas.microsoft.com/office/drawing/2014/main" id="{F3F54049-5DC2-40F1-9351-0A66984A74B0}"/>
              </a:ext>
            </a:extLst>
          </p:cNvPr>
          <p:cNvSpPr/>
          <p:nvPr/>
        </p:nvSpPr>
        <p:spPr>
          <a:xfrm>
            <a:off x="79899" y="6320901"/>
            <a:ext cx="11958221" cy="97655"/>
          </a:xfrm>
          <a:prstGeom prst="roundRect">
            <a:avLst/>
          </a:prstGeom>
          <a:gradFill flip="none" rotWithShape="1">
            <a:gsLst>
              <a:gs pos="0">
                <a:srgbClr val="7030A0">
                  <a:tint val="66000"/>
                  <a:satMod val="160000"/>
                </a:srgbClr>
              </a:gs>
              <a:gs pos="50000">
                <a:srgbClr val="7030A0">
                  <a:tint val="44500"/>
                  <a:satMod val="160000"/>
                </a:srgbClr>
              </a:gs>
              <a:gs pos="100000">
                <a:srgbClr val="7030A0">
                  <a:tint val="23500"/>
                  <a:satMod val="1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2" descr="Jongmyon Kim&amp;#39;s lab | University of Ulsan (UOU)">
            <a:extLst>
              <a:ext uri="{FF2B5EF4-FFF2-40B4-BE49-F238E27FC236}">
                <a16:creationId xmlns:a16="http://schemas.microsoft.com/office/drawing/2014/main" id="{9AEBC0AC-F6CF-44A3-9366-36E52F140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899" y="17618"/>
            <a:ext cx="470377" cy="4703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Logo&#10;&#10;Description automatically generated">
            <a:extLst>
              <a:ext uri="{FF2B5EF4-FFF2-40B4-BE49-F238E27FC236}">
                <a16:creationId xmlns:a16="http://schemas.microsoft.com/office/drawing/2014/main" id="{29533FC2-6FCC-408E-920B-A6144E796F75}"/>
              </a:ext>
            </a:extLst>
          </p:cNvPr>
          <p:cNvPicPr>
            <a:picLocks noChangeAspect="1"/>
          </p:cNvPicPr>
          <p:nvPr/>
        </p:nvPicPr>
        <p:blipFill rotWithShape="1">
          <a:blip r:embed="rId3">
            <a:extLst>
              <a:ext uri="{28A0092B-C50C-407E-A947-70E740481C1C}">
                <a14:useLocalDpi xmlns:a14="http://schemas.microsoft.com/office/drawing/2010/main" val="0"/>
              </a:ext>
            </a:extLst>
          </a:blip>
          <a:srcRect t="34274" b="27829"/>
          <a:stretch/>
        </p:blipFill>
        <p:spPr>
          <a:xfrm>
            <a:off x="97655" y="6487028"/>
            <a:ext cx="1747748" cy="331175"/>
          </a:xfrm>
          <a:prstGeom prst="rect">
            <a:avLst/>
          </a:prstGeom>
        </p:spPr>
      </p:pic>
      <p:sp>
        <p:nvSpPr>
          <p:cNvPr id="3" name="Decagon 2">
            <a:extLst>
              <a:ext uri="{FF2B5EF4-FFF2-40B4-BE49-F238E27FC236}">
                <a16:creationId xmlns:a16="http://schemas.microsoft.com/office/drawing/2014/main" id="{97529B05-225D-AE90-9ED5-FCA556F6B883}"/>
              </a:ext>
            </a:extLst>
          </p:cNvPr>
          <p:cNvSpPr/>
          <p:nvPr/>
        </p:nvSpPr>
        <p:spPr>
          <a:xfrm>
            <a:off x="11674474" y="6456370"/>
            <a:ext cx="419871" cy="354508"/>
          </a:xfrm>
          <a:prstGeom prst="decag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24</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2496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31962</TotalTime>
  <Words>3668</Words>
  <Application>Microsoft Office PowerPoint</Application>
  <PresentationFormat>Widescreen</PresentationFormat>
  <Paragraphs>460</Paragraphs>
  <Slides>24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24</vt:i4>
      </vt:variant>
    </vt:vector>
  </HeadingPairs>
  <TitlesOfParts>
    <vt:vector size="35" baseType="lpstr">
      <vt:lpstr>Inter</vt:lpstr>
      <vt:lpstr>Söhne</vt:lpstr>
      <vt:lpstr>Arial</vt:lpstr>
      <vt:lpstr>Calibri</vt:lpstr>
      <vt:lpstr>Calibri Light</vt:lpstr>
      <vt:lpstr>Cambria Math</vt:lpstr>
      <vt:lpstr>Courier New</vt:lpstr>
      <vt:lpstr>Segoe UI</vt:lpstr>
      <vt:lpstr>Times New Roman</vt:lpstr>
      <vt:lpstr>Wingdings</vt:lpstr>
      <vt:lpstr>Office Theme</vt:lpstr>
      <vt:lpstr>Inter-user Dependent Task Offloading and Resource Allocation in Dynamic MEC Networks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아흐마드 자후르</dc:creator>
  <cp:lastModifiedBy>우마르 무하마드</cp:lastModifiedBy>
  <cp:revision>1142</cp:revision>
  <cp:lastPrinted>2023-11-04T04:36:41Z</cp:lastPrinted>
  <dcterms:created xsi:type="dcterms:W3CDTF">2021-07-05T12:43:45Z</dcterms:created>
  <dcterms:modified xsi:type="dcterms:W3CDTF">2025-12-11T00:49:33Z</dcterms:modified>
</cp:coreProperties>
</file>